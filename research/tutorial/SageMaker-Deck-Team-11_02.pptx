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10287000" cx="18288000"/>
  <p:notesSz cx="10287000" cy="18288000"/>
  <p:embeddedFontLst>
    <p:embeddedFont>
      <p:font typeface="Helvetica Neue"/>
      <p:regular r:id="rId22"/>
      <p:bold r:id="rId23"/>
      <p:italic r:id="rId24"/>
      <p:boldItalic r:id="rId25"/>
    </p:embeddedFont>
    <p:embeddedFont>
      <p:font typeface="Helvetica Neue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ilE73lWnp1naemA4KtnTZ2gG4W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font" Target="fonts/HelveticaNeue-regular.fntdata"/><Relationship Id="rId23" Type="http://schemas.openxmlformats.org/officeDocument/2006/relationships/font" Target="fonts/HelveticaNeue-bold.fntdata"/><Relationship Id="rId24" Type="http://schemas.openxmlformats.org/officeDocument/2006/relationships/font" Target="fonts/HelveticaNeue-italic.fntdata"/><Relationship Id="rId25" Type="http://schemas.openxmlformats.org/officeDocument/2006/relationships/font" Target="fonts/HelveticaNeue-boldItalic.fntdata"/><Relationship Id="rId26" Type="http://schemas.openxmlformats.org/officeDocument/2006/relationships/font" Target="fonts/HelveticaNeueLight-regular.fntdata"/><Relationship Id="rId27" Type="http://schemas.openxmlformats.org/officeDocument/2006/relationships/font" Target="fonts/HelveticaNeueLight-bold.fntdata"/><Relationship Id="rId28" Type="http://schemas.openxmlformats.org/officeDocument/2006/relationships/font" Target="fonts/HelveticaNeueLight-italic.fntdata"/><Relationship Id="rId29" Type="http://schemas.openxmlformats.org/officeDocument/2006/relationships/font" Target="fonts/HelveticaNeueLight-boldItalic.fntdata"/><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everyone, we're Team 11_02 — Arthur, Dalibor, Ilyas, Francesco, and I'm Ralph. In the next 15 minutes we'll show you what SageMaker is, walk you through training a real model on it end-to-end, and tell you honestly where it works and where it doesn't. We've used it ourselves on the project — including a painful pivot away from AWS Forecast — so this is a tutorial, not a marketing pitch.</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ML adoption almost doubled in two years. McKinsey's 2026 survey puts 88% of organizations using AI in at least one function, up from 78% the year before. 72% have something in production, two thirds increased their AI budgets this year. The framing matters: AI is no longer a competitive differentiator, it's the baseline. The question for any team in 2026 isn't whether to use ML — it's how to ship it without spending six months building infrastructure. That's the gap managed services like SageMaker fill.</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canonical ML pipeline — seven stages from problem formulation through data collection, cleaning, feature engineering, training, evaluation, and finally deployment with monitoring. Data scientists used to need different tools for each stage: pandas for cleaning, sklearn for training, Flask for serving, Prometheus for monitoring. SageMaker collapses all of these into one platform with consistent APIs and a single billing line. That's the value proposition in one diagram.</a:t>
            </a:r>
            <a:endParaRPr/>
          </a:p>
        </p:txBody>
      </p:sp>
      <p:sp>
        <p:nvSpPr>
          <p:cNvPr id="52" name="Google Shape;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Plain definition: SageMaker is AWS's fully managed end-to-end ML platform. Build, train, deploy, monitor — all from one place. Three things matter. One, it covers the entire ML lifecycle. Two, you pay per use; there's no infrastructure to babysit. Three, it's deeply integrated with the rest of AWS — S3 for data, Lambda for triggers, IAM for access, CloudWatch for monitoring. Before SageMaker, building an ML system meant standing up GPU servers, configuring distributed training, building a model server. SageMaker turns each of those into an API call.</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SageMaker is really many products under one roof. Some are - Canvas is no-code, drag and drop — for analysts and quick demos. </a:t>
            </a:r>
            <a:r>
              <a:rPr lang="en-US" sz="1100">
                <a:latin typeface="Arial"/>
                <a:ea typeface="Arial"/>
                <a:cs typeface="Arial"/>
                <a:sym typeface="Arial"/>
              </a:rPr>
              <a:t>Autopilot is the AutoML engine underneath — it automatically selects algorithms, tunes hyperparameters, and ensembles the best models. Canvas runs on it, but you can also call it directly from the API. </a:t>
            </a:r>
            <a:r>
              <a:rPr lang="en-US"/>
              <a:t>Studio Notebooks is cloud Jupyter pre-loaded with every ML library you'd want — for exploration. The SDK and boto3 are what you use in production from Python or a Lambda. JumpStart is a library of pre-trained models you can deploy in one click. Pipelines orchestrates the whole workflow as code. Same compute, same models, same endpoints underneath — pick the interface that matches your skill level. We'll show Canvas and the SDK in this talk.</a:t>
            </a:r>
            <a:endParaRPr/>
          </a:p>
        </p:txBody>
      </p:sp>
      <p:sp>
        <p:nvSpPr>
          <p:cNvPr id="93" name="Google Shape;9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workflow. You start by creating a SageMaker Studio domain — that's your shared ML workspace, ready in about five minutes the first time. From there you launch Canvas with one click. Notice the left sidebar in Studio: Studio, Canvas, Notebooks, RStudio — those are the shapes Francesco just described, all under one roof. The screenshots are the actual UI from May 2026 — this is what you'll see if you log in tomorrow.</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two: data. You upload a CSV — that's it. Canvas reads the schema, detects column types, and proposes a problem type. In our case it figured out we wanted time-series forecasting because we had a timestamp column and a numeric target. No code, no schema definition. It auto-detected three columns: Item ID, Timestamp, Target. The yellow Build button on the right is one click away from a trained model.</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moment that sells SageMaker. I clicked Quick build on the previous screen. Fourteen minutes later, this is what I got — a trained DeepAR model with full quality metrics. wQL of 0.078 means very tight forecast quantiles. MAPE of 3.6% means the predictions are within about four percent of the truth on average. WAPE 0.007, RMSE 180. All of this without writing a single line of ML code, without provisioning a server, without touching a GPU. That's the headline.</a:t>
            </a:r>
            <a:endParaRPr/>
          </a:p>
        </p:txBody>
      </p:sp>
      <p:sp>
        <p:nvSpPr>
          <p:cNvPr id="210" name="Google Shape;21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honest part. We're showing this on purpose. Our training set mixed all four of our project's tickers — AAPL at 180, BTC at 55,000 — in the same target column. The model learned a wide distribution. P50, the median forecast, correctly hugs AAPL's actual range. But P90 reflects the spread across all items, giving us this misleading upper bound spiking to 2,400. Two takeaways: Canvas does not catch data prep mistakes for you. And for multi-item series with very different scales, you normalize per item or train separate models. The platform is only as smart as the data you give it.</a:t>
            </a:r>
            <a:endParaRPr/>
          </a:p>
        </p:txBody>
      </p:sp>
      <p:sp>
        <p:nvSpPr>
          <p:cNvPr id="242" name="Google Shape;24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you've validated an approach in Canvas, you graduate to the SDK. This is roughly twenty lines of Python that does the same thing you just saw — uploads data to S3, trains a DeepAR model, deploys an endpoint, calls it. Now you can re-run from a Lambda, schedule it, version it in git, plug it into CI. Same SageMaker under the hood — same DeepAR algorithm, same training, same metrics. The UI just disappears.</a:t>
            </a:r>
            <a:endParaRPr/>
          </a:p>
        </p:txBody>
      </p:sp>
      <p:sp>
        <p:nvSpPr>
          <p:cNvPr id="265" name="Google Shape;26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1200"/>
              </a:spcAft>
              <a:buSzPts val="1100"/>
              <a:buNone/>
            </a:pPr>
            <a:r>
              <a:rPr lang="en-US"/>
              <a:t>SageMaker ships over twenty built-in algorithms across five categories. For tabular data, XGBoost is the most popular by far — it's what Autopilot defaults to in HPO mode. For unsupervised problems, Random Cut Forest is the go-to for anomaly detection. For NLP, BlazingText gives you word2vec and text classification. For images, you get ResNet-based classification and SSD-based object detection out of the box. Two things that are not built-in algorithms: LLMs live in Bedrock, and pre-trained open-source models live in JumpStart. Don't confuse them. For time series — that's our project — let's zoom in.</a:t>
            </a:r>
            <a:endParaRPr/>
          </a:p>
        </p:txBody>
      </p:sp>
      <p:sp>
        <p:nvSpPr>
          <p:cNvPr id="286" name="Google Shape;2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e0832b152f_1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e0832b152f_12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1200"/>
              </a:spcAft>
              <a:buSzPts val="1100"/>
              <a:buNone/>
            </a:pPr>
            <a:r>
              <a:rPr lang="en-US"/>
              <a:t>For time series, SageMaker gives you two paths. Path one: DeepAR directly via the SDK — that's what we showed in slide ten. You control the hyperparameters, you train one model across multiple related series. That's what we did with our four tickers. Path two: Autopilot's time-series ensemble, which is what Canvas was running in slide eight. It trains six algorithms — CNN-QR, DeepAR+, Prophet, ARIMA, NPTS, and ETS — and stacks them into one optimal model. Important: you cannot call Prophet or ARIMA individually from the SDK. They only run inside Autopilot. So if you want a specific classical model, you go through Autopilot and let it handle the orchestration. Our recommendation: start with Autopilot to benchmark, then graduate to DeepAR via SDK when you need production control. </a:t>
            </a:r>
            <a:endParaRPr/>
          </a:p>
        </p:txBody>
      </p:sp>
      <p:sp>
        <p:nvSpPr>
          <p:cNvPr id="334" name="Google Shape;334;g3e0832b152f_12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free tier covers most learning use cases for two months — that's how our team is running, total spend under five dollars. After that, the real cost driver is leaving an inference endpoint always-on. A small idle endpoint runs about two hundred dollars a month even if no one calls it. Big tip we learned the hard way: the most common SageMaker complaint online is zombie resources — you delete the endpoint but forget the attached EBS volumes, which bill indefinitely. Set a CloudWatch billing alarm before you start.</a:t>
            </a:r>
            <a:endParaRPr/>
          </a:p>
        </p:txBody>
      </p:sp>
      <p:sp>
        <p:nvSpPr>
          <p:cNvPr id="383" name="Google Shape;38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SageMaker isn't always the answer. If you need an LLM or a chatbot, Bedrock. If you're avoiding AWS lock-in, MLflow on Kubernetes is the open path — more setup, no vendor leash. Vertex AI and Azure ML are equivalent on their own clouds. And as a cautionary tale: AWS Forecast, the older managed forecasting service, is deprecated for new accounts since 2024. We hit that wall ourselves on day one of week two. Pick the right tool, and check it's still alive for new accounts before you build on it.</a:t>
            </a:r>
            <a:endParaRPr/>
          </a:p>
        </p:txBody>
      </p:sp>
      <p:sp>
        <p:nvSpPr>
          <p:cNvPr id="429" name="Google Shape;42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e0832b152f_9_0:notes"/>
          <p:cNvSpPr/>
          <p:nvPr>
            <p:ph idx="2" type="sldImg"/>
          </p:nvPr>
        </p:nvSpPr>
        <p:spPr>
          <a:xfrm>
            <a:off x="1371600" y="2286000"/>
            <a:ext cx="10972800" cy="6172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e0832b152f_9_0:notes"/>
          <p:cNvSpPr txBox="1"/>
          <p:nvPr>
            <p:ph idx="1" type="body"/>
          </p:nvPr>
        </p:nvSpPr>
        <p:spPr>
          <a:xfrm>
            <a:off x="1371600" y="8801100"/>
            <a:ext cx="10972800" cy="7200900"/>
          </a:xfrm>
          <a:prstGeom prst="rect">
            <a:avLst/>
          </a:prstGeom>
          <a:noFill/>
          <a:ln>
            <a:noFill/>
          </a:ln>
        </p:spPr>
        <p:txBody>
          <a:bodyPr anchorCtr="0" anchor="t" bIns="91400" lIns="182850" spcFirstLastPara="1" rIns="182850" wrap="square" tIns="91400">
            <a:noAutofit/>
          </a:bodyPr>
          <a:lstStyle/>
          <a:p>
            <a:pPr indent="0" lvl="0" marL="0" rtl="0" algn="l">
              <a:spcBef>
                <a:spcPts val="0"/>
              </a:spcBef>
              <a:spcAft>
                <a:spcPts val="0"/>
              </a:spcAft>
              <a:buNone/>
            </a:pPr>
            <a:r>
              <a:t/>
            </a:r>
            <a:endParaRPr sz="2800"/>
          </a:p>
        </p:txBody>
      </p:sp>
      <p:sp>
        <p:nvSpPr>
          <p:cNvPr id="489" name="Google Shape;489;g3e0832b152f_9_0:notes"/>
          <p:cNvSpPr txBox="1"/>
          <p:nvPr>
            <p:ph idx="12" type="sldNum"/>
          </p:nvPr>
        </p:nvSpPr>
        <p:spPr>
          <a:xfrm>
            <a:off x="7769226" y="17370426"/>
            <a:ext cx="5943600" cy="917574"/>
          </a:xfrm>
          <a:prstGeom prst="rect">
            <a:avLst/>
          </a:prstGeom>
          <a:noFill/>
          <a:ln>
            <a:noFill/>
          </a:ln>
        </p:spPr>
        <p:txBody>
          <a:bodyPr anchorCtr="0" anchor="b" bIns="91400" lIns="182850" spcFirstLastPara="1" rIns="182850" wrap="square" tIns="91400">
            <a:noAutofit/>
          </a:bodyPr>
          <a:lstStyle/>
          <a:p>
            <a:pPr indent="0" lvl="0" marL="0" rtl="0" algn="r">
              <a:spcBef>
                <a:spcPts val="0"/>
              </a:spcBef>
              <a:spcAft>
                <a:spcPts val="0"/>
              </a:spcAft>
              <a:buNone/>
            </a:pPr>
            <a:fld id="{00000000-1234-1234-1234-123412341234}" type="slidenum">
              <a:rPr lang="en-US" sz="2800"/>
              <a:t>‹#›</a:t>
            </a:fld>
            <a:endParaRPr sz="2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e0832b152f_9_56:notes"/>
          <p:cNvSpPr/>
          <p:nvPr>
            <p:ph idx="2" type="sldImg"/>
          </p:nvPr>
        </p:nvSpPr>
        <p:spPr>
          <a:xfrm>
            <a:off x="1371600" y="2286000"/>
            <a:ext cx="10972800" cy="6172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g3e0832b152f_9_56:notes"/>
          <p:cNvSpPr txBox="1"/>
          <p:nvPr>
            <p:ph idx="1" type="body"/>
          </p:nvPr>
        </p:nvSpPr>
        <p:spPr>
          <a:xfrm>
            <a:off x="1371600" y="8801100"/>
            <a:ext cx="10972800" cy="7200900"/>
          </a:xfrm>
          <a:prstGeom prst="rect">
            <a:avLst/>
          </a:prstGeom>
          <a:noFill/>
          <a:ln>
            <a:noFill/>
          </a:ln>
        </p:spPr>
        <p:txBody>
          <a:bodyPr anchorCtr="0" anchor="t" bIns="91400" lIns="182850" spcFirstLastPara="1" rIns="182850" wrap="square" tIns="91400">
            <a:noAutofit/>
          </a:bodyPr>
          <a:lstStyle/>
          <a:p>
            <a:pPr indent="0" lvl="0" marL="0" rtl="0" algn="l">
              <a:spcBef>
                <a:spcPts val="0"/>
              </a:spcBef>
              <a:spcAft>
                <a:spcPts val="0"/>
              </a:spcAft>
              <a:buNone/>
            </a:pPr>
            <a:r>
              <a:t/>
            </a:r>
            <a:endParaRPr sz="2800"/>
          </a:p>
        </p:txBody>
      </p:sp>
      <p:sp>
        <p:nvSpPr>
          <p:cNvPr id="545" name="Google Shape;545;g3e0832b152f_9_56:notes"/>
          <p:cNvSpPr txBox="1"/>
          <p:nvPr>
            <p:ph idx="12" type="sldNum"/>
          </p:nvPr>
        </p:nvSpPr>
        <p:spPr>
          <a:xfrm>
            <a:off x="7769226" y="17370426"/>
            <a:ext cx="5943600" cy="917574"/>
          </a:xfrm>
          <a:prstGeom prst="rect">
            <a:avLst/>
          </a:prstGeom>
          <a:noFill/>
          <a:ln>
            <a:noFill/>
          </a:ln>
        </p:spPr>
        <p:txBody>
          <a:bodyPr anchorCtr="0" anchor="b" bIns="91400" lIns="182850" spcFirstLastPara="1" rIns="182850" wrap="square" tIns="91400">
            <a:noAutofit/>
          </a:bodyPr>
          <a:lstStyle/>
          <a:p>
            <a:pPr indent="0" lvl="0" marL="0" rtl="0" algn="r">
              <a:spcBef>
                <a:spcPts val="0"/>
              </a:spcBef>
              <a:spcAft>
                <a:spcPts val="0"/>
              </a:spcAft>
              <a:buNone/>
            </a:pPr>
            <a:fld id="{00000000-1234-1234-1234-123412341234}" type="slidenum">
              <a:rPr lang="en-US" sz="2800"/>
              <a:t>‹#›</a:t>
            </a:fld>
            <a:endParaRPr sz="2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e0832b152f_9_108:notes"/>
          <p:cNvSpPr/>
          <p:nvPr>
            <p:ph idx="2" type="sldImg"/>
          </p:nvPr>
        </p:nvSpPr>
        <p:spPr>
          <a:xfrm>
            <a:off x="1371600" y="2286000"/>
            <a:ext cx="10972800" cy="6172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e0832b152f_9_108:notes"/>
          <p:cNvSpPr txBox="1"/>
          <p:nvPr>
            <p:ph idx="1" type="body"/>
          </p:nvPr>
        </p:nvSpPr>
        <p:spPr>
          <a:xfrm>
            <a:off x="1371600" y="8801100"/>
            <a:ext cx="10972800" cy="7200900"/>
          </a:xfrm>
          <a:prstGeom prst="rect">
            <a:avLst/>
          </a:prstGeom>
          <a:noFill/>
          <a:ln>
            <a:noFill/>
          </a:ln>
        </p:spPr>
        <p:txBody>
          <a:bodyPr anchorCtr="0" anchor="t" bIns="91400" lIns="182850" spcFirstLastPara="1" rIns="182850" wrap="square" tIns="91400">
            <a:noAutofit/>
          </a:bodyPr>
          <a:lstStyle/>
          <a:p>
            <a:pPr indent="0" lvl="0" marL="0" rtl="0" algn="l">
              <a:spcBef>
                <a:spcPts val="0"/>
              </a:spcBef>
              <a:spcAft>
                <a:spcPts val="0"/>
              </a:spcAft>
              <a:buNone/>
            </a:pPr>
            <a:r>
              <a:t/>
            </a:r>
            <a:endParaRPr sz="2800"/>
          </a:p>
        </p:txBody>
      </p:sp>
      <p:sp>
        <p:nvSpPr>
          <p:cNvPr id="598" name="Google Shape;598;g3e0832b152f_9_108:notes"/>
          <p:cNvSpPr txBox="1"/>
          <p:nvPr>
            <p:ph idx="12" type="sldNum"/>
          </p:nvPr>
        </p:nvSpPr>
        <p:spPr>
          <a:xfrm>
            <a:off x="7769226" y="17370426"/>
            <a:ext cx="5943600" cy="917574"/>
          </a:xfrm>
          <a:prstGeom prst="rect">
            <a:avLst/>
          </a:prstGeom>
          <a:noFill/>
          <a:ln>
            <a:noFill/>
          </a:ln>
        </p:spPr>
        <p:txBody>
          <a:bodyPr anchorCtr="0" anchor="b" bIns="91400" lIns="182850" spcFirstLastPara="1" rIns="182850" wrap="square" tIns="91400">
            <a:noAutofit/>
          </a:bodyPr>
          <a:lstStyle/>
          <a:p>
            <a:pPr indent="0" lvl="0" marL="0" rtl="0" algn="r">
              <a:spcBef>
                <a:spcPts val="0"/>
              </a:spcBef>
              <a:spcAft>
                <a:spcPts val="0"/>
              </a:spcAft>
              <a:buNone/>
            </a:pPr>
            <a:fld id="{00000000-1234-1234-1234-123412341234}" type="slidenum">
              <a:rPr lang="en-US" sz="2800"/>
              <a:t>‹#›</a:t>
            </a:fld>
            <a:endParaRPr sz="2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5" name="Shape 15"/>
        <p:cNvGrpSpPr/>
        <p:nvPr/>
      </p:nvGrpSpPr>
      <p:grpSpPr>
        <a:xfrm>
          <a:off x="0" y="0"/>
          <a:ext cx="0" cy="0"/>
          <a:chOff x="0" y="0"/>
          <a:chExt cx="0" cy="0"/>
        </a:xfrm>
      </p:grpSpPr>
      <p:sp>
        <p:nvSpPr>
          <p:cNvPr id="16" name="Google Shape;16;p1"/>
          <p:cNvSpPr/>
          <p:nvPr/>
        </p:nvSpPr>
        <p:spPr>
          <a:xfrm>
            <a:off x="1047750" y="1143000"/>
            <a:ext cx="685800" cy="57150"/>
          </a:xfrm>
          <a:prstGeom prst="rect">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943100" y="1047750"/>
            <a:ext cx="4472169"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CCBDA · MIRI · UPC BARCELONA</a:t>
            </a:r>
            <a:endParaRPr b="0" i="0" sz="1650" u="none" cap="none" strike="noStrike">
              <a:solidFill>
                <a:schemeClr val="dk1"/>
              </a:solidFill>
              <a:latin typeface="Calibri"/>
              <a:ea typeface="Calibri"/>
              <a:cs typeface="Calibri"/>
              <a:sym typeface="Calibri"/>
            </a:endParaRPr>
          </a:p>
        </p:txBody>
      </p:sp>
      <p:sp>
        <p:nvSpPr>
          <p:cNvPr id="18" name="Google Shape;18;p1"/>
          <p:cNvSpPr/>
          <p:nvPr/>
        </p:nvSpPr>
        <p:spPr>
          <a:xfrm>
            <a:off x="1047750" y="2315600"/>
            <a:ext cx="16192500" cy="3731100"/>
          </a:xfrm>
          <a:prstGeom prst="rect">
            <a:avLst/>
          </a:prstGeom>
          <a:noFill/>
          <a:ln>
            <a:noFill/>
          </a:ln>
        </p:spPr>
        <p:txBody>
          <a:bodyPr anchorCtr="0" anchor="t" bIns="25400" lIns="25400" spcFirstLastPara="1" rIns="25400" wrap="square" tIns="25400">
            <a:normAutofit/>
          </a:bodyPr>
          <a:lstStyle/>
          <a:p>
            <a:pPr indent="0" lvl="0" marL="0" marR="0" rtl="0" algn="l">
              <a:lnSpc>
                <a:spcPct val="92000"/>
              </a:lnSpc>
              <a:spcBef>
                <a:spcPts val="0"/>
              </a:spcBef>
              <a:spcAft>
                <a:spcPts val="0"/>
              </a:spcAft>
              <a:buClr>
                <a:srgbClr val="232F3E"/>
              </a:buClr>
              <a:buSzPts val="16500"/>
              <a:buFont typeface="Helvetica Neue"/>
              <a:buNone/>
            </a:pPr>
            <a:r>
              <a:rPr b="1" i="0" lang="en-US" sz="16500" u="none" cap="none" strike="noStrike">
                <a:solidFill>
                  <a:srgbClr val="232F3E"/>
                </a:solidFill>
                <a:latin typeface="Helvetica Neue"/>
                <a:ea typeface="Helvetica Neue"/>
                <a:cs typeface="Helvetica Neue"/>
                <a:sym typeface="Helvetica Neue"/>
              </a:rPr>
              <a:t>AWS SageMaker AI</a:t>
            </a:r>
            <a:endParaRPr b="0" i="0" sz="16500" u="none" cap="none" strike="noStrike">
              <a:solidFill>
                <a:schemeClr val="dk1"/>
              </a:solidFill>
              <a:latin typeface="Calibri"/>
              <a:ea typeface="Calibri"/>
              <a:cs typeface="Calibri"/>
              <a:sym typeface="Calibri"/>
            </a:endParaRPr>
          </a:p>
        </p:txBody>
      </p:sp>
      <p:sp>
        <p:nvSpPr>
          <p:cNvPr id="19" name="Google Shape;19;p1"/>
          <p:cNvSpPr/>
          <p:nvPr/>
        </p:nvSpPr>
        <p:spPr>
          <a:xfrm>
            <a:off x="1047750" y="7053892"/>
            <a:ext cx="10360200" cy="58680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rgbClr val="3A4253"/>
              </a:buClr>
              <a:buSzPts val="3600"/>
              <a:buFont typeface="Helvetica Neue"/>
              <a:buNone/>
            </a:pPr>
            <a:r>
              <a:rPr b="0" i="0" lang="en-US" sz="3600" u="none" cap="none" strike="noStrike">
                <a:solidFill>
                  <a:srgbClr val="3A4253"/>
                </a:solidFill>
                <a:latin typeface="Helvetica Neue"/>
                <a:ea typeface="Helvetica Neue"/>
                <a:cs typeface="Helvetica Neue"/>
                <a:sym typeface="Helvetica Neue"/>
              </a:rPr>
              <a:t>A practical tutorial on managed ML</a:t>
            </a:r>
            <a:endParaRPr b="0" i="0" sz="3600" u="none" cap="none" strike="noStrike">
              <a:solidFill>
                <a:schemeClr val="dk1"/>
              </a:solidFill>
              <a:latin typeface="Calibri"/>
              <a:ea typeface="Calibri"/>
              <a:cs typeface="Calibri"/>
              <a:sym typeface="Calibri"/>
            </a:endParaRPr>
          </a:p>
        </p:txBody>
      </p:sp>
      <p:sp>
        <p:nvSpPr>
          <p:cNvPr id="20" name="Google Shape;20;p1"/>
          <p:cNvSpPr/>
          <p:nvPr/>
        </p:nvSpPr>
        <p:spPr>
          <a:xfrm>
            <a:off x="1047750" y="7936409"/>
            <a:ext cx="7135941"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650"/>
              <a:buFont typeface="Helvetica Neue"/>
              <a:buNone/>
            </a:pPr>
            <a:r>
              <a:rPr b="1" i="0" lang="en-US" sz="1650" u="none" cap="none" strike="noStrike">
                <a:solidFill>
                  <a:srgbClr val="6B7280"/>
                </a:solidFill>
                <a:latin typeface="Helvetica Neue"/>
                <a:ea typeface="Helvetica Neue"/>
                <a:cs typeface="Helvetica Neue"/>
                <a:sym typeface="Helvetica Neue"/>
              </a:rPr>
              <a:t>TEAM 11_02</a:t>
            </a:r>
            <a:endParaRPr b="0" i="0" sz="1650" u="none" cap="none" strike="noStrike">
              <a:solidFill>
                <a:schemeClr val="dk1"/>
              </a:solidFill>
              <a:latin typeface="Calibri"/>
              <a:ea typeface="Calibri"/>
              <a:cs typeface="Calibri"/>
              <a:sym typeface="Calibri"/>
            </a:endParaRPr>
          </a:p>
        </p:txBody>
      </p:sp>
      <p:sp>
        <p:nvSpPr>
          <p:cNvPr id="21" name="Google Shape;21;p1"/>
          <p:cNvSpPr/>
          <p:nvPr/>
        </p:nvSpPr>
        <p:spPr>
          <a:xfrm>
            <a:off x="1047750" y="8355509"/>
            <a:ext cx="7135941" cy="921841"/>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232F3E"/>
              </a:buClr>
              <a:buSzPts val="2400"/>
              <a:buFont typeface="Helvetica Neue"/>
              <a:buNone/>
            </a:pPr>
            <a:r>
              <a:rPr b="0" i="0" lang="en-US" sz="2400" u="none" cap="none" strike="noStrike">
                <a:solidFill>
                  <a:srgbClr val="232F3E"/>
                </a:solidFill>
                <a:latin typeface="Helvetica Neue"/>
                <a:ea typeface="Helvetica Neue"/>
                <a:cs typeface="Helvetica Neue"/>
                <a:sym typeface="Helvetica Neue"/>
              </a:rPr>
              <a:t>Arthur Bohin · Dalibor Švonavec · </a:t>
            </a:r>
            <a:r>
              <a:rPr b="0" i="0" lang="en-US" sz="2400" u="none" cap="none" strike="noStrike">
                <a:solidFill>
                  <a:srgbClr val="232F3E"/>
                </a:solidFill>
                <a:latin typeface="Helvetica Neue"/>
                <a:ea typeface="Helvetica Neue"/>
                <a:cs typeface="Helvetica Neue"/>
                <a:sym typeface="Helvetica Neue"/>
              </a:rPr>
              <a:t>Il</a:t>
            </a:r>
            <a:r>
              <a:rPr lang="en-US" sz="2400">
                <a:solidFill>
                  <a:srgbClr val="232F3E"/>
                </a:solidFill>
                <a:latin typeface="Helvetica Neue"/>
                <a:ea typeface="Helvetica Neue"/>
                <a:cs typeface="Helvetica Neue"/>
                <a:sym typeface="Helvetica Neue"/>
              </a:rPr>
              <a:t>i</a:t>
            </a:r>
            <a:r>
              <a:rPr b="0" i="0" lang="en-US" sz="2400" u="none" cap="none" strike="noStrike">
                <a:solidFill>
                  <a:srgbClr val="232F3E"/>
                </a:solidFill>
                <a:latin typeface="Helvetica Neue"/>
                <a:ea typeface="Helvetica Neue"/>
                <a:cs typeface="Helvetica Neue"/>
                <a:sym typeface="Helvetica Neue"/>
              </a:rPr>
              <a:t>as</a:t>
            </a:r>
            <a:r>
              <a:rPr b="0" i="0" lang="en-US" sz="2400" u="none" cap="none" strike="noStrike">
                <a:solidFill>
                  <a:srgbClr val="232F3E"/>
                </a:solidFill>
                <a:latin typeface="Helvetica Neue"/>
                <a:ea typeface="Helvetica Neue"/>
                <a:cs typeface="Helvetica Neue"/>
                <a:sym typeface="Helvetica Neue"/>
              </a:rPr>
              <a:t> El Mariky · Francesco Barillari · Ralph Khairallah</a:t>
            </a:r>
            <a:endParaRPr b="0" i="0" sz="2400" u="none" cap="none" strike="noStrike">
              <a:solidFill>
                <a:schemeClr val="dk1"/>
              </a:solidFill>
              <a:latin typeface="Calibri"/>
              <a:ea typeface="Calibri"/>
              <a:cs typeface="Calibri"/>
              <a:sym typeface="Calibri"/>
            </a:endParaRPr>
          </a:p>
        </p:txBody>
      </p:sp>
      <p:sp>
        <p:nvSpPr>
          <p:cNvPr id="22" name="Google Shape;22;p1"/>
          <p:cNvSpPr/>
          <p:nvPr/>
        </p:nvSpPr>
        <p:spPr>
          <a:xfrm>
            <a:off x="14098817" y="8467725"/>
            <a:ext cx="3141433" cy="28575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280"/>
              </a:buClr>
              <a:buSzPts val="1650"/>
              <a:buFont typeface="Helvetica Neue"/>
              <a:buNone/>
            </a:pPr>
            <a:r>
              <a:rPr b="1" i="0" lang="en-US" sz="1650" u="none" cap="none" strike="noStrike">
                <a:solidFill>
                  <a:srgbClr val="6B7280"/>
                </a:solidFill>
                <a:latin typeface="Helvetica Neue"/>
                <a:ea typeface="Helvetica Neue"/>
                <a:cs typeface="Helvetica Neue"/>
                <a:sym typeface="Helvetica Neue"/>
              </a:rPr>
              <a:t>PRESENTED</a:t>
            </a:r>
            <a:endParaRPr b="0" i="0" sz="1650" u="none" cap="none" strike="noStrike">
              <a:solidFill>
                <a:schemeClr val="dk1"/>
              </a:solidFill>
              <a:latin typeface="Calibri"/>
              <a:ea typeface="Calibri"/>
              <a:cs typeface="Calibri"/>
              <a:sym typeface="Calibri"/>
            </a:endParaRPr>
          </a:p>
        </p:txBody>
      </p:sp>
      <p:sp>
        <p:nvSpPr>
          <p:cNvPr id="23" name="Google Shape;23;p1"/>
          <p:cNvSpPr/>
          <p:nvPr/>
        </p:nvSpPr>
        <p:spPr>
          <a:xfrm>
            <a:off x="14098817" y="8886825"/>
            <a:ext cx="3141433" cy="390525"/>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232F3E"/>
              </a:buClr>
              <a:buSzPts val="2400"/>
              <a:buFont typeface="Helvetica Neue"/>
              <a:buNone/>
            </a:pPr>
            <a:r>
              <a:rPr b="0" i="0" lang="en-US" sz="2400" u="none" cap="none" strike="noStrike">
                <a:solidFill>
                  <a:srgbClr val="232F3E"/>
                </a:solidFill>
                <a:latin typeface="Helvetica Neue"/>
                <a:ea typeface="Helvetica Neue"/>
                <a:cs typeface="Helvetica Neue"/>
                <a:sym typeface="Helvetica Neue"/>
              </a:rPr>
              <a:t>May 21, 2026 · 08:30</a:t>
            </a:r>
            <a:endParaRPr b="0" i="0" sz="2400" u="none" cap="none" strike="noStrike">
              <a:solidFill>
                <a:schemeClr val="dk1"/>
              </a:solidFill>
              <a:latin typeface="Calibri"/>
              <a:ea typeface="Calibri"/>
              <a:cs typeface="Calibri"/>
              <a:sym typeface="Calibri"/>
            </a:endParaRPr>
          </a:p>
        </p:txBody>
      </p:sp>
      <p:pic>
        <p:nvPicPr>
          <p:cNvPr descr="preencoded.png" id="24" name="Google Shape;24;p1"/>
          <p:cNvPicPr preferRelativeResize="0"/>
          <p:nvPr/>
        </p:nvPicPr>
        <p:blipFill rotWithShape="1">
          <a:blip r:embed="rId3">
            <a:alphaModFix/>
          </a:blip>
          <a:srcRect b="0" l="0" r="0" t="0"/>
          <a:stretch/>
        </p:blipFill>
        <p:spPr>
          <a:xfrm>
            <a:off x="14573250" y="1047750"/>
            <a:ext cx="2667000" cy="2667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9" name="Shape 29"/>
        <p:cNvGrpSpPr/>
        <p:nvPr/>
      </p:nvGrpSpPr>
      <p:grpSpPr>
        <a:xfrm>
          <a:off x="0" y="0"/>
          <a:ext cx="0" cy="0"/>
          <a:chOff x="0" y="0"/>
          <a:chExt cx="0" cy="0"/>
        </a:xfrm>
      </p:grpSpPr>
      <p:sp>
        <p:nvSpPr>
          <p:cNvPr id="30" name="Google Shape;30;p2"/>
          <p:cNvSpPr/>
          <p:nvPr/>
        </p:nvSpPr>
        <p:spPr>
          <a:xfrm>
            <a:off x="762000" y="457200"/>
            <a:ext cx="1803202"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02 · CONTEXT</a:t>
            </a:r>
            <a:endParaRPr b="0" i="0" sz="1350" u="none" cap="none" strike="noStrike">
              <a:solidFill>
                <a:schemeClr val="dk1"/>
              </a:solidFill>
              <a:latin typeface="Calibri"/>
              <a:ea typeface="Calibri"/>
              <a:cs typeface="Calibri"/>
              <a:sym typeface="Calibri"/>
            </a:endParaRPr>
          </a:p>
        </p:txBody>
      </p:sp>
      <p:sp>
        <p:nvSpPr>
          <p:cNvPr id="31" name="Google Shape;31;p2"/>
          <p:cNvSpPr/>
          <p:nvPr/>
        </p:nvSpPr>
        <p:spPr>
          <a:xfrm>
            <a:off x="15220991" y="457202"/>
            <a:ext cx="2156400" cy="408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a:t>
            </a:r>
            <a:r>
              <a:rPr lang="en-US" sz="1350">
                <a:solidFill>
                  <a:srgbClr val="6B7280"/>
                </a:solidFill>
                <a:latin typeface="Helvetica Neue"/>
                <a:ea typeface="Helvetica Neue"/>
                <a:cs typeface="Helvetica Neue"/>
                <a:sym typeface="Helvetica Neue"/>
              </a:rPr>
              <a:t>FRANCESCO</a:t>
            </a:r>
            <a:endParaRPr b="0" i="0" sz="1350" u="none" cap="none" strike="noStrike">
              <a:solidFill>
                <a:schemeClr val="dk1"/>
              </a:solidFill>
              <a:latin typeface="Calibri"/>
              <a:ea typeface="Calibri"/>
              <a:cs typeface="Calibri"/>
              <a:sym typeface="Calibri"/>
            </a:endParaRPr>
          </a:p>
        </p:txBody>
      </p:sp>
      <p:sp>
        <p:nvSpPr>
          <p:cNvPr id="32" name="Google Shape;32;p2"/>
          <p:cNvSpPr/>
          <p:nvPr/>
        </p:nvSpPr>
        <p:spPr>
          <a:xfrm>
            <a:off x="762000" y="1714500"/>
            <a:ext cx="5415534" cy="1418183"/>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3A4253"/>
              </a:buClr>
              <a:buSzPts val="3450"/>
              <a:buFont typeface="Helvetica Neue"/>
              <a:buNone/>
            </a:pPr>
            <a:r>
              <a:rPr b="0" i="0" lang="en-US" sz="3450" u="none" cap="none" strike="noStrike">
                <a:solidFill>
                  <a:srgbClr val="3A4253"/>
                </a:solidFill>
                <a:latin typeface="Helvetica Neue"/>
                <a:ea typeface="Helvetica Neue"/>
                <a:cs typeface="Helvetica Neue"/>
                <a:sym typeface="Helvetica Neue"/>
              </a:rPr>
              <a:t>Of organizations now use AI in at least one business function.</a:t>
            </a:r>
            <a:endParaRPr b="0" i="0" sz="3450" u="none" cap="none" strike="noStrike">
              <a:solidFill>
                <a:schemeClr val="dk1"/>
              </a:solidFill>
              <a:latin typeface="Calibri"/>
              <a:ea typeface="Calibri"/>
              <a:cs typeface="Calibri"/>
              <a:sym typeface="Calibri"/>
            </a:endParaRPr>
          </a:p>
        </p:txBody>
      </p:sp>
      <p:sp>
        <p:nvSpPr>
          <p:cNvPr id="33" name="Google Shape;33;p2"/>
          <p:cNvSpPr/>
          <p:nvPr/>
        </p:nvSpPr>
        <p:spPr>
          <a:xfrm>
            <a:off x="762000" y="3475583"/>
            <a:ext cx="8441997" cy="2133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232F3E"/>
              </a:buClr>
              <a:buSzPts val="16500"/>
              <a:buFont typeface="Helvetica Neue"/>
              <a:buNone/>
            </a:pPr>
            <a:r>
              <a:rPr b="1" i="0" lang="en-US" sz="16500" u="none" cap="none" strike="noStrike">
                <a:solidFill>
                  <a:srgbClr val="232F3E"/>
                </a:solidFill>
                <a:latin typeface="Helvetica Neue"/>
                <a:ea typeface="Helvetica Neue"/>
                <a:cs typeface="Helvetica Neue"/>
                <a:sym typeface="Helvetica Neue"/>
              </a:rPr>
              <a:t>88</a:t>
            </a:r>
            <a:r>
              <a:rPr b="1" i="0" lang="en-US" sz="16500" u="none" cap="none" strike="noStrike">
                <a:solidFill>
                  <a:srgbClr val="FF9900"/>
                </a:solidFill>
                <a:latin typeface="Helvetica Neue"/>
                <a:ea typeface="Helvetica Neue"/>
                <a:cs typeface="Helvetica Neue"/>
                <a:sym typeface="Helvetica Neue"/>
              </a:rPr>
              <a:t>%</a:t>
            </a:r>
            <a:endParaRPr b="0" i="0" sz="16500" u="none" cap="none" strike="noStrike">
              <a:solidFill>
                <a:schemeClr val="dk1"/>
              </a:solidFill>
              <a:latin typeface="Calibri"/>
              <a:ea typeface="Calibri"/>
              <a:cs typeface="Calibri"/>
              <a:sym typeface="Calibri"/>
            </a:endParaRPr>
          </a:p>
        </p:txBody>
      </p:sp>
      <p:sp>
        <p:nvSpPr>
          <p:cNvPr id="34" name="Google Shape;34;p2"/>
          <p:cNvSpPr/>
          <p:nvPr/>
        </p:nvSpPr>
        <p:spPr>
          <a:xfrm>
            <a:off x="762000" y="5837783"/>
            <a:ext cx="7652385" cy="73134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6B7280"/>
              </a:buClr>
              <a:buSzPts val="1950"/>
              <a:buFont typeface="Helvetica Neue"/>
              <a:buNone/>
            </a:pPr>
            <a:r>
              <a:rPr b="0" i="1" lang="en-US" sz="1950" u="none" cap="none" strike="noStrike">
                <a:solidFill>
                  <a:srgbClr val="6B7280"/>
                </a:solidFill>
                <a:latin typeface="Helvetica Neue"/>
                <a:ea typeface="Helvetica Neue"/>
                <a:cs typeface="Helvetica Neue"/>
                <a:sym typeface="Helvetica Neue"/>
              </a:rPr>
              <a:t>McKinsey Global AI Survey, 2026 — up from 78% in 2025, 55% in 2024.</a:t>
            </a:r>
            <a:endParaRPr b="0" i="0" sz="1950" u="none" cap="none" strike="noStrike">
              <a:solidFill>
                <a:schemeClr val="dk1"/>
              </a:solidFill>
              <a:latin typeface="Calibri"/>
              <a:ea typeface="Calibri"/>
              <a:cs typeface="Calibri"/>
              <a:sym typeface="Calibri"/>
            </a:endParaRPr>
          </a:p>
        </p:txBody>
      </p:sp>
      <p:sp>
        <p:nvSpPr>
          <p:cNvPr id="35" name="Google Shape;35;p2"/>
          <p:cNvSpPr/>
          <p:nvPr/>
        </p:nvSpPr>
        <p:spPr>
          <a:xfrm>
            <a:off x="9720114" y="2000250"/>
            <a:ext cx="7805886"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9720114" y="3657600"/>
            <a:ext cx="7805886"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9720114" y="2819400"/>
            <a:ext cx="4944618" cy="647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2100"/>
              <a:buFont typeface="Helvetica Neue"/>
              <a:buNone/>
            </a:pPr>
            <a:r>
              <a:rPr b="0" i="0" lang="en-US" sz="2100" u="none" cap="none" strike="noStrike">
                <a:solidFill>
                  <a:srgbClr val="3A4253"/>
                </a:solidFill>
                <a:latin typeface="Helvetica Neue"/>
                <a:ea typeface="Helvetica Neue"/>
                <a:cs typeface="Helvetica Neue"/>
                <a:sym typeface="Helvetica Neue"/>
              </a:rPr>
              <a:t>Enterprises with at least one AI workload in production</a:t>
            </a:r>
            <a:endParaRPr b="0" i="0" sz="2100" u="none" cap="none" strike="noStrike">
              <a:solidFill>
                <a:schemeClr val="dk1"/>
              </a:solidFill>
              <a:latin typeface="Calibri"/>
              <a:ea typeface="Calibri"/>
              <a:cs typeface="Calibri"/>
              <a:sym typeface="Calibri"/>
            </a:endParaRPr>
          </a:p>
        </p:txBody>
      </p:sp>
      <p:sp>
        <p:nvSpPr>
          <p:cNvPr id="38" name="Google Shape;38;p2"/>
          <p:cNvSpPr/>
          <p:nvPr/>
        </p:nvSpPr>
        <p:spPr>
          <a:xfrm>
            <a:off x="16342376" y="2495550"/>
            <a:ext cx="1575000" cy="76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72%</a:t>
            </a:r>
            <a:endParaRPr b="0" i="0" sz="4800" u="none" cap="none" strike="noStrike">
              <a:solidFill>
                <a:schemeClr val="dk1"/>
              </a:solidFill>
              <a:latin typeface="Calibri"/>
              <a:ea typeface="Calibri"/>
              <a:cs typeface="Calibri"/>
              <a:sym typeface="Calibri"/>
            </a:endParaRPr>
          </a:p>
        </p:txBody>
      </p:sp>
      <p:sp>
        <p:nvSpPr>
          <p:cNvPr id="39" name="Google Shape;39;p2"/>
          <p:cNvSpPr/>
          <p:nvPr/>
        </p:nvSpPr>
        <p:spPr>
          <a:xfrm>
            <a:off x="9720114" y="5057775"/>
            <a:ext cx="7805886"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9720114" y="4219575"/>
            <a:ext cx="4944618" cy="647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2100"/>
              <a:buFont typeface="Helvetica Neue"/>
              <a:buNone/>
            </a:pPr>
            <a:r>
              <a:rPr b="0" i="0" lang="en-US" sz="2100" u="none" cap="none" strike="noStrike">
                <a:solidFill>
                  <a:srgbClr val="3A4253"/>
                </a:solidFill>
                <a:latin typeface="Helvetica Neue"/>
                <a:ea typeface="Helvetica Neue"/>
                <a:cs typeface="Helvetica Neue"/>
                <a:sym typeface="Helvetica Neue"/>
              </a:rPr>
              <a:t>Increased AI budgets in 2026 </a:t>
            </a:r>
            <a:r>
              <a:rPr b="0" i="0" lang="en-US" sz="1650" u="none" cap="none" strike="noStrike">
                <a:solidFill>
                  <a:srgbClr val="6B7280"/>
                </a:solidFill>
                <a:latin typeface="Helvetica Neue"/>
                <a:ea typeface="Helvetica Neue"/>
                <a:cs typeface="Helvetica Neue"/>
                <a:sym typeface="Helvetica Neue"/>
              </a:rPr>
              <a:t>(median +22% YoY)</a:t>
            </a:r>
            <a:endParaRPr b="0" i="0" sz="2100" u="none" cap="none" strike="noStrike">
              <a:solidFill>
                <a:schemeClr val="dk1"/>
              </a:solidFill>
              <a:latin typeface="Calibri"/>
              <a:ea typeface="Calibri"/>
              <a:cs typeface="Calibri"/>
              <a:sym typeface="Calibri"/>
            </a:endParaRPr>
          </a:p>
        </p:txBody>
      </p:sp>
      <p:sp>
        <p:nvSpPr>
          <p:cNvPr id="41" name="Google Shape;41;p2"/>
          <p:cNvSpPr/>
          <p:nvPr/>
        </p:nvSpPr>
        <p:spPr>
          <a:xfrm>
            <a:off x="16342377" y="3895725"/>
            <a:ext cx="1711200" cy="971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65%</a:t>
            </a:r>
            <a:endParaRPr b="0" i="0" sz="4800" u="none" cap="none" strike="noStrike">
              <a:solidFill>
                <a:schemeClr val="dk1"/>
              </a:solidFill>
              <a:latin typeface="Calibri"/>
              <a:ea typeface="Calibri"/>
              <a:cs typeface="Calibri"/>
              <a:sym typeface="Calibri"/>
            </a:endParaRPr>
          </a:p>
        </p:txBody>
      </p:sp>
      <p:sp>
        <p:nvSpPr>
          <p:cNvPr id="42" name="Google Shape;42;p2"/>
          <p:cNvSpPr/>
          <p:nvPr/>
        </p:nvSpPr>
        <p:spPr>
          <a:xfrm>
            <a:off x="9720114" y="5619750"/>
            <a:ext cx="4944618" cy="647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2100"/>
              <a:buFont typeface="Helvetica Neue"/>
              <a:buNone/>
            </a:pPr>
            <a:r>
              <a:rPr b="0" i="0" lang="en-US" sz="2100" u="none" cap="none" strike="noStrike">
                <a:solidFill>
                  <a:srgbClr val="3A4253"/>
                </a:solidFill>
                <a:latin typeface="Helvetica Neue"/>
                <a:ea typeface="Helvetica Neue"/>
                <a:cs typeface="Helvetica Neue"/>
                <a:sym typeface="Helvetica Neue"/>
              </a:rPr>
              <a:t>Tech &amp; software lead — financial services 79%, healthcare 62%</a:t>
            </a:r>
            <a:endParaRPr b="0" i="0" sz="2100" u="none" cap="none" strike="noStrike">
              <a:solidFill>
                <a:schemeClr val="dk1"/>
              </a:solidFill>
              <a:latin typeface="Calibri"/>
              <a:ea typeface="Calibri"/>
              <a:cs typeface="Calibri"/>
              <a:sym typeface="Calibri"/>
            </a:endParaRPr>
          </a:p>
        </p:txBody>
      </p:sp>
      <p:sp>
        <p:nvSpPr>
          <p:cNvPr id="43" name="Google Shape;43;p2"/>
          <p:cNvSpPr/>
          <p:nvPr/>
        </p:nvSpPr>
        <p:spPr>
          <a:xfrm>
            <a:off x="16342376" y="5295900"/>
            <a:ext cx="1575000" cy="971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4800"/>
              <a:buFont typeface="Helvetica Neue"/>
              <a:buNone/>
            </a:pPr>
            <a:r>
              <a:rPr b="1" i="0" lang="en-US" sz="4800" u="none" cap="none" strike="noStrike">
                <a:solidFill>
                  <a:srgbClr val="FF9900"/>
                </a:solidFill>
                <a:latin typeface="Helvetica Neue"/>
                <a:ea typeface="Helvetica Neue"/>
                <a:cs typeface="Helvetica Neue"/>
                <a:sym typeface="Helvetica Neue"/>
              </a:rPr>
              <a:t>88%</a:t>
            </a:r>
            <a:endParaRPr b="0" i="0" sz="4800" u="none" cap="none" strike="noStrike">
              <a:solidFill>
                <a:schemeClr val="dk1"/>
              </a:solidFill>
              <a:latin typeface="Calibri"/>
              <a:ea typeface="Calibri"/>
              <a:cs typeface="Calibri"/>
              <a:sym typeface="Calibri"/>
            </a:endParaRPr>
          </a:p>
        </p:txBody>
      </p:sp>
      <p:sp>
        <p:nvSpPr>
          <p:cNvPr id="44" name="Google Shape;44;p2"/>
          <p:cNvSpPr/>
          <p:nvPr/>
        </p:nvSpPr>
        <p:spPr>
          <a:xfrm>
            <a:off x="9720114" y="7029450"/>
            <a:ext cx="38100" cy="1200150"/>
          </a:xfrm>
          <a:prstGeom prst="rect">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0024914" y="7067550"/>
            <a:ext cx="6009084" cy="7524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32F3E"/>
              </a:buClr>
              <a:buSzPts val="2250"/>
              <a:buFont typeface="Helvetica Neue"/>
              <a:buNone/>
            </a:pPr>
            <a:r>
              <a:rPr b="0" i="1" lang="en-US" sz="2250" u="none" cap="none" strike="noStrike">
                <a:solidFill>
                  <a:srgbClr val="232F3E"/>
                </a:solidFill>
                <a:latin typeface="Helvetica Neue"/>
                <a:ea typeface="Helvetica Neue"/>
                <a:cs typeface="Helvetica Neue"/>
                <a:sym typeface="Helvetica Neue"/>
              </a:rPr>
              <a:t>“The era of AI as a competitive differentiator is ending; AI is becoming the baseline.”</a:t>
            </a:r>
            <a:endParaRPr b="0" i="0" sz="2250" u="none" cap="none" strike="noStrike">
              <a:solidFill>
                <a:schemeClr val="dk1"/>
              </a:solidFill>
              <a:latin typeface="Calibri"/>
              <a:ea typeface="Calibri"/>
              <a:cs typeface="Calibri"/>
              <a:sym typeface="Calibri"/>
            </a:endParaRPr>
          </a:p>
        </p:txBody>
      </p:sp>
      <p:sp>
        <p:nvSpPr>
          <p:cNvPr id="46" name="Google Shape;46;p2"/>
          <p:cNvSpPr/>
          <p:nvPr/>
        </p:nvSpPr>
        <p:spPr>
          <a:xfrm>
            <a:off x="10024914" y="7962900"/>
            <a:ext cx="6749796"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6B7280"/>
              </a:buClr>
              <a:buSzPts val="1500"/>
              <a:buFont typeface="Helvetica Neue"/>
              <a:buNone/>
            </a:pPr>
            <a:r>
              <a:rPr b="0" i="0" lang="en-US" sz="1500" u="none" cap="none" strike="noStrike">
                <a:solidFill>
                  <a:srgbClr val="6B7280"/>
                </a:solidFill>
                <a:latin typeface="Helvetica Neue"/>
                <a:ea typeface="Helvetica Neue"/>
                <a:cs typeface="Helvetica Neue"/>
                <a:sym typeface="Helvetica Neue"/>
              </a:rPr>
              <a:t>— McKinsey Global AI Survey 2026</a:t>
            </a:r>
            <a:endParaRPr b="0" i="0" sz="1500" u="none" cap="none" strike="noStrike">
              <a:solidFill>
                <a:schemeClr val="dk1"/>
              </a:solidFill>
              <a:latin typeface="Calibri"/>
              <a:ea typeface="Calibri"/>
              <a:cs typeface="Calibri"/>
              <a:sym typeface="Calibri"/>
            </a:endParaRPr>
          </a:p>
        </p:txBody>
      </p:sp>
      <p:sp>
        <p:nvSpPr>
          <p:cNvPr id="47" name="Google Shape;47;p2"/>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48" name="Google Shape;48;p2"/>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02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53" name="Shape 53"/>
        <p:cNvGrpSpPr/>
        <p:nvPr/>
      </p:nvGrpSpPr>
      <p:grpSpPr>
        <a:xfrm>
          <a:off x="0" y="0"/>
          <a:ext cx="0" cy="0"/>
          <a:chOff x="0" y="0"/>
          <a:chExt cx="0" cy="0"/>
        </a:xfrm>
      </p:grpSpPr>
      <p:sp>
        <p:nvSpPr>
          <p:cNvPr id="54" name="Google Shape;54;p4"/>
          <p:cNvSpPr/>
          <p:nvPr/>
        </p:nvSpPr>
        <p:spPr>
          <a:xfrm>
            <a:off x="762000" y="457200"/>
            <a:ext cx="2557611"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a:t>
            </a:r>
            <a:r>
              <a:rPr b="1" lang="en-US" sz="1350">
                <a:solidFill>
                  <a:srgbClr val="232F3E"/>
                </a:solidFill>
                <a:latin typeface="Helvetica Neue"/>
                <a:ea typeface="Helvetica Neue"/>
                <a:cs typeface="Helvetica Neue"/>
                <a:sym typeface="Helvetica Neue"/>
              </a:rPr>
              <a:t>3</a:t>
            </a:r>
            <a:r>
              <a:rPr b="1" i="0" lang="en-US" sz="1350" u="none" cap="none" strike="noStrike">
                <a:solidFill>
                  <a:srgbClr val="232F3E"/>
                </a:solidFill>
                <a:latin typeface="Helvetica Neue"/>
                <a:ea typeface="Helvetica Neue"/>
                <a:cs typeface="Helvetica Neue"/>
                <a:sym typeface="Helvetica Neue"/>
              </a:rPr>
              <a:t> · THE ML PIPELINE</a:t>
            </a:r>
            <a:endParaRPr b="0" i="0" sz="1350" u="none" cap="none" strike="noStrike">
              <a:solidFill>
                <a:schemeClr val="dk1"/>
              </a:solidFill>
              <a:latin typeface="Calibri"/>
              <a:ea typeface="Calibri"/>
              <a:cs typeface="Calibri"/>
              <a:sym typeface="Calibri"/>
            </a:endParaRPr>
          </a:p>
        </p:txBody>
      </p:sp>
      <p:sp>
        <p:nvSpPr>
          <p:cNvPr id="55" name="Google Shape;55;p4"/>
          <p:cNvSpPr/>
          <p:nvPr/>
        </p:nvSpPr>
        <p:spPr>
          <a:xfrm>
            <a:off x="15226605" y="457200"/>
            <a:ext cx="237559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FRANCESCO</a:t>
            </a:r>
            <a:endParaRPr b="0" i="0" sz="1350" u="none" cap="none" strike="noStrike">
              <a:solidFill>
                <a:schemeClr val="dk1"/>
              </a:solidFill>
              <a:latin typeface="Calibri"/>
              <a:ea typeface="Calibri"/>
              <a:cs typeface="Calibri"/>
              <a:sym typeface="Calibri"/>
            </a:endParaRPr>
          </a:p>
        </p:txBody>
      </p:sp>
      <p:sp>
        <p:nvSpPr>
          <p:cNvPr id="56" name="Google Shape;56;p4"/>
          <p:cNvSpPr/>
          <p:nvPr/>
        </p:nvSpPr>
        <p:spPr>
          <a:xfrm>
            <a:off x="762000" y="1775817"/>
            <a:ext cx="8559000" cy="5083500"/>
          </a:xfrm>
          <a:prstGeom prst="roundRect">
            <a:avLst>
              <a:gd fmla="val 1874" name="adj"/>
            </a:avLst>
          </a:prstGeom>
          <a:solidFill>
            <a:srgbClr val="FFFFFF"/>
          </a:solidFill>
          <a:ln cap="flat" cmpd="sng" w="9525">
            <a:solidFill>
              <a:srgbClr val="E5E7EB"/>
            </a:solidFill>
            <a:prstDash val="solid"/>
            <a:round/>
            <a:headEnd len="sm" w="sm" type="none"/>
            <a:tailEnd len="sm" w="sm" type="none"/>
          </a:ln>
          <a:effectLst>
            <a:outerShdw blurRad="571500" rotWithShape="0" algn="bl" dir="5400000" dist="285750">
              <a:srgbClr val="0F172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4"/>
          <p:cNvPicPr preferRelativeResize="0"/>
          <p:nvPr/>
        </p:nvPicPr>
        <p:blipFill rotWithShape="1">
          <a:blip r:embed="rId3">
            <a:alphaModFix/>
          </a:blip>
          <a:srcRect b="0" l="0" r="0" t="0"/>
          <a:stretch/>
        </p:blipFill>
        <p:spPr>
          <a:xfrm>
            <a:off x="1057275" y="2071092"/>
            <a:ext cx="7968555" cy="4492823"/>
          </a:xfrm>
          <a:prstGeom prst="rect">
            <a:avLst/>
          </a:prstGeom>
          <a:noFill/>
          <a:ln>
            <a:noFill/>
          </a:ln>
        </p:spPr>
      </p:pic>
      <p:sp>
        <p:nvSpPr>
          <p:cNvPr id="58" name="Google Shape;58;p4"/>
          <p:cNvSpPr/>
          <p:nvPr/>
        </p:nvSpPr>
        <p:spPr>
          <a:xfrm>
            <a:off x="10083105" y="1619250"/>
            <a:ext cx="7666028" cy="1438275"/>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5250"/>
              <a:buFont typeface="Helvetica Neue"/>
              <a:buNone/>
            </a:pPr>
            <a:r>
              <a:rPr b="1" i="0" lang="en-US" sz="5250" u="none" cap="none" strike="noStrike">
                <a:solidFill>
                  <a:srgbClr val="232F3E"/>
                </a:solidFill>
                <a:latin typeface="Helvetica Neue"/>
                <a:ea typeface="Helvetica Neue"/>
                <a:cs typeface="Helvetica Neue"/>
                <a:sym typeface="Helvetica Neue"/>
              </a:rPr>
              <a:t>Seven stages. One platform.</a:t>
            </a:r>
            <a:endParaRPr b="0" i="0" sz="5250" u="none" cap="none" strike="noStrike">
              <a:solidFill>
                <a:schemeClr val="dk1"/>
              </a:solidFill>
              <a:latin typeface="Calibri"/>
              <a:ea typeface="Calibri"/>
              <a:cs typeface="Calibri"/>
              <a:sym typeface="Calibri"/>
            </a:endParaRPr>
          </a:p>
        </p:txBody>
      </p:sp>
      <p:sp>
        <p:nvSpPr>
          <p:cNvPr id="59" name="Google Shape;59;p4"/>
          <p:cNvSpPr/>
          <p:nvPr/>
        </p:nvSpPr>
        <p:spPr>
          <a:xfrm>
            <a:off x="10083105" y="3324225"/>
            <a:ext cx="5650992" cy="1805583"/>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3A4253"/>
              </a:buClr>
              <a:buSzPts val="2400"/>
              <a:buFont typeface="Helvetica Neue"/>
              <a:buNone/>
            </a:pPr>
            <a:r>
              <a:rPr b="0" i="0" lang="en-US" sz="2400" u="none" cap="none" strike="noStrike">
                <a:solidFill>
                  <a:srgbClr val="3A4253"/>
                </a:solidFill>
                <a:latin typeface="Helvetica Neue"/>
                <a:ea typeface="Helvetica Neue"/>
                <a:cs typeface="Helvetica Neue"/>
                <a:sym typeface="Helvetica Neue"/>
              </a:rPr>
              <a:t>SageMaker covers all 7 stages — from problem framing to monitored production. One service, one billing line, one set of APIs.</a:t>
            </a:r>
            <a:endParaRPr b="0" i="0" sz="2400" u="none" cap="none" strike="noStrike">
              <a:solidFill>
                <a:schemeClr val="dk1"/>
              </a:solidFill>
              <a:latin typeface="Calibri"/>
              <a:ea typeface="Calibri"/>
              <a:cs typeface="Calibri"/>
              <a:sym typeface="Calibri"/>
            </a:endParaRPr>
          </a:p>
        </p:txBody>
      </p:sp>
      <p:sp>
        <p:nvSpPr>
          <p:cNvPr id="60" name="Google Shape;60;p4"/>
          <p:cNvSpPr/>
          <p:nvPr/>
        </p:nvSpPr>
        <p:spPr>
          <a:xfrm>
            <a:off x="10083105" y="5663208"/>
            <a:ext cx="3695587"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Courier New"/>
              <a:buNone/>
            </a:pPr>
            <a:r>
              <a:rPr b="0" i="0" lang="en-US" sz="1650" u="none" cap="none" strike="noStrike">
                <a:solidFill>
                  <a:srgbClr val="232F3E"/>
                </a:solidFill>
                <a:latin typeface="Courier New"/>
                <a:ea typeface="Courier New"/>
                <a:cs typeface="Courier New"/>
                <a:sym typeface="Courier New"/>
              </a:rPr>
              <a:t>1. Problem formulation</a:t>
            </a:r>
            <a:endParaRPr b="0" i="0" sz="1650" u="none" cap="none" strike="noStrike">
              <a:solidFill>
                <a:schemeClr val="dk1"/>
              </a:solidFill>
              <a:latin typeface="Calibri"/>
              <a:ea typeface="Calibri"/>
              <a:cs typeface="Calibri"/>
              <a:sym typeface="Calibri"/>
            </a:endParaRPr>
          </a:p>
        </p:txBody>
      </p:sp>
      <p:sp>
        <p:nvSpPr>
          <p:cNvPr id="61" name="Google Shape;61;p4"/>
          <p:cNvSpPr/>
          <p:nvPr/>
        </p:nvSpPr>
        <p:spPr>
          <a:xfrm>
            <a:off x="13937754" y="5663208"/>
            <a:ext cx="3695740"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Courier New"/>
              <a:buNone/>
            </a:pPr>
            <a:r>
              <a:rPr b="0" i="0" lang="en-US" sz="1650" u="none" cap="none" strike="noStrike">
                <a:solidFill>
                  <a:srgbClr val="232F3E"/>
                </a:solidFill>
                <a:latin typeface="Courier New"/>
                <a:ea typeface="Courier New"/>
                <a:cs typeface="Courier New"/>
                <a:sym typeface="Courier New"/>
              </a:rPr>
              <a:t>5. Model training</a:t>
            </a:r>
            <a:endParaRPr b="0" i="0" sz="1650" u="none" cap="none" strike="noStrike">
              <a:solidFill>
                <a:schemeClr val="dk1"/>
              </a:solidFill>
              <a:latin typeface="Calibri"/>
              <a:ea typeface="Calibri"/>
              <a:cs typeface="Calibri"/>
              <a:sym typeface="Calibri"/>
            </a:endParaRPr>
          </a:p>
        </p:txBody>
      </p:sp>
      <p:sp>
        <p:nvSpPr>
          <p:cNvPr id="62" name="Google Shape;62;p4"/>
          <p:cNvSpPr/>
          <p:nvPr/>
        </p:nvSpPr>
        <p:spPr>
          <a:xfrm>
            <a:off x="10083105" y="6034683"/>
            <a:ext cx="3695587"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Courier New"/>
              <a:buNone/>
            </a:pPr>
            <a:r>
              <a:rPr b="0" i="0" lang="en-US" sz="1650" u="none" cap="none" strike="noStrike">
                <a:solidFill>
                  <a:srgbClr val="232F3E"/>
                </a:solidFill>
                <a:latin typeface="Courier New"/>
                <a:ea typeface="Courier New"/>
                <a:cs typeface="Courier New"/>
                <a:sym typeface="Courier New"/>
              </a:rPr>
              <a:t>2. Data collection</a:t>
            </a:r>
            <a:endParaRPr b="0" i="0" sz="1650" u="none" cap="none" strike="noStrike">
              <a:solidFill>
                <a:schemeClr val="dk1"/>
              </a:solidFill>
              <a:latin typeface="Calibri"/>
              <a:ea typeface="Calibri"/>
              <a:cs typeface="Calibri"/>
              <a:sym typeface="Calibri"/>
            </a:endParaRPr>
          </a:p>
        </p:txBody>
      </p:sp>
      <p:sp>
        <p:nvSpPr>
          <p:cNvPr id="63" name="Google Shape;63;p4"/>
          <p:cNvSpPr/>
          <p:nvPr/>
        </p:nvSpPr>
        <p:spPr>
          <a:xfrm>
            <a:off x="13937754" y="6034683"/>
            <a:ext cx="3695740"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Courier New"/>
              <a:buNone/>
            </a:pPr>
            <a:r>
              <a:rPr b="0" i="0" lang="en-US" sz="1650" u="none" cap="none" strike="noStrike">
                <a:solidFill>
                  <a:srgbClr val="232F3E"/>
                </a:solidFill>
                <a:latin typeface="Courier New"/>
                <a:ea typeface="Courier New"/>
                <a:cs typeface="Courier New"/>
                <a:sym typeface="Courier New"/>
              </a:rPr>
              <a:t>6. Evaluation</a:t>
            </a:r>
            <a:endParaRPr b="0" i="0" sz="1650" u="none" cap="none" strike="noStrike">
              <a:solidFill>
                <a:schemeClr val="dk1"/>
              </a:solidFill>
              <a:latin typeface="Calibri"/>
              <a:ea typeface="Calibri"/>
              <a:cs typeface="Calibri"/>
              <a:sym typeface="Calibri"/>
            </a:endParaRPr>
          </a:p>
        </p:txBody>
      </p:sp>
      <p:sp>
        <p:nvSpPr>
          <p:cNvPr id="64" name="Google Shape;64;p4"/>
          <p:cNvSpPr/>
          <p:nvPr/>
        </p:nvSpPr>
        <p:spPr>
          <a:xfrm>
            <a:off x="10083105" y="6406158"/>
            <a:ext cx="3695587"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Courier New"/>
              <a:buNone/>
            </a:pPr>
            <a:r>
              <a:rPr b="0" i="0" lang="en-US" sz="1650" u="none" cap="none" strike="noStrike">
                <a:solidFill>
                  <a:srgbClr val="232F3E"/>
                </a:solidFill>
                <a:latin typeface="Courier New"/>
                <a:ea typeface="Courier New"/>
                <a:cs typeface="Courier New"/>
                <a:sym typeface="Courier New"/>
              </a:rPr>
              <a:t>3. Cleaning</a:t>
            </a:r>
            <a:endParaRPr b="0" i="0" sz="1650" u="none" cap="none" strike="noStrike">
              <a:solidFill>
                <a:schemeClr val="dk1"/>
              </a:solidFill>
              <a:latin typeface="Calibri"/>
              <a:ea typeface="Calibri"/>
              <a:cs typeface="Calibri"/>
              <a:sym typeface="Calibri"/>
            </a:endParaRPr>
          </a:p>
        </p:txBody>
      </p:sp>
      <p:sp>
        <p:nvSpPr>
          <p:cNvPr id="65" name="Google Shape;65;p4"/>
          <p:cNvSpPr/>
          <p:nvPr/>
        </p:nvSpPr>
        <p:spPr>
          <a:xfrm>
            <a:off x="13937754" y="6406158"/>
            <a:ext cx="3695740"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Courier New"/>
              <a:buNone/>
            </a:pPr>
            <a:r>
              <a:rPr b="0" i="0" lang="en-US" sz="1650" u="none" cap="none" strike="noStrike">
                <a:solidFill>
                  <a:srgbClr val="232F3E"/>
                </a:solidFill>
                <a:latin typeface="Courier New"/>
                <a:ea typeface="Courier New"/>
                <a:cs typeface="Courier New"/>
                <a:sym typeface="Courier New"/>
              </a:rPr>
              <a:t>7. Deployment + monitoring</a:t>
            </a:r>
            <a:endParaRPr b="0" i="0" sz="1650" u="none" cap="none" strike="noStrike">
              <a:solidFill>
                <a:schemeClr val="dk1"/>
              </a:solidFill>
              <a:latin typeface="Calibri"/>
              <a:ea typeface="Calibri"/>
              <a:cs typeface="Calibri"/>
              <a:sym typeface="Calibri"/>
            </a:endParaRPr>
          </a:p>
        </p:txBody>
      </p:sp>
      <p:sp>
        <p:nvSpPr>
          <p:cNvPr id="66" name="Google Shape;66;p4"/>
          <p:cNvSpPr/>
          <p:nvPr/>
        </p:nvSpPr>
        <p:spPr>
          <a:xfrm>
            <a:off x="10083105" y="6777633"/>
            <a:ext cx="3695587"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Courier New"/>
              <a:buNone/>
            </a:pPr>
            <a:r>
              <a:rPr b="0" i="0" lang="en-US" sz="1650" u="none" cap="none" strike="noStrike">
                <a:solidFill>
                  <a:srgbClr val="232F3E"/>
                </a:solidFill>
                <a:latin typeface="Courier New"/>
                <a:ea typeface="Courier New"/>
                <a:cs typeface="Courier New"/>
                <a:sym typeface="Courier New"/>
              </a:rPr>
              <a:t>4. Feature engineering</a:t>
            </a:r>
            <a:endParaRPr b="0" i="0" sz="1650" u="none" cap="none" strike="noStrike">
              <a:solidFill>
                <a:schemeClr val="dk1"/>
              </a:solidFill>
              <a:latin typeface="Calibri"/>
              <a:ea typeface="Calibri"/>
              <a:cs typeface="Calibri"/>
              <a:sym typeface="Calibri"/>
            </a:endParaRPr>
          </a:p>
        </p:txBody>
      </p:sp>
      <p:sp>
        <p:nvSpPr>
          <p:cNvPr id="67" name="Google Shape;67;p4"/>
          <p:cNvSpPr/>
          <p:nvPr/>
        </p:nvSpPr>
        <p:spPr>
          <a:xfrm>
            <a:off x="13937754" y="6777633"/>
            <a:ext cx="3695740"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 all in SageMaker</a:t>
            </a:r>
            <a:endParaRPr b="0" i="0" sz="1650" u="none" cap="none" strike="noStrike">
              <a:solidFill>
                <a:schemeClr val="dk1"/>
              </a:solidFill>
              <a:latin typeface="Calibri"/>
              <a:ea typeface="Calibri"/>
              <a:cs typeface="Calibri"/>
              <a:sym typeface="Calibri"/>
            </a:endParaRPr>
          </a:p>
        </p:txBody>
      </p:sp>
      <p:sp>
        <p:nvSpPr>
          <p:cNvPr id="68" name="Google Shape;68;p4"/>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69" name="Google Shape;69;p4"/>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03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74" name="Shape 74"/>
        <p:cNvGrpSpPr/>
        <p:nvPr/>
      </p:nvGrpSpPr>
      <p:grpSpPr>
        <a:xfrm>
          <a:off x="0" y="0"/>
          <a:ext cx="0" cy="0"/>
          <a:chOff x="0" y="0"/>
          <a:chExt cx="0" cy="0"/>
        </a:xfrm>
      </p:grpSpPr>
      <p:sp>
        <p:nvSpPr>
          <p:cNvPr id="75" name="Google Shape;75;p3"/>
          <p:cNvSpPr/>
          <p:nvPr/>
        </p:nvSpPr>
        <p:spPr>
          <a:xfrm>
            <a:off x="762000" y="457200"/>
            <a:ext cx="1996678"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a:t>
            </a:r>
            <a:r>
              <a:rPr b="1" lang="en-US" sz="1350">
                <a:solidFill>
                  <a:srgbClr val="232F3E"/>
                </a:solidFill>
                <a:latin typeface="Helvetica Neue"/>
                <a:ea typeface="Helvetica Neue"/>
                <a:cs typeface="Helvetica Neue"/>
                <a:sym typeface="Helvetica Neue"/>
              </a:rPr>
              <a:t>4</a:t>
            </a:r>
            <a:r>
              <a:rPr b="1" i="0" lang="en-US" sz="1350" u="none" cap="none" strike="noStrike">
                <a:solidFill>
                  <a:srgbClr val="232F3E"/>
                </a:solidFill>
                <a:latin typeface="Helvetica Neue"/>
                <a:ea typeface="Helvetica Neue"/>
                <a:cs typeface="Helvetica Neue"/>
                <a:sym typeface="Helvetica Neue"/>
              </a:rPr>
              <a:t> · DEFINITION</a:t>
            </a:r>
            <a:endParaRPr b="0" i="0" sz="1350" u="none" cap="none" strike="noStrike">
              <a:solidFill>
                <a:schemeClr val="dk1"/>
              </a:solidFill>
              <a:latin typeface="Calibri"/>
              <a:ea typeface="Calibri"/>
              <a:cs typeface="Calibri"/>
              <a:sym typeface="Calibri"/>
            </a:endParaRPr>
          </a:p>
        </p:txBody>
      </p:sp>
      <p:sp>
        <p:nvSpPr>
          <p:cNvPr id="76" name="Google Shape;76;p3"/>
          <p:cNvSpPr/>
          <p:nvPr/>
        </p:nvSpPr>
        <p:spPr>
          <a:xfrm>
            <a:off x="15226605" y="457200"/>
            <a:ext cx="237559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FRANCESCO</a:t>
            </a:r>
            <a:endParaRPr b="0" i="0" sz="1350" u="none" cap="none" strike="noStrike">
              <a:solidFill>
                <a:schemeClr val="dk1"/>
              </a:solidFill>
              <a:latin typeface="Calibri"/>
              <a:ea typeface="Calibri"/>
              <a:cs typeface="Calibri"/>
              <a:sym typeface="Calibri"/>
            </a:endParaRPr>
          </a:p>
        </p:txBody>
      </p:sp>
      <p:sp>
        <p:nvSpPr>
          <p:cNvPr id="77" name="Google Shape;77;p3"/>
          <p:cNvSpPr/>
          <p:nvPr/>
        </p:nvSpPr>
        <p:spPr>
          <a:xfrm>
            <a:off x="1143000" y="1905000"/>
            <a:ext cx="16482060"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2250"/>
              <a:buFont typeface="Helvetica Neue"/>
              <a:buNone/>
            </a:pPr>
            <a:r>
              <a:rPr b="1" i="0" lang="en-US" sz="2250" u="none" cap="none" strike="noStrike">
                <a:solidFill>
                  <a:srgbClr val="6B7280"/>
                </a:solidFill>
                <a:latin typeface="Helvetica Neue"/>
                <a:ea typeface="Helvetica Neue"/>
                <a:cs typeface="Helvetica Neue"/>
                <a:sym typeface="Helvetica Neue"/>
              </a:rPr>
              <a:t>WHAT IS SAGEMAKER?</a:t>
            </a:r>
            <a:endParaRPr b="0" i="0" sz="2250" u="none" cap="none" strike="noStrike">
              <a:solidFill>
                <a:schemeClr val="dk1"/>
              </a:solidFill>
              <a:latin typeface="Calibri"/>
              <a:ea typeface="Calibri"/>
              <a:cs typeface="Calibri"/>
              <a:sym typeface="Calibri"/>
            </a:endParaRPr>
          </a:p>
        </p:txBody>
      </p:sp>
      <p:sp>
        <p:nvSpPr>
          <p:cNvPr id="78" name="Google Shape;78;p3"/>
          <p:cNvSpPr/>
          <p:nvPr/>
        </p:nvSpPr>
        <p:spPr>
          <a:xfrm>
            <a:off x="1143000" y="2495550"/>
            <a:ext cx="16403574" cy="3524845"/>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232F3E"/>
              </a:buClr>
              <a:buSzPts val="6600"/>
              <a:buFont typeface="Helvetica Neue"/>
              <a:buNone/>
            </a:pPr>
            <a:r>
              <a:rPr b="1" i="0" lang="en-US" sz="6600" u="none" cap="none" strike="noStrike">
                <a:solidFill>
                  <a:srgbClr val="232F3E"/>
                </a:solidFill>
                <a:latin typeface="Helvetica Neue"/>
                <a:ea typeface="Helvetica Neue"/>
                <a:cs typeface="Helvetica Neue"/>
                <a:sym typeface="Helvetica Neue"/>
              </a:rPr>
              <a:t>AWS’s fully managed end-to-end ML platform — </a:t>
            </a:r>
            <a:r>
              <a:rPr b="1" i="0" lang="en-US" sz="6600" u="none" cap="none" strike="noStrike">
                <a:solidFill>
                  <a:srgbClr val="FF9900"/>
                </a:solidFill>
                <a:latin typeface="Helvetica Neue"/>
                <a:ea typeface="Helvetica Neue"/>
                <a:cs typeface="Helvetica Neue"/>
                <a:sym typeface="Helvetica Neue"/>
              </a:rPr>
              <a:t>build, train, deploy, monitor </a:t>
            </a:r>
            <a:r>
              <a:rPr b="1" i="0" lang="en-US" sz="6600" u="none" cap="none" strike="noStrike">
                <a:solidFill>
                  <a:srgbClr val="232F3E"/>
                </a:solidFill>
                <a:latin typeface="Helvetica Neue"/>
                <a:ea typeface="Helvetica Neue"/>
                <a:cs typeface="Helvetica Neue"/>
                <a:sym typeface="Helvetica Neue"/>
              </a:rPr>
              <a:t>, all from one place.</a:t>
            </a:r>
            <a:endParaRPr b="0" i="0" sz="6600" u="none" cap="none" strike="noStrike">
              <a:solidFill>
                <a:schemeClr val="dk1"/>
              </a:solidFill>
              <a:latin typeface="Calibri"/>
              <a:ea typeface="Calibri"/>
              <a:cs typeface="Calibri"/>
              <a:sym typeface="Calibri"/>
            </a:endParaRPr>
          </a:p>
        </p:txBody>
      </p:sp>
      <p:sp>
        <p:nvSpPr>
          <p:cNvPr id="79" name="Google Shape;79;p3"/>
          <p:cNvSpPr/>
          <p:nvPr/>
        </p:nvSpPr>
        <p:spPr>
          <a:xfrm>
            <a:off x="1143000" y="7030045"/>
            <a:ext cx="5079950" cy="28575"/>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1143000" y="7325320"/>
            <a:ext cx="5232349"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01 / LIFECYCLE</a:t>
            </a:r>
            <a:endParaRPr b="0" i="0" sz="1650" u="none" cap="none" strike="noStrike">
              <a:solidFill>
                <a:schemeClr val="dk1"/>
              </a:solidFill>
              <a:latin typeface="Calibri"/>
              <a:ea typeface="Calibri"/>
              <a:cs typeface="Calibri"/>
              <a:sym typeface="Calibri"/>
            </a:endParaRPr>
          </a:p>
        </p:txBody>
      </p:sp>
      <p:sp>
        <p:nvSpPr>
          <p:cNvPr id="81" name="Google Shape;81;p3"/>
          <p:cNvSpPr/>
          <p:nvPr/>
        </p:nvSpPr>
        <p:spPr>
          <a:xfrm>
            <a:off x="1143000" y="7734895"/>
            <a:ext cx="5232349" cy="1226641"/>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3A4253"/>
              </a:buClr>
              <a:buSzPts val="2400"/>
              <a:buFont typeface="Helvetica Neue"/>
              <a:buNone/>
            </a:pPr>
            <a:r>
              <a:rPr b="0" i="0" lang="en-US" sz="2400" u="none" cap="none" strike="noStrike">
                <a:solidFill>
                  <a:srgbClr val="3A4253"/>
                </a:solidFill>
                <a:latin typeface="Helvetica Neue"/>
                <a:ea typeface="Helvetica Neue"/>
                <a:cs typeface="Helvetica Neue"/>
                <a:sym typeface="Helvetica Neue"/>
              </a:rPr>
              <a:t>Covers the entire ML lifecycle — data prep, training, deployment, monitoring.</a:t>
            </a:r>
            <a:endParaRPr b="0" i="0" sz="2400" u="none" cap="none" strike="noStrike">
              <a:solidFill>
                <a:schemeClr val="dk1"/>
              </a:solidFill>
              <a:latin typeface="Calibri"/>
              <a:ea typeface="Calibri"/>
              <a:cs typeface="Calibri"/>
              <a:sym typeface="Calibri"/>
            </a:endParaRPr>
          </a:p>
        </p:txBody>
      </p:sp>
      <p:sp>
        <p:nvSpPr>
          <p:cNvPr id="82" name="Google Shape;82;p3"/>
          <p:cNvSpPr/>
          <p:nvPr/>
        </p:nvSpPr>
        <p:spPr>
          <a:xfrm>
            <a:off x="6603950" y="7030045"/>
            <a:ext cx="5079950" cy="28575"/>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6603950" y="7325320"/>
            <a:ext cx="5232349"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02 / BILLING</a:t>
            </a:r>
            <a:endParaRPr b="0" i="0" sz="1650" u="none" cap="none" strike="noStrike">
              <a:solidFill>
                <a:schemeClr val="dk1"/>
              </a:solidFill>
              <a:latin typeface="Calibri"/>
              <a:ea typeface="Calibri"/>
              <a:cs typeface="Calibri"/>
              <a:sym typeface="Calibri"/>
            </a:endParaRPr>
          </a:p>
        </p:txBody>
      </p:sp>
      <p:sp>
        <p:nvSpPr>
          <p:cNvPr id="84" name="Google Shape;84;p3"/>
          <p:cNvSpPr/>
          <p:nvPr/>
        </p:nvSpPr>
        <p:spPr>
          <a:xfrm>
            <a:off x="6603950" y="7734895"/>
            <a:ext cx="5232349" cy="830461"/>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3A4253"/>
              </a:buClr>
              <a:buSzPts val="2400"/>
              <a:buFont typeface="Helvetica Neue"/>
              <a:buNone/>
            </a:pPr>
            <a:r>
              <a:rPr b="0" i="0" lang="en-US" sz="2400" u="none" cap="none" strike="noStrike">
                <a:solidFill>
                  <a:srgbClr val="3A4253"/>
                </a:solidFill>
                <a:latin typeface="Helvetica Neue"/>
                <a:ea typeface="Helvetica Neue"/>
                <a:cs typeface="Helvetica Neue"/>
                <a:sym typeface="Helvetica Neue"/>
              </a:rPr>
              <a:t>Pay-per-use. No GPU servers, no clusters, no infra to manage.</a:t>
            </a:r>
            <a:endParaRPr b="0" i="0" sz="2400" u="none" cap="none" strike="noStrike">
              <a:solidFill>
                <a:schemeClr val="dk1"/>
              </a:solidFill>
              <a:latin typeface="Calibri"/>
              <a:ea typeface="Calibri"/>
              <a:cs typeface="Calibri"/>
              <a:sym typeface="Calibri"/>
            </a:endParaRPr>
          </a:p>
        </p:txBody>
      </p:sp>
      <p:sp>
        <p:nvSpPr>
          <p:cNvPr id="85" name="Google Shape;85;p3"/>
          <p:cNvSpPr/>
          <p:nvPr/>
        </p:nvSpPr>
        <p:spPr>
          <a:xfrm>
            <a:off x="12064901" y="7030045"/>
            <a:ext cx="5079950" cy="28575"/>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12064901" y="7325320"/>
            <a:ext cx="5232349"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03 / INTEGRATION</a:t>
            </a:r>
            <a:endParaRPr b="0" i="0" sz="1650" u="none" cap="none" strike="noStrike">
              <a:solidFill>
                <a:schemeClr val="dk1"/>
              </a:solidFill>
              <a:latin typeface="Calibri"/>
              <a:ea typeface="Calibri"/>
              <a:cs typeface="Calibri"/>
              <a:sym typeface="Calibri"/>
            </a:endParaRPr>
          </a:p>
        </p:txBody>
      </p:sp>
      <p:sp>
        <p:nvSpPr>
          <p:cNvPr id="87" name="Google Shape;87;p3"/>
          <p:cNvSpPr/>
          <p:nvPr/>
        </p:nvSpPr>
        <p:spPr>
          <a:xfrm>
            <a:off x="12064901" y="7734895"/>
            <a:ext cx="5232349" cy="1226641"/>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3A4253"/>
              </a:buClr>
              <a:buSzPts val="2400"/>
              <a:buFont typeface="Helvetica Neue"/>
              <a:buNone/>
            </a:pPr>
            <a:r>
              <a:rPr b="0" i="0" lang="en-US" sz="2400" u="none" cap="none" strike="noStrike">
                <a:solidFill>
                  <a:srgbClr val="3A4253"/>
                </a:solidFill>
                <a:latin typeface="Helvetica Neue"/>
                <a:ea typeface="Helvetica Neue"/>
                <a:cs typeface="Helvetica Neue"/>
                <a:sym typeface="Helvetica Neue"/>
              </a:rPr>
              <a:t>Wired into S3, Lambda, IAM, CloudWatch — plays with the rest of AWS.</a:t>
            </a:r>
            <a:endParaRPr b="0" i="0" sz="2400" u="none" cap="none" strike="noStrike">
              <a:solidFill>
                <a:schemeClr val="dk1"/>
              </a:solidFill>
              <a:latin typeface="Calibri"/>
              <a:ea typeface="Calibri"/>
              <a:cs typeface="Calibri"/>
              <a:sym typeface="Calibri"/>
            </a:endParaRPr>
          </a:p>
        </p:txBody>
      </p:sp>
      <p:sp>
        <p:nvSpPr>
          <p:cNvPr id="88" name="Google Shape;88;p3"/>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89" name="Google Shape;89;p3"/>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04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94" name="Shape 94"/>
        <p:cNvGrpSpPr/>
        <p:nvPr/>
      </p:nvGrpSpPr>
      <p:grpSpPr>
        <a:xfrm>
          <a:off x="0" y="0"/>
          <a:ext cx="0" cy="0"/>
          <a:chOff x="0" y="0"/>
          <a:chExt cx="0" cy="0"/>
        </a:xfrm>
      </p:grpSpPr>
      <p:sp>
        <p:nvSpPr>
          <p:cNvPr id="95" name="Google Shape;95;p5"/>
          <p:cNvSpPr/>
          <p:nvPr/>
        </p:nvSpPr>
        <p:spPr>
          <a:xfrm>
            <a:off x="762000" y="457200"/>
            <a:ext cx="1931343"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05 · SURFACES</a:t>
            </a:r>
            <a:endParaRPr b="0" i="0" sz="1350" u="none" cap="none" strike="noStrike">
              <a:solidFill>
                <a:schemeClr val="dk1"/>
              </a:solidFill>
              <a:latin typeface="Calibri"/>
              <a:ea typeface="Calibri"/>
              <a:cs typeface="Calibri"/>
              <a:sym typeface="Calibri"/>
            </a:endParaRPr>
          </a:p>
        </p:txBody>
      </p:sp>
      <p:sp>
        <p:nvSpPr>
          <p:cNvPr id="96" name="Google Shape;96;p5"/>
          <p:cNvSpPr/>
          <p:nvPr/>
        </p:nvSpPr>
        <p:spPr>
          <a:xfrm>
            <a:off x="15226605" y="457200"/>
            <a:ext cx="237559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a:t>
            </a:r>
            <a:r>
              <a:rPr lang="en-US" sz="1350">
                <a:solidFill>
                  <a:srgbClr val="6B7280"/>
                </a:solidFill>
                <a:latin typeface="Helvetica Neue"/>
                <a:ea typeface="Helvetica Neue"/>
                <a:cs typeface="Helvetica Neue"/>
                <a:sym typeface="Helvetica Neue"/>
              </a:rPr>
              <a:t>DALIBOR</a:t>
            </a:r>
            <a:endParaRPr b="0" i="0" sz="1350" u="none" cap="none" strike="noStrike">
              <a:solidFill>
                <a:schemeClr val="dk1"/>
              </a:solidFill>
              <a:latin typeface="Calibri"/>
              <a:ea typeface="Calibri"/>
              <a:cs typeface="Calibri"/>
              <a:sym typeface="Calibri"/>
            </a:endParaRPr>
          </a:p>
        </p:txBody>
      </p:sp>
      <p:sp>
        <p:nvSpPr>
          <p:cNvPr id="97" name="Google Shape;97;p5"/>
          <p:cNvSpPr/>
          <p:nvPr/>
        </p:nvSpPr>
        <p:spPr>
          <a:xfrm>
            <a:off x="762000" y="1524000"/>
            <a:ext cx="12714732" cy="75813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5400"/>
              <a:buFont typeface="Helvetica Neue"/>
              <a:buNone/>
            </a:pPr>
            <a:r>
              <a:rPr b="1" i="0" lang="en-US" sz="5400" u="none" cap="none" strike="noStrike">
                <a:solidFill>
                  <a:srgbClr val="232F3E"/>
                </a:solidFill>
                <a:latin typeface="Helvetica Neue"/>
                <a:ea typeface="Helvetica Neue"/>
                <a:cs typeface="Helvetica Neue"/>
                <a:sym typeface="Helvetica Neue"/>
              </a:rPr>
              <a:t>One service, </a:t>
            </a:r>
            <a:r>
              <a:rPr b="1" lang="en-US" sz="5400">
                <a:solidFill>
                  <a:srgbClr val="232F3E"/>
                </a:solidFill>
                <a:latin typeface="Helvetica Neue"/>
                <a:ea typeface="Helvetica Neue"/>
                <a:cs typeface="Helvetica Neue"/>
                <a:sym typeface="Helvetica Neue"/>
              </a:rPr>
              <a:t>many </a:t>
            </a:r>
            <a:r>
              <a:rPr b="1" i="0" lang="en-US" sz="5400" u="none" cap="none" strike="noStrike">
                <a:solidFill>
                  <a:srgbClr val="232F3E"/>
                </a:solidFill>
                <a:latin typeface="Helvetica Neue"/>
                <a:ea typeface="Helvetica Neue"/>
                <a:cs typeface="Helvetica Neue"/>
                <a:sym typeface="Helvetica Neue"/>
              </a:rPr>
              <a:t>ways to use it.</a:t>
            </a:r>
            <a:endParaRPr b="0" i="0" sz="5400" u="none" cap="none" strike="noStrike">
              <a:solidFill>
                <a:schemeClr val="dk1"/>
              </a:solidFill>
              <a:latin typeface="Calibri"/>
              <a:ea typeface="Calibri"/>
              <a:cs typeface="Calibri"/>
              <a:sym typeface="Calibri"/>
            </a:endParaRPr>
          </a:p>
        </p:txBody>
      </p:sp>
      <p:sp>
        <p:nvSpPr>
          <p:cNvPr id="98" name="Google Shape;98;p5"/>
          <p:cNvSpPr/>
          <p:nvPr/>
        </p:nvSpPr>
        <p:spPr>
          <a:xfrm>
            <a:off x="762000" y="3396555"/>
            <a:ext cx="3687961"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952500" y="2986980"/>
            <a:ext cx="3417600"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SHAPE</a:t>
            </a:r>
            <a:endParaRPr b="0" i="0" sz="1650" u="none" cap="none" strike="noStrike">
              <a:solidFill>
                <a:schemeClr val="dk1"/>
              </a:solidFill>
              <a:latin typeface="Calibri"/>
              <a:ea typeface="Calibri"/>
              <a:cs typeface="Calibri"/>
              <a:sym typeface="Calibri"/>
            </a:endParaRPr>
          </a:p>
        </p:txBody>
      </p:sp>
      <p:sp>
        <p:nvSpPr>
          <p:cNvPr id="100" name="Google Shape;100;p5"/>
          <p:cNvSpPr/>
          <p:nvPr/>
        </p:nvSpPr>
        <p:spPr>
          <a:xfrm>
            <a:off x="4449961" y="3396555"/>
            <a:ext cx="5029200"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4640461" y="2986980"/>
            <a:ext cx="4799076"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WHAT IT IS</a:t>
            </a:r>
            <a:endParaRPr b="0" i="0" sz="1650" u="none" cap="none" strike="noStrike">
              <a:solidFill>
                <a:schemeClr val="dk1"/>
              </a:solidFill>
              <a:latin typeface="Calibri"/>
              <a:ea typeface="Calibri"/>
              <a:cs typeface="Calibri"/>
              <a:sym typeface="Calibri"/>
            </a:endParaRPr>
          </a:p>
        </p:txBody>
      </p:sp>
      <p:sp>
        <p:nvSpPr>
          <p:cNvPr id="102" name="Google Shape;102;p5"/>
          <p:cNvSpPr/>
          <p:nvPr/>
        </p:nvSpPr>
        <p:spPr>
          <a:xfrm>
            <a:off x="9479161" y="3396555"/>
            <a:ext cx="4693890"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9669661" y="2986980"/>
            <a:ext cx="4453707"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BEST FOR</a:t>
            </a:r>
            <a:endParaRPr b="0" i="0" sz="1650" u="none" cap="none" strike="noStrike">
              <a:solidFill>
                <a:schemeClr val="dk1"/>
              </a:solidFill>
              <a:latin typeface="Calibri"/>
              <a:ea typeface="Calibri"/>
              <a:cs typeface="Calibri"/>
              <a:sym typeface="Calibri"/>
            </a:endParaRPr>
          </a:p>
        </p:txBody>
      </p:sp>
      <p:sp>
        <p:nvSpPr>
          <p:cNvPr id="104" name="Google Shape;104;p5"/>
          <p:cNvSpPr/>
          <p:nvPr/>
        </p:nvSpPr>
        <p:spPr>
          <a:xfrm>
            <a:off x="14173051" y="3396555"/>
            <a:ext cx="3352949"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14363551" y="2986980"/>
            <a:ext cx="3072537"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INTERFACE</a:t>
            </a:r>
            <a:endParaRPr b="0" i="0" sz="1650" u="none" cap="none" strike="noStrike">
              <a:solidFill>
                <a:schemeClr val="dk1"/>
              </a:solidFill>
              <a:latin typeface="Calibri"/>
              <a:ea typeface="Calibri"/>
              <a:cs typeface="Calibri"/>
              <a:sym typeface="Calibri"/>
            </a:endParaRPr>
          </a:p>
        </p:txBody>
      </p:sp>
      <p:sp>
        <p:nvSpPr>
          <p:cNvPr id="106" name="Google Shape;106;p5"/>
          <p:cNvSpPr/>
          <p:nvPr/>
        </p:nvSpPr>
        <p:spPr>
          <a:xfrm>
            <a:off x="762000" y="4430018"/>
            <a:ext cx="3687961"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952500" y="3634680"/>
            <a:ext cx="1025128" cy="3333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Canvas</a:t>
            </a:r>
            <a:endParaRPr b="0" i="0" sz="2100" u="none" cap="none" strike="noStrike">
              <a:solidFill>
                <a:schemeClr val="dk1"/>
              </a:solidFill>
              <a:latin typeface="Calibri"/>
              <a:ea typeface="Calibri"/>
              <a:cs typeface="Calibri"/>
              <a:sym typeface="Calibri"/>
            </a:endParaRPr>
          </a:p>
        </p:txBody>
      </p:sp>
      <p:sp>
        <p:nvSpPr>
          <p:cNvPr id="108" name="Google Shape;108;p5"/>
          <p:cNvSpPr/>
          <p:nvPr/>
        </p:nvSpPr>
        <p:spPr>
          <a:xfrm>
            <a:off x="952500" y="3958530"/>
            <a:ext cx="3406170"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no-code</a:t>
            </a:r>
            <a:endParaRPr b="0" i="0" sz="1350" u="none" cap="none" strike="noStrike">
              <a:solidFill>
                <a:schemeClr val="dk1"/>
              </a:solidFill>
              <a:latin typeface="Calibri"/>
              <a:ea typeface="Calibri"/>
              <a:cs typeface="Calibri"/>
              <a:sym typeface="Calibri"/>
            </a:endParaRPr>
          </a:p>
        </p:txBody>
      </p:sp>
      <p:sp>
        <p:nvSpPr>
          <p:cNvPr id="109" name="Google Shape;109;p5"/>
          <p:cNvSpPr/>
          <p:nvPr/>
        </p:nvSpPr>
        <p:spPr>
          <a:xfrm>
            <a:off x="4449961" y="4430018"/>
            <a:ext cx="502920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4640461" y="3625155"/>
            <a:ext cx="4799076" cy="6334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Visual ML builder, drag &amp; drop</a:t>
            </a:r>
            <a:endParaRPr b="0" i="0" sz="1950" u="none" cap="none" strike="noStrike">
              <a:solidFill>
                <a:schemeClr val="dk1"/>
              </a:solidFill>
              <a:latin typeface="Calibri"/>
              <a:ea typeface="Calibri"/>
              <a:cs typeface="Calibri"/>
              <a:sym typeface="Calibri"/>
            </a:endParaRPr>
          </a:p>
        </p:txBody>
      </p:sp>
      <p:sp>
        <p:nvSpPr>
          <p:cNvPr id="111" name="Google Shape;111;p5"/>
          <p:cNvSpPr/>
          <p:nvPr/>
        </p:nvSpPr>
        <p:spPr>
          <a:xfrm>
            <a:off x="9479161" y="4430018"/>
            <a:ext cx="469389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9669661" y="3625155"/>
            <a:ext cx="4453707" cy="6334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Business analysts, demos, quick prototypes</a:t>
            </a:r>
            <a:endParaRPr b="0" i="0" sz="1950" u="none" cap="none" strike="noStrike">
              <a:solidFill>
                <a:schemeClr val="dk1"/>
              </a:solidFill>
              <a:latin typeface="Calibri"/>
              <a:ea typeface="Calibri"/>
              <a:cs typeface="Calibri"/>
              <a:sym typeface="Calibri"/>
            </a:endParaRPr>
          </a:p>
        </p:txBody>
      </p:sp>
      <p:sp>
        <p:nvSpPr>
          <p:cNvPr id="113" name="Google Shape;113;p5"/>
          <p:cNvSpPr/>
          <p:nvPr/>
        </p:nvSpPr>
        <p:spPr>
          <a:xfrm>
            <a:off x="14173051" y="4430018"/>
            <a:ext cx="3352949"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14363551" y="3625155"/>
            <a:ext cx="3072537" cy="6334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Web UI</a:t>
            </a:r>
            <a:endParaRPr b="0" i="0" sz="1950" u="none" cap="none" strike="noStrike">
              <a:solidFill>
                <a:schemeClr val="dk1"/>
              </a:solidFill>
              <a:latin typeface="Calibri"/>
              <a:ea typeface="Calibri"/>
              <a:cs typeface="Calibri"/>
              <a:sym typeface="Calibri"/>
            </a:endParaRPr>
          </a:p>
        </p:txBody>
      </p:sp>
      <p:sp>
        <p:nvSpPr>
          <p:cNvPr id="115" name="Google Shape;115;p5"/>
          <p:cNvSpPr/>
          <p:nvPr/>
        </p:nvSpPr>
        <p:spPr>
          <a:xfrm>
            <a:off x="762000" y="5382518"/>
            <a:ext cx="3687961"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952500" y="4653855"/>
            <a:ext cx="2357884" cy="3333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Studio Notebooks</a:t>
            </a:r>
            <a:endParaRPr b="0" i="0" sz="2100" u="none" cap="none" strike="noStrike">
              <a:solidFill>
                <a:schemeClr val="dk1"/>
              </a:solidFill>
              <a:latin typeface="Calibri"/>
              <a:ea typeface="Calibri"/>
              <a:cs typeface="Calibri"/>
              <a:sym typeface="Calibri"/>
            </a:endParaRPr>
          </a:p>
        </p:txBody>
      </p:sp>
      <p:sp>
        <p:nvSpPr>
          <p:cNvPr id="117" name="Google Shape;117;p5"/>
          <p:cNvSpPr/>
          <p:nvPr/>
        </p:nvSpPr>
        <p:spPr>
          <a:xfrm>
            <a:off x="952500" y="4977705"/>
            <a:ext cx="3406170"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explore</a:t>
            </a:r>
            <a:endParaRPr b="0" i="0" sz="1350" u="none" cap="none" strike="noStrike">
              <a:solidFill>
                <a:schemeClr val="dk1"/>
              </a:solidFill>
              <a:latin typeface="Calibri"/>
              <a:ea typeface="Calibri"/>
              <a:cs typeface="Calibri"/>
              <a:sym typeface="Calibri"/>
            </a:endParaRPr>
          </a:p>
        </p:txBody>
      </p:sp>
      <p:sp>
        <p:nvSpPr>
          <p:cNvPr id="118" name="Google Shape;118;p5"/>
          <p:cNvSpPr/>
          <p:nvPr/>
        </p:nvSpPr>
        <p:spPr>
          <a:xfrm>
            <a:off x="4449961" y="5382518"/>
            <a:ext cx="502920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4640461" y="4649093"/>
            <a:ext cx="4799076" cy="561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Cloud Jupyter, pre-loaded with ML libs</a:t>
            </a:r>
            <a:endParaRPr b="0" i="0" sz="1950" u="none" cap="none" strike="noStrike">
              <a:solidFill>
                <a:schemeClr val="dk1"/>
              </a:solidFill>
              <a:latin typeface="Calibri"/>
              <a:ea typeface="Calibri"/>
              <a:cs typeface="Calibri"/>
              <a:sym typeface="Calibri"/>
            </a:endParaRPr>
          </a:p>
        </p:txBody>
      </p:sp>
      <p:sp>
        <p:nvSpPr>
          <p:cNvPr id="120" name="Google Shape;120;p5"/>
          <p:cNvSpPr/>
          <p:nvPr/>
        </p:nvSpPr>
        <p:spPr>
          <a:xfrm>
            <a:off x="9479161" y="5382518"/>
            <a:ext cx="469389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9669661" y="4649093"/>
            <a:ext cx="4453707" cy="561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Data scientists exploring data</a:t>
            </a:r>
            <a:endParaRPr b="0" i="0" sz="1950" u="none" cap="none" strike="noStrike">
              <a:solidFill>
                <a:schemeClr val="dk1"/>
              </a:solidFill>
              <a:latin typeface="Calibri"/>
              <a:ea typeface="Calibri"/>
              <a:cs typeface="Calibri"/>
              <a:sym typeface="Calibri"/>
            </a:endParaRPr>
          </a:p>
        </p:txBody>
      </p:sp>
      <p:sp>
        <p:nvSpPr>
          <p:cNvPr id="122" name="Google Shape;122;p5"/>
          <p:cNvSpPr/>
          <p:nvPr/>
        </p:nvSpPr>
        <p:spPr>
          <a:xfrm>
            <a:off x="14173051" y="5382518"/>
            <a:ext cx="3352949"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14363551" y="4649093"/>
            <a:ext cx="3072537" cy="561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Jupyter</a:t>
            </a:r>
            <a:endParaRPr b="0" i="0" sz="1950" u="none" cap="none" strike="noStrike">
              <a:solidFill>
                <a:schemeClr val="dk1"/>
              </a:solidFill>
              <a:latin typeface="Calibri"/>
              <a:ea typeface="Calibri"/>
              <a:cs typeface="Calibri"/>
              <a:sym typeface="Calibri"/>
            </a:endParaRPr>
          </a:p>
        </p:txBody>
      </p:sp>
      <p:sp>
        <p:nvSpPr>
          <p:cNvPr id="124" name="Google Shape;124;p5"/>
          <p:cNvSpPr/>
          <p:nvPr/>
        </p:nvSpPr>
        <p:spPr>
          <a:xfrm>
            <a:off x="762000" y="6401693"/>
            <a:ext cx="3687961"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952500" y="5606355"/>
            <a:ext cx="1587550" cy="3333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SDK / boto3</a:t>
            </a:r>
            <a:endParaRPr b="0" i="0" sz="2100" u="none" cap="none" strike="noStrike">
              <a:solidFill>
                <a:schemeClr val="dk1"/>
              </a:solidFill>
              <a:latin typeface="Calibri"/>
              <a:ea typeface="Calibri"/>
              <a:cs typeface="Calibri"/>
              <a:sym typeface="Calibri"/>
            </a:endParaRPr>
          </a:p>
        </p:txBody>
      </p:sp>
      <p:sp>
        <p:nvSpPr>
          <p:cNvPr id="126" name="Google Shape;126;p5"/>
          <p:cNvSpPr/>
          <p:nvPr/>
        </p:nvSpPr>
        <p:spPr>
          <a:xfrm>
            <a:off x="952500" y="5930205"/>
            <a:ext cx="3406170"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production</a:t>
            </a:r>
            <a:endParaRPr b="0" i="0" sz="1350" u="none" cap="none" strike="noStrike">
              <a:solidFill>
                <a:schemeClr val="dk1"/>
              </a:solidFill>
              <a:latin typeface="Calibri"/>
              <a:ea typeface="Calibri"/>
              <a:cs typeface="Calibri"/>
              <a:sym typeface="Calibri"/>
            </a:endParaRPr>
          </a:p>
        </p:txBody>
      </p:sp>
      <p:sp>
        <p:nvSpPr>
          <p:cNvPr id="127" name="Google Shape;127;p5"/>
          <p:cNvSpPr/>
          <p:nvPr/>
        </p:nvSpPr>
        <p:spPr>
          <a:xfrm>
            <a:off x="4449961" y="6401693"/>
            <a:ext cx="502920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4640461" y="5601593"/>
            <a:ext cx="4799076"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Python API to train, deploy, predict</a:t>
            </a:r>
            <a:endParaRPr b="0" i="0" sz="1950" u="none" cap="none" strike="noStrike">
              <a:solidFill>
                <a:schemeClr val="dk1"/>
              </a:solidFill>
              <a:latin typeface="Calibri"/>
              <a:ea typeface="Calibri"/>
              <a:cs typeface="Calibri"/>
              <a:sym typeface="Calibri"/>
            </a:endParaRPr>
          </a:p>
        </p:txBody>
      </p:sp>
      <p:sp>
        <p:nvSpPr>
          <p:cNvPr id="129" name="Google Shape;129;p5"/>
          <p:cNvSpPr/>
          <p:nvPr/>
        </p:nvSpPr>
        <p:spPr>
          <a:xfrm>
            <a:off x="9479161" y="6401693"/>
            <a:ext cx="469389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9669661" y="5601593"/>
            <a:ext cx="4453707"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Production engineers, automation, Lambdas</a:t>
            </a:r>
            <a:endParaRPr b="0" i="0" sz="1950" u="none" cap="none" strike="noStrike">
              <a:solidFill>
                <a:schemeClr val="dk1"/>
              </a:solidFill>
              <a:latin typeface="Calibri"/>
              <a:ea typeface="Calibri"/>
              <a:cs typeface="Calibri"/>
              <a:sym typeface="Calibri"/>
            </a:endParaRPr>
          </a:p>
        </p:txBody>
      </p:sp>
      <p:sp>
        <p:nvSpPr>
          <p:cNvPr id="131" name="Google Shape;131;p5"/>
          <p:cNvSpPr/>
          <p:nvPr/>
        </p:nvSpPr>
        <p:spPr>
          <a:xfrm>
            <a:off x="14173051" y="6401693"/>
            <a:ext cx="3352949"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14363551" y="5601593"/>
            <a:ext cx="3072537"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Python code</a:t>
            </a:r>
            <a:endParaRPr b="0" i="0" sz="1950" u="none" cap="none" strike="noStrike">
              <a:solidFill>
                <a:schemeClr val="dk1"/>
              </a:solidFill>
              <a:latin typeface="Calibri"/>
              <a:ea typeface="Calibri"/>
              <a:cs typeface="Calibri"/>
              <a:sym typeface="Calibri"/>
            </a:endParaRPr>
          </a:p>
        </p:txBody>
      </p:sp>
      <p:sp>
        <p:nvSpPr>
          <p:cNvPr id="133" name="Google Shape;133;p5"/>
          <p:cNvSpPr/>
          <p:nvPr/>
        </p:nvSpPr>
        <p:spPr>
          <a:xfrm>
            <a:off x="762000" y="7420868"/>
            <a:ext cx="3687961"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952500" y="6625530"/>
            <a:ext cx="1395115" cy="3333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JumpStart</a:t>
            </a:r>
            <a:endParaRPr b="0" i="0" sz="2100" u="none" cap="none" strike="noStrike">
              <a:solidFill>
                <a:schemeClr val="dk1"/>
              </a:solidFill>
              <a:latin typeface="Calibri"/>
              <a:ea typeface="Calibri"/>
              <a:cs typeface="Calibri"/>
              <a:sym typeface="Calibri"/>
            </a:endParaRPr>
          </a:p>
        </p:txBody>
      </p:sp>
      <p:sp>
        <p:nvSpPr>
          <p:cNvPr id="135" name="Google Shape;135;p5"/>
          <p:cNvSpPr/>
          <p:nvPr/>
        </p:nvSpPr>
        <p:spPr>
          <a:xfrm>
            <a:off x="952500" y="6949380"/>
            <a:ext cx="3406170"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pre-trained</a:t>
            </a:r>
            <a:endParaRPr b="0" i="0" sz="1350" u="none" cap="none" strike="noStrike">
              <a:solidFill>
                <a:schemeClr val="dk1"/>
              </a:solidFill>
              <a:latin typeface="Calibri"/>
              <a:ea typeface="Calibri"/>
              <a:cs typeface="Calibri"/>
              <a:sym typeface="Calibri"/>
            </a:endParaRPr>
          </a:p>
        </p:txBody>
      </p:sp>
      <p:sp>
        <p:nvSpPr>
          <p:cNvPr id="136" name="Google Shape;136;p5"/>
          <p:cNvSpPr/>
          <p:nvPr/>
        </p:nvSpPr>
        <p:spPr>
          <a:xfrm>
            <a:off x="4449961" y="7420868"/>
            <a:ext cx="502920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4640461" y="6620768"/>
            <a:ext cx="4799076"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Library of pre-trained models, 1-click deploy</a:t>
            </a:r>
            <a:endParaRPr b="0" i="0" sz="1950" u="none" cap="none" strike="noStrike">
              <a:solidFill>
                <a:schemeClr val="dk1"/>
              </a:solidFill>
              <a:latin typeface="Calibri"/>
              <a:ea typeface="Calibri"/>
              <a:cs typeface="Calibri"/>
              <a:sym typeface="Calibri"/>
            </a:endParaRPr>
          </a:p>
        </p:txBody>
      </p:sp>
      <p:sp>
        <p:nvSpPr>
          <p:cNvPr id="138" name="Google Shape;138;p5"/>
          <p:cNvSpPr/>
          <p:nvPr/>
        </p:nvSpPr>
        <p:spPr>
          <a:xfrm>
            <a:off x="9479161" y="7420868"/>
            <a:ext cx="469389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9669661" y="6620768"/>
            <a:ext cx="4453707"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Skipping training when a model already exists</a:t>
            </a:r>
            <a:endParaRPr b="0" i="0" sz="1950" u="none" cap="none" strike="noStrike">
              <a:solidFill>
                <a:schemeClr val="dk1"/>
              </a:solidFill>
              <a:latin typeface="Calibri"/>
              <a:ea typeface="Calibri"/>
              <a:cs typeface="Calibri"/>
              <a:sym typeface="Calibri"/>
            </a:endParaRPr>
          </a:p>
        </p:txBody>
      </p:sp>
      <p:sp>
        <p:nvSpPr>
          <p:cNvPr id="140" name="Google Shape;140;p5"/>
          <p:cNvSpPr/>
          <p:nvPr/>
        </p:nvSpPr>
        <p:spPr>
          <a:xfrm>
            <a:off x="14173051" y="7420868"/>
            <a:ext cx="3352949"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14363551" y="6620768"/>
            <a:ext cx="3072537" cy="6286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Web UI + API</a:t>
            </a:r>
            <a:endParaRPr b="0" i="0" sz="1950" u="none" cap="none" strike="noStrike">
              <a:solidFill>
                <a:schemeClr val="dk1"/>
              </a:solidFill>
              <a:latin typeface="Calibri"/>
              <a:ea typeface="Calibri"/>
              <a:cs typeface="Calibri"/>
              <a:sym typeface="Calibri"/>
            </a:endParaRPr>
          </a:p>
        </p:txBody>
      </p:sp>
      <p:sp>
        <p:nvSpPr>
          <p:cNvPr id="142" name="Google Shape;142;p5"/>
          <p:cNvSpPr/>
          <p:nvPr/>
        </p:nvSpPr>
        <p:spPr>
          <a:xfrm>
            <a:off x="952500" y="7644705"/>
            <a:ext cx="1247180" cy="3333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Pipelines</a:t>
            </a:r>
            <a:endParaRPr b="0" i="0" sz="2100" u="none" cap="none" strike="noStrike">
              <a:solidFill>
                <a:schemeClr val="dk1"/>
              </a:solidFill>
              <a:latin typeface="Calibri"/>
              <a:ea typeface="Calibri"/>
              <a:cs typeface="Calibri"/>
              <a:sym typeface="Calibri"/>
            </a:endParaRPr>
          </a:p>
        </p:txBody>
      </p:sp>
      <p:sp>
        <p:nvSpPr>
          <p:cNvPr id="143" name="Google Shape;143;p5"/>
          <p:cNvSpPr/>
          <p:nvPr/>
        </p:nvSpPr>
        <p:spPr>
          <a:xfrm>
            <a:off x="952500" y="7968555"/>
            <a:ext cx="3406170"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orchestrate</a:t>
            </a:r>
            <a:endParaRPr b="0" i="0" sz="1350" u="none" cap="none" strike="noStrike">
              <a:solidFill>
                <a:schemeClr val="dk1"/>
              </a:solidFill>
              <a:latin typeface="Calibri"/>
              <a:ea typeface="Calibri"/>
              <a:cs typeface="Calibri"/>
              <a:sym typeface="Calibri"/>
            </a:endParaRPr>
          </a:p>
        </p:txBody>
      </p:sp>
      <p:sp>
        <p:nvSpPr>
          <p:cNvPr id="144" name="Google Shape;144;p5"/>
          <p:cNvSpPr/>
          <p:nvPr/>
        </p:nvSpPr>
        <p:spPr>
          <a:xfrm>
            <a:off x="4640461" y="7639943"/>
            <a:ext cx="4799076" cy="5667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Workflow orchestrator for ML steps</a:t>
            </a:r>
            <a:endParaRPr b="0" i="0" sz="1950" u="none" cap="none" strike="noStrike">
              <a:solidFill>
                <a:schemeClr val="dk1"/>
              </a:solidFill>
              <a:latin typeface="Calibri"/>
              <a:ea typeface="Calibri"/>
              <a:cs typeface="Calibri"/>
              <a:sym typeface="Calibri"/>
            </a:endParaRPr>
          </a:p>
        </p:txBody>
      </p:sp>
      <p:sp>
        <p:nvSpPr>
          <p:cNvPr id="145" name="Google Shape;145;p5"/>
          <p:cNvSpPr/>
          <p:nvPr/>
        </p:nvSpPr>
        <p:spPr>
          <a:xfrm>
            <a:off x="9669661" y="7639943"/>
            <a:ext cx="4453707" cy="5667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Production-grade reproducible ML</a:t>
            </a:r>
            <a:endParaRPr b="0" i="0" sz="1950" u="none" cap="none" strike="noStrike">
              <a:solidFill>
                <a:schemeClr val="dk1"/>
              </a:solidFill>
              <a:latin typeface="Calibri"/>
              <a:ea typeface="Calibri"/>
              <a:cs typeface="Calibri"/>
              <a:sym typeface="Calibri"/>
            </a:endParaRPr>
          </a:p>
        </p:txBody>
      </p:sp>
      <p:sp>
        <p:nvSpPr>
          <p:cNvPr id="146" name="Google Shape;146;p5"/>
          <p:cNvSpPr/>
          <p:nvPr/>
        </p:nvSpPr>
        <p:spPr>
          <a:xfrm>
            <a:off x="14363551" y="7639943"/>
            <a:ext cx="3072537" cy="5667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SDK + UI</a:t>
            </a:r>
            <a:endParaRPr b="0" i="0" sz="1950" u="none" cap="none" strike="noStrike">
              <a:solidFill>
                <a:schemeClr val="dk1"/>
              </a:solidFill>
              <a:latin typeface="Calibri"/>
              <a:ea typeface="Calibri"/>
              <a:cs typeface="Calibri"/>
              <a:sym typeface="Calibri"/>
            </a:endParaRPr>
          </a:p>
        </p:txBody>
      </p:sp>
      <p:sp>
        <p:nvSpPr>
          <p:cNvPr id="147" name="Google Shape;147;p5"/>
          <p:cNvSpPr/>
          <p:nvPr/>
        </p:nvSpPr>
        <p:spPr>
          <a:xfrm>
            <a:off x="510540" y="9216330"/>
            <a:ext cx="17266800" cy="411300"/>
          </a:xfrm>
          <a:prstGeom prst="rect">
            <a:avLst/>
          </a:prstGeom>
          <a:noFill/>
          <a:ln>
            <a:noFill/>
          </a:ln>
        </p:spPr>
        <p:txBody>
          <a:bodyPr anchorCtr="0" anchor="t" bIns="25400" lIns="25400" spcFirstLastPara="1" rIns="25400" wrap="square" tIns="25400">
            <a:normAutofit/>
          </a:bodyPr>
          <a:lstStyle/>
          <a:p>
            <a:pPr indent="0" lvl="0" marL="0" marR="0" rtl="0" algn="ctr">
              <a:lnSpc>
                <a:spcPct val="140000"/>
              </a:lnSpc>
              <a:spcBef>
                <a:spcPts val="0"/>
              </a:spcBef>
              <a:spcAft>
                <a:spcPts val="0"/>
              </a:spcAft>
              <a:buClr>
                <a:srgbClr val="6B7280"/>
              </a:buClr>
              <a:buSzPts val="2100"/>
              <a:buFont typeface="Helvetica Neue"/>
              <a:buNone/>
            </a:pPr>
            <a:r>
              <a:rPr b="0" i="1" lang="en-US" sz="2100" u="none" cap="none" strike="noStrike">
                <a:solidFill>
                  <a:srgbClr val="6B7280"/>
                </a:solidFill>
                <a:latin typeface="Helvetica Neue"/>
                <a:ea typeface="Helvetica Neue"/>
                <a:cs typeface="Helvetica Neue"/>
                <a:sym typeface="Helvetica Neue"/>
              </a:rPr>
              <a:t>Same compute, same models, same endpoints — pick your interface based on your skill level.</a:t>
            </a:r>
            <a:endParaRPr b="0" i="0" sz="2100" u="none" cap="none" strike="noStrike">
              <a:solidFill>
                <a:schemeClr val="dk1"/>
              </a:solidFill>
              <a:latin typeface="Calibri"/>
              <a:ea typeface="Calibri"/>
              <a:cs typeface="Calibri"/>
              <a:sym typeface="Calibri"/>
            </a:endParaRPr>
          </a:p>
        </p:txBody>
      </p:sp>
      <p:sp>
        <p:nvSpPr>
          <p:cNvPr id="148" name="Google Shape;148;p5"/>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149" name="Google Shape;149;p5"/>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05 / 17</a:t>
            </a:r>
            <a:endParaRPr b="0" i="0" sz="1350" u="none" cap="none" strike="noStrike">
              <a:solidFill>
                <a:schemeClr val="dk1"/>
              </a:solidFill>
              <a:latin typeface="Calibri"/>
              <a:ea typeface="Calibri"/>
              <a:cs typeface="Calibri"/>
              <a:sym typeface="Calibri"/>
            </a:endParaRPr>
          </a:p>
        </p:txBody>
      </p:sp>
      <p:sp>
        <p:nvSpPr>
          <p:cNvPr id="150" name="Google Shape;150;p5"/>
          <p:cNvSpPr/>
          <p:nvPr/>
        </p:nvSpPr>
        <p:spPr>
          <a:xfrm>
            <a:off x="762075" y="8318556"/>
            <a:ext cx="36879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4450036" y="8318556"/>
            <a:ext cx="50292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9479236" y="8318556"/>
            <a:ext cx="46938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14173126" y="8318556"/>
            <a:ext cx="33528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952575" y="8542393"/>
            <a:ext cx="1591056"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Autopilot </a:t>
            </a:r>
            <a:endParaRPr b="0" i="0" sz="2100" u="none" cap="none" strike="noStrike">
              <a:solidFill>
                <a:schemeClr val="dk1"/>
              </a:solidFill>
              <a:latin typeface="Calibri"/>
              <a:ea typeface="Calibri"/>
              <a:cs typeface="Calibri"/>
              <a:sym typeface="Calibri"/>
            </a:endParaRPr>
          </a:p>
        </p:txBody>
      </p:sp>
      <p:sp>
        <p:nvSpPr>
          <p:cNvPr id="155" name="Google Shape;155;p5"/>
          <p:cNvSpPr/>
          <p:nvPr/>
        </p:nvSpPr>
        <p:spPr>
          <a:xfrm>
            <a:off x="952575" y="8866243"/>
            <a:ext cx="34062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1350"/>
              <a:buFont typeface="Courier New"/>
              <a:buNone/>
            </a:pPr>
            <a:r>
              <a:rPr lang="en-US" sz="1350">
                <a:solidFill>
                  <a:srgbClr val="FF9900"/>
                </a:solidFill>
                <a:latin typeface="Courier New"/>
                <a:ea typeface="Courier New"/>
                <a:cs typeface="Courier New"/>
                <a:sym typeface="Courier New"/>
              </a:rPr>
              <a:t>autoML </a:t>
            </a:r>
            <a:endParaRPr b="0" i="0" sz="1350" u="none" cap="none" strike="noStrike">
              <a:solidFill>
                <a:schemeClr val="dk1"/>
              </a:solidFill>
              <a:latin typeface="Calibri"/>
              <a:ea typeface="Calibri"/>
              <a:cs typeface="Calibri"/>
              <a:sym typeface="Calibri"/>
            </a:endParaRPr>
          </a:p>
        </p:txBody>
      </p:sp>
      <p:sp>
        <p:nvSpPr>
          <p:cNvPr id="156" name="Google Shape;156;p5"/>
          <p:cNvSpPr/>
          <p:nvPr/>
        </p:nvSpPr>
        <p:spPr>
          <a:xfrm>
            <a:off x="4640536" y="8537631"/>
            <a:ext cx="4799100" cy="5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Auto algorithm selection, training, tuning </a:t>
            </a:r>
            <a:endParaRPr b="0" i="0" sz="1950" u="none" cap="none" strike="noStrike">
              <a:solidFill>
                <a:schemeClr val="dk1"/>
              </a:solidFill>
              <a:latin typeface="Calibri"/>
              <a:ea typeface="Calibri"/>
              <a:cs typeface="Calibri"/>
              <a:sym typeface="Calibri"/>
            </a:endParaRPr>
          </a:p>
        </p:txBody>
      </p:sp>
      <p:sp>
        <p:nvSpPr>
          <p:cNvPr id="157" name="Google Shape;157;p5"/>
          <p:cNvSpPr/>
          <p:nvPr/>
        </p:nvSpPr>
        <p:spPr>
          <a:xfrm>
            <a:off x="9669736" y="8537631"/>
            <a:ext cx="4453800" cy="5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Teams that want best-model search without manual HPO </a:t>
            </a:r>
            <a:endParaRPr b="0" i="0" sz="1950" u="none" cap="none" strike="noStrike">
              <a:solidFill>
                <a:schemeClr val="dk1"/>
              </a:solidFill>
              <a:latin typeface="Calibri"/>
              <a:ea typeface="Calibri"/>
              <a:cs typeface="Calibri"/>
              <a:sym typeface="Calibri"/>
            </a:endParaRPr>
          </a:p>
        </p:txBody>
      </p:sp>
      <p:sp>
        <p:nvSpPr>
          <p:cNvPr id="158" name="Google Shape;158;p5"/>
          <p:cNvSpPr/>
          <p:nvPr/>
        </p:nvSpPr>
        <p:spPr>
          <a:xfrm>
            <a:off x="14363626" y="8537631"/>
            <a:ext cx="3072600" cy="5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Courier New"/>
              <a:buNone/>
            </a:pPr>
            <a:r>
              <a:rPr lang="en-US" sz="1950">
                <a:solidFill>
                  <a:srgbClr val="3A4253"/>
                </a:solidFill>
                <a:latin typeface="Courier New"/>
                <a:ea typeface="Courier New"/>
                <a:cs typeface="Courier New"/>
                <a:sym typeface="Courier New"/>
              </a:rPr>
              <a:t>API + Canvas </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63" name="Shape 163"/>
        <p:cNvGrpSpPr/>
        <p:nvPr/>
      </p:nvGrpSpPr>
      <p:grpSpPr>
        <a:xfrm>
          <a:off x="0" y="0"/>
          <a:ext cx="0" cy="0"/>
          <a:chOff x="0" y="0"/>
          <a:chExt cx="0" cy="0"/>
        </a:xfrm>
      </p:grpSpPr>
      <p:sp>
        <p:nvSpPr>
          <p:cNvPr id="164" name="Google Shape;164;p6"/>
          <p:cNvSpPr/>
          <p:nvPr/>
        </p:nvSpPr>
        <p:spPr>
          <a:xfrm>
            <a:off x="762000" y="457200"/>
            <a:ext cx="2724783"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06 · TUTORIAL · STEP 1</a:t>
            </a:r>
            <a:endParaRPr b="0" i="0" sz="1350" u="none" cap="none" strike="noStrike">
              <a:solidFill>
                <a:schemeClr val="dk1"/>
              </a:solidFill>
              <a:latin typeface="Calibri"/>
              <a:ea typeface="Calibri"/>
              <a:cs typeface="Calibri"/>
              <a:sym typeface="Calibri"/>
            </a:endParaRPr>
          </a:p>
        </p:txBody>
      </p:sp>
      <p:sp>
        <p:nvSpPr>
          <p:cNvPr id="165" name="Google Shape;165;p6"/>
          <p:cNvSpPr/>
          <p:nvPr/>
        </p:nvSpPr>
        <p:spPr>
          <a:xfrm>
            <a:off x="15786199" y="457200"/>
            <a:ext cx="1816001"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RALPH</a:t>
            </a:r>
            <a:endParaRPr b="0" i="0" sz="1350" u="none" cap="none" strike="noStrike">
              <a:solidFill>
                <a:schemeClr val="dk1"/>
              </a:solidFill>
              <a:latin typeface="Calibri"/>
              <a:ea typeface="Calibri"/>
              <a:cs typeface="Calibri"/>
              <a:sym typeface="Calibri"/>
            </a:endParaRPr>
          </a:p>
        </p:txBody>
      </p:sp>
      <p:sp>
        <p:nvSpPr>
          <p:cNvPr id="166" name="Google Shape;166;p6"/>
          <p:cNvSpPr/>
          <p:nvPr/>
        </p:nvSpPr>
        <p:spPr>
          <a:xfrm>
            <a:off x="762000" y="1524000"/>
            <a:ext cx="12494910" cy="147816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5400"/>
              <a:buFont typeface="Helvetica Neue"/>
              <a:buNone/>
            </a:pPr>
            <a:r>
              <a:rPr b="1" i="0" lang="en-US" sz="5400" u="none" cap="none" strike="noStrike">
                <a:solidFill>
                  <a:srgbClr val="232F3E"/>
                </a:solidFill>
                <a:latin typeface="Helvetica Neue"/>
                <a:ea typeface="Helvetica Neue"/>
                <a:cs typeface="Helvetica Neue"/>
                <a:sym typeface="Helvetica Neue"/>
              </a:rPr>
              <a:t>Tutorial — from zero to a trained model.</a:t>
            </a:r>
            <a:endParaRPr b="0" i="0" sz="5400" u="none" cap="none" strike="noStrike">
              <a:solidFill>
                <a:schemeClr val="dk1"/>
              </a:solidFill>
              <a:latin typeface="Calibri"/>
              <a:ea typeface="Calibri"/>
              <a:cs typeface="Calibri"/>
              <a:sym typeface="Calibri"/>
            </a:endParaRPr>
          </a:p>
        </p:txBody>
      </p:sp>
      <p:sp>
        <p:nvSpPr>
          <p:cNvPr id="167" name="Google Shape;167;p6"/>
          <p:cNvSpPr/>
          <p:nvPr/>
        </p:nvSpPr>
        <p:spPr>
          <a:xfrm>
            <a:off x="12892980" y="2430661"/>
            <a:ext cx="4772010" cy="571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800"/>
              <a:buFont typeface="Helvetica Neue"/>
              <a:buNone/>
            </a:pPr>
            <a:r>
              <a:rPr b="1" i="0" lang="en-US" sz="1800" u="none" cap="none" strike="noStrike">
                <a:solidFill>
                  <a:srgbClr val="FF9900"/>
                </a:solidFill>
                <a:latin typeface="Helvetica Neue"/>
                <a:ea typeface="Helvetica Neue"/>
                <a:cs typeface="Helvetica Neue"/>
                <a:sym typeface="Helvetica Neue"/>
              </a:rPr>
              <a:t>STEP 1 </a:t>
            </a:r>
            <a:r>
              <a:rPr b="1" i="0" lang="en-US" sz="1800" u="none" cap="none" strike="noStrike">
                <a:solidFill>
                  <a:srgbClr val="6B7280"/>
                </a:solidFill>
                <a:latin typeface="Helvetica Neue"/>
                <a:ea typeface="Helvetica Neue"/>
                <a:cs typeface="Helvetica Neue"/>
                <a:sym typeface="Helvetica Neue"/>
              </a:rPr>
              <a:t>· STEP 2 · STEP 3 · STEP 4</a:t>
            </a:r>
            <a:endParaRPr b="0" i="0" sz="1800" u="none" cap="none" strike="noStrike">
              <a:solidFill>
                <a:schemeClr val="dk1"/>
              </a:solidFill>
              <a:latin typeface="Calibri"/>
              <a:ea typeface="Calibri"/>
              <a:cs typeface="Calibri"/>
              <a:sym typeface="Calibri"/>
            </a:endParaRPr>
          </a:p>
        </p:txBody>
      </p:sp>
      <p:sp>
        <p:nvSpPr>
          <p:cNvPr id="168" name="Google Shape;168;p6"/>
          <p:cNvSpPr/>
          <p:nvPr/>
        </p:nvSpPr>
        <p:spPr>
          <a:xfrm>
            <a:off x="762000" y="3440311"/>
            <a:ext cx="8143875" cy="5143500"/>
          </a:xfrm>
          <a:prstGeom prst="roundRect">
            <a:avLst>
              <a:gd fmla="val 1852" name="adj"/>
            </a:avLst>
          </a:prstGeom>
          <a:solidFill>
            <a:srgbClr val="FFFFFF"/>
          </a:solidFill>
          <a:ln cap="flat" cmpd="sng" w="9525">
            <a:solidFill>
              <a:srgbClr val="E5E7EB"/>
            </a:solidFill>
            <a:prstDash val="solid"/>
            <a:round/>
            <a:headEnd len="sm" w="sm" type="none"/>
            <a:tailEnd len="sm" w="sm" type="none"/>
          </a:ln>
          <a:effectLst>
            <a:outerShdw blurRad="571500" rotWithShape="0" algn="bl" dir="5400000" dist="285750">
              <a:srgbClr val="0F172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6"/>
          <p:cNvPicPr preferRelativeResize="0"/>
          <p:nvPr/>
        </p:nvPicPr>
        <p:blipFill rotWithShape="1">
          <a:blip r:embed="rId3">
            <a:alphaModFix/>
          </a:blip>
          <a:srcRect b="0" l="0" r="0" t="0"/>
          <a:stretch/>
        </p:blipFill>
        <p:spPr>
          <a:xfrm>
            <a:off x="771525" y="3449836"/>
            <a:ext cx="8124825" cy="5124450"/>
          </a:xfrm>
          <a:prstGeom prst="rect">
            <a:avLst/>
          </a:prstGeom>
          <a:noFill/>
          <a:ln>
            <a:noFill/>
          </a:ln>
        </p:spPr>
      </p:pic>
      <p:sp>
        <p:nvSpPr>
          <p:cNvPr id="170" name="Google Shape;170;p6"/>
          <p:cNvSpPr/>
          <p:nvPr/>
        </p:nvSpPr>
        <p:spPr>
          <a:xfrm>
            <a:off x="762000" y="8717161"/>
            <a:ext cx="8388191"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Studio domain </a:t>
            </a:r>
            <a:r>
              <a:rPr b="0" i="0" lang="en-US" sz="1650" u="none" cap="none" strike="noStrike">
                <a:solidFill>
                  <a:srgbClr val="6B7280"/>
                </a:solidFill>
                <a:latin typeface="Helvetica Neue"/>
                <a:ea typeface="Helvetica Neue"/>
                <a:cs typeface="Helvetica Neue"/>
                <a:sym typeface="Helvetica Neue"/>
              </a:rPr>
              <a:t>— your shared ML workspace, ready in ~5 minutes.</a:t>
            </a:r>
            <a:endParaRPr b="0" i="0" sz="1650" u="none" cap="none" strike="noStrike">
              <a:solidFill>
                <a:schemeClr val="dk1"/>
              </a:solidFill>
              <a:latin typeface="Calibri"/>
              <a:ea typeface="Calibri"/>
              <a:cs typeface="Calibri"/>
              <a:sym typeface="Calibri"/>
            </a:endParaRPr>
          </a:p>
        </p:txBody>
      </p:sp>
      <p:sp>
        <p:nvSpPr>
          <p:cNvPr id="171" name="Google Shape;171;p6"/>
          <p:cNvSpPr/>
          <p:nvPr/>
        </p:nvSpPr>
        <p:spPr>
          <a:xfrm>
            <a:off x="9382125" y="3440311"/>
            <a:ext cx="8143875" cy="5143500"/>
          </a:xfrm>
          <a:prstGeom prst="roundRect">
            <a:avLst>
              <a:gd fmla="val 1852" name="adj"/>
            </a:avLst>
          </a:prstGeom>
          <a:solidFill>
            <a:srgbClr val="FFFFFF"/>
          </a:solidFill>
          <a:ln cap="flat" cmpd="sng" w="9525">
            <a:solidFill>
              <a:srgbClr val="E5E7EB"/>
            </a:solidFill>
            <a:prstDash val="solid"/>
            <a:round/>
            <a:headEnd len="sm" w="sm" type="none"/>
            <a:tailEnd len="sm" w="sm" type="none"/>
          </a:ln>
          <a:effectLst>
            <a:outerShdw blurRad="571500" rotWithShape="0" algn="bl" dir="5400000" dist="285750">
              <a:srgbClr val="0F172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 name="Google Shape;172;p6"/>
          <p:cNvPicPr preferRelativeResize="0"/>
          <p:nvPr/>
        </p:nvPicPr>
        <p:blipFill rotWithShape="1">
          <a:blip r:embed="rId4">
            <a:alphaModFix/>
          </a:blip>
          <a:srcRect b="0" l="0" r="0" t="0"/>
          <a:stretch/>
        </p:blipFill>
        <p:spPr>
          <a:xfrm>
            <a:off x="9391650" y="3449836"/>
            <a:ext cx="8124825" cy="5124450"/>
          </a:xfrm>
          <a:prstGeom prst="rect">
            <a:avLst/>
          </a:prstGeom>
          <a:noFill/>
          <a:ln>
            <a:noFill/>
          </a:ln>
        </p:spPr>
      </p:pic>
      <p:sp>
        <p:nvSpPr>
          <p:cNvPr id="173" name="Google Shape;173;p6"/>
          <p:cNvSpPr/>
          <p:nvPr/>
        </p:nvSpPr>
        <p:spPr>
          <a:xfrm>
            <a:off x="9382125" y="8717161"/>
            <a:ext cx="8388191"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Canvas </a:t>
            </a:r>
            <a:r>
              <a:rPr b="0" i="0" lang="en-US" sz="1650" u="none" cap="none" strike="noStrike">
                <a:solidFill>
                  <a:srgbClr val="6B7280"/>
                </a:solidFill>
                <a:latin typeface="Helvetica Neue"/>
                <a:ea typeface="Helvetica Neue"/>
                <a:cs typeface="Helvetica Neue"/>
                <a:sym typeface="Helvetica Neue"/>
              </a:rPr>
              <a:t>— the no-code entry point, one click away.</a:t>
            </a:r>
            <a:endParaRPr b="0" i="0" sz="1650" u="none" cap="none" strike="noStrike">
              <a:solidFill>
                <a:schemeClr val="dk1"/>
              </a:solidFill>
              <a:latin typeface="Calibri"/>
              <a:ea typeface="Calibri"/>
              <a:cs typeface="Calibri"/>
              <a:sym typeface="Calibri"/>
            </a:endParaRPr>
          </a:p>
        </p:txBody>
      </p:sp>
      <p:sp>
        <p:nvSpPr>
          <p:cNvPr id="174" name="Google Shape;174;p6"/>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175" name="Google Shape;175;p6"/>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06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80" name="Shape 180"/>
        <p:cNvGrpSpPr/>
        <p:nvPr/>
      </p:nvGrpSpPr>
      <p:grpSpPr>
        <a:xfrm>
          <a:off x="0" y="0"/>
          <a:ext cx="0" cy="0"/>
          <a:chOff x="0" y="0"/>
          <a:chExt cx="0" cy="0"/>
        </a:xfrm>
      </p:grpSpPr>
      <p:sp>
        <p:nvSpPr>
          <p:cNvPr id="181" name="Google Shape;181;p7"/>
          <p:cNvSpPr/>
          <p:nvPr/>
        </p:nvSpPr>
        <p:spPr>
          <a:xfrm>
            <a:off x="762000" y="457200"/>
            <a:ext cx="2724783"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07 · TUTORIAL · STEP 2</a:t>
            </a:r>
            <a:endParaRPr b="0" i="0" sz="1350" u="none" cap="none" strike="noStrike">
              <a:solidFill>
                <a:schemeClr val="dk1"/>
              </a:solidFill>
              <a:latin typeface="Calibri"/>
              <a:ea typeface="Calibri"/>
              <a:cs typeface="Calibri"/>
              <a:sym typeface="Calibri"/>
            </a:endParaRPr>
          </a:p>
        </p:txBody>
      </p:sp>
      <p:sp>
        <p:nvSpPr>
          <p:cNvPr id="182" name="Google Shape;182;p7"/>
          <p:cNvSpPr/>
          <p:nvPr/>
        </p:nvSpPr>
        <p:spPr>
          <a:xfrm>
            <a:off x="15786199" y="457200"/>
            <a:ext cx="1816001"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RALPH</a:t>
            </a:r>
            <a:endParaRPr b="0" i="0" sz="1350" u="none" cap="none" strike="noStrike">
              <a:solidFill>
                <a:schemeClr val="dk1"/>
              </a:solidFill>
              <a:latin typeface="Calibri"/>
              <a:ea typeface="Calibri"/>
              <a:cs typeface="Calibri"/>
              <a:sym typeface="Calibri"/>
            </a:endParaRPr>
          </a:p>
        </p:txBody>
      </p:sp>
      <p:sp>
        <p:nvSpPr>
          <p:cNvPr id="183" name="Google Shape;183;p7"/>
          <p:cNvSpPr/>
          <p:nvPr/>
        </p:nvSpPr>
        <p:spPr>
          <a:xfrm>
            <a:off x="762000" y="728818"/>
            <a:ext cx="10949700" cy="104280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Upload data. Canvas does the rest.</a:t>
            </a:r>
            <a:endParaRPr b="0" i="0" sz="4800" u="none" cap="none" strike="noStrike">
              <a:solidFill>
                <a:schemeClr val="dk1"/>
              </a:solidFill>
              <a:latin typeface="Calibri"/>
              <a:ea typeface="Calibri"/>
              <a:cs typeface="Calibri"/>
              <a:sym typeface="Calibri"/>
            </a:endParaRPr>
          </a:p>
        </p:txBody>
      </p:sp>
      <p:sp>
        <p:nvSpPr>
          <p:cNvPr id="184" name="Google Shape;184;p7"/>
          <p:cNvSpPr/>
          <p:nvPr/>
        </p:nvSpPr>
        <p:spPr>
          <a:xfrm>
            <a:off x="12687598" y="1897261"/>
            <a:ext cx="4983554"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800"/>
              <a:buFont typeface="Helvetica Neue"/>
              <a:buNone/>
            </a:pPr>
            <a:r>
              <a:rPr b="1" i="0" lang="en-US" sz="1800" u="none" cap="none" strike="noStrike">
                <a:solidFill>
                  <a:srgbClr val="6B7280"/>
                </a:solidFill>
                <a:latin typeface="Helvetica Neue"/>
                <a:ea typeface="Helvetica Neue"/>
                <a:cs typeface="Helvetica Neue"/>
                <a:sym typeface="Helvetica Neue"/>
              </a:rPr>
              <a:t>STEP 1 · </a:t>
            </a:r>
            <a:r>
              <a:rPr b="1" i="0" lang="en-US" sz="1800" u="none" cap="none" strike="noStrike">
                <a:solidFill>
                  <a:srgbClr val="FF9900"/>
                </a:solidFill>
                <a:latin typeface="Helvetica Neue"/>
                <a:ea typeface="Helvetica Neue"/>
                <a:cs typeface="Helvetica Neue"/>
                <a:sym typeface="Helvetica Neue"/>
              </a:rPr>
              <a:t>STEP 2 </a:t>
            </a:r>
            <a:r>
              <a:rPr b="1" i="0" lang="en-US" sz="1800" u="none" cap="none" strike="noStrike">
                <a:solidFill>
                  <a:srgbClr val="6B7280"/>
                </a:solidFill>
                <a:latin typeface="Helvetica Neue"/>
                <a:ea typeface="Helvetica Neue"/>
                <a:cs typeface="Helvetica Neue"/>
                <a:sym typeface="Helvetica Neue"/>
              </a:rPr>
              <a:t>· STEP 3 · STEP 4</a:t>
            </a:r>
            <a:endParaRPr b="0" i="0" sz="1800" u="none" cap="none" strike="noStrike">
              <a:solidFill>
                <a:schemeClr val="dk1"/>
              </a:solidFill>
              <a:latin typeface="Calibri"/>
              <a:ea typeface="Calibri"/>
              <a:cs typeface="Calibri"/>
              <a:sym typeface="Calibri"/>
            </a:endParaRPr>
          </a:p>
        </p:txBody>
      </p:sp>
      <p:sp>
        <p:nvSpPr>
          <p:cNvPr id="185" name="Google Shape;185;p7"/>
          <p:cNvSpPr/>
          <p:nvPr/>
        </p:nvSpPr>
        <p:spPr>
          <a:xfrm>
            <a:off x="762000" y="2544950"/>
            <a:ext cx="9101700" cy="3921000"/>
          </a:xfrm>
          <a:prstGeom prst="roundRect">
            <a:avLst>
              <a:gd fmla="val 2083" name="adj"/>
            </a:avLst>
          </a:prstGeom>
          <a:solidFill>
            <a:srgbClr val="FFFFFF"/>
          </a:solidFill>
          <a:ln cap="flat" cmpd="sng" w="9525">
            <a:solidFill>
              <a:srgbClr val="E5E7EB"/>
            </a:solidFill>
            <a:prstDash val="solid"/>
            <a:round/>
            <a:headEnd len="sm" w="sm" type="none"/>
            <a:tailEnd len="sm" w="sm" type="none"/>
          </a:ln>
          <a:effectLst>
            <a:outerShdw blurRad="571500" rotWithShape="0" algn="bl" dir="5400000" dist="285750">
              <a:srgbClr val="0F172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6" name="Google Shape;186;p7"/>
          <p:cNvPicPr preferRelativeResize="0"/>
          <p:nvPr/>
        </p:nvPicPr>
        <p:blipFill rotWithShape="1">
          <a:blip r:embed="rId3">
            <a:alphaModFix/>
          </a:blip>
          <a:srcRect b="0" l="0" r="0" t="0"/>
          <a:stretch/>
        </p:blipFill>
        <p:spPr>
          <a:xfrm>
            <a:off x="771588" y="1463863"/>
            <a:ext cx="9082534" cy="4552950"/>
          </a:xfrm>
          <a:prstGeom prst="rect">
            <a:avLst/>
          </a:prstGeom>
          <a:noFill/>
          <a:ln>
            <a:noFill/>
          </a:ln>
        </p:spPr>
      </p:pic>
      <p:sp>
        <p:nvSpPr>
          <p:cNvPr id="187" name="Google Shape;187;p7"/>
          <p:cNvSpPr/>
          <p:nvPr/>
        </p:nvSpPr>
        <p:spPr>
          <a:xfrm>
            <a:off x="762050" y="6050139"/>
            <a:ext cx="9374700" cy="285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Dataset preview </a:t>
            </a:r>
            <a:r>
              <a:rPr b="0" i="0" lang="en-US" sz="1650" u="none" cap="none" strike="noStrike">
                <a:solidFill>
                  <a:srgbClr val="6B7280"/>
                </a:solidFill>
                <a:latin typeface="Helvetica Neue"/>
                <a:ea typeface="Helvetica Neue"/>
                <a:cs typeface="Helvetica Neue"/>
                <a:sym typeface="Helvetica Neue"/>
              </a:rPr>
              <a:t>— Canvas auto-detects column names &amp; types.</a:t>
            </a:r>
            <a:endParaRPr b="0" i="0" sz="1650" u="none" cap="none" strike="noStrike">
              <a:solidFill>
                <a:schemeClr val="dk1"/>
              </a:solidFill>
              <a:latin typeface="Calibri"/>
              <a:ea typeface="Calibri"/>
              <a:cs typeface="Calibri"/>
              <a:sym typeface="Calibri"/>
            </a:endParaRPr>
          </a:p>
        </p:txBody>
      </p:sp>
      <p:sp>
        <p:nvSpPr>
          <p:cNvPr id="188" name="Google Shape;188;p7"/>
          <p:cNvSpPr/>
          <p:nvPr/>
        </p:nvSpPr>
        <p:spPr>
          <a:xfrm>
            <a:off x="762000" y="7559748"/>
            <a:ext cx="9101700" cy="2167800"/>
          </a:xfrm>
          <a:prstGeom prst="roundRect">
            <a:avLst>
              <a:gd fmla="val 3704" name="adj"/>
            </a:avLst>
          </a:prstGeom>
          <a:solidFill>
            <a:srgbClr val="FFFFFF"/>
          </a:solidFill>
          <a:ln cap="flat" cmpd="sng" w="9525">
            <a:solidFill>
              <a:srgbClr val="E5E7EB"/>
            </a:solidFill>
            <a:prstDash val="solid"/>
            <a:round/>
            <a:headEnd len="sm" w="sm" type="none"/>
            <a:tailEnd len="sm" w="sm" type="none"/>
          </a:ln>
          <a:effectLst>
            <a:outerShdw blurRad="571500" rotWithShape="0" algn="bl" dir="5400000" dist="285750">
              <a:srgbClr val="0F172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9" name="Google Shape;189;p7"/>
          <p:cNvPicPr preferRelativeResize="0"/>
          <p:nvPr/>
        </p:nvPicPr>
        <p:blipFill rotWithShape="1">
          <a:blip r:embed="rId4">
            <a:alphaModFix/>
          </a:blip>
          <a:srcRect b="0" l="0" r="0" t="0"/>
          <a:stretch/>
        </p:blipFill>
        <p:spPr>
          <a:xfrm>
            <a:off x="771575" y="6612574"/>
            <a:ext cx="9082534" cy="2552700"/>
          </a:xfrm>
          <a:prstGeom prst="rect">
            <a:avLst/>
          </a:prstGeom>
          <a:noFill/>
          <a:ln>
            <a:noFill/>
          </a:ln>
        </p:spPr>
      </p:pic>
      <p:sp>
        <p:nvSpPr>
          <p:cNvPr id="190" name="Google Shape;190;p7"/>
          <p:cNvSpPr/>
          <p:nvPr/>
        </p:nvSpPr>
        <p:spPr>
          <a:xfrm>
            <a:off x="762038" y="9311736"/>
            <a:ext cx="9374700" cy="285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Build tab </a:t>
            </a:r>
            <a:r>
              <a:rPr b="0" i="0" lang="en-US" sz="1650" u="none" cap="none" strike="noStrike">
                <a:solidFill>
                  <a:srgbClr val="6B7280"/>
                </a:solidFill>
                <a:latin typeface="Helvetica Neue"/>
                <a:ea typeface="Helvetica Neue"/>
                <a:cs typeface="Helvetica Neue"/>
                <a:sym typeface="Helvetica Neue"/>
              </a:rPr>
              <a:t>— pick your target column. Done.</a:t>
            </a:r>
            <a:endParaRPr b="0" i="0" sz="1650" u="none" cap="none" strike="noStrike">
              <a:solidFill>
                <a:schemeClr val="dk1"/>
              </a:solidFill>
              <a:latin typeface="Calibri"/>
              <a:ea typeface="Calibri"/>
              <a:cs typeface="Calibri"/>
              <a:sym typeface="Calibri"/>
            </a:endParaRPr>
          </a:p>
        </p:txBody>
      </p:sp>
      <p:sp>
        <p:nvSpPr>
          <p:cNvPr id="191" name="Google Shape;191;p7"/>
          <p:cNvSpPr/>
          <p:nvPr/>
        </p:nvSpPr>
        <p:spPr>
          <a:xfrm>
            <a:off x="10244584" y="2640211"/>
            <a:ext cx="7281300" cy="4349100"/>
          </a:xfrm>
          <a:prstGeom prst="roundRect">
            <a:avLst>
              <a:gd fmla="val 2190"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10597009" y="2992636"/>
            <a:ext cx="6773863"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AUTO-DETECTED</a:t>
            </a:r>
            <a:endParaRPr b="0" i="0" sz="1650" u="none" cap="none" strike="noStrike">
              <a:solidFill>
                <a:schemeClr val="dk1"/>
              </a:solidFill>
              <a:latin typeface="Calibri"/>
              <a:ea typeface="Calibri"/>
              <a:cs typeface="Calibri"/>
              <a:sym typeface="Calibri"/>
            </a:endParaRPr>
          </a:p>
        </p:txBody>
      </p:sp>
      <p:sp>
        <p:nvSpPr>
          <p:cNvPr id="193" name="Google Shape;193;p7"/>
          <p:cNvSpPr/>
          <p:nvPr/>
        </p:nvSpPr>
        <p:spPr>
          <a:xfrm>
            <a:off x="10597009" y="3440311"/>
            <a:ext cx="6576566" cy="600075"/>
          </a:xfrm>
          <a:prstGeom prst="roundRect">
            <a:avLst>
              <a:gd fmla="val 9524" name="adj"/>
            </a:avLst>
          </a:prstGeom>
          <a:solidFill>
            <a:srgbClr val="FAFA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10768459" y="3592711"/>
            <a:ext cx="943273"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950"/>
              <a:buFont typeface="Helvetica Neue"/>
              <a:buNone/>
            </a:pPr>
            <a:r>
              <a:rPr b="1" i="0" lang="en-US" sz="1950" u="none" cap="none" strike="noStrike">
                <a:solidFill>
                  <a:srgbClr val="232F3E"/>
                </a:solidFill>
                <a:latin typeface="Helvetica Neue"/>
                <a:ea typeface="Helvetica Neue"/>
                <a:cs typeface="Helvetica Neue"/>
                <a:sym typeface="Helvetica Neue"/>
              </a:rPr>
              <a:t>item_id</a:t>
            </a:r>
            <a:endParaRPr b="0" i="0" sz="1950" u="none" cap="none" strike="noStrike">
              <a:solidFill>
                <a:schemeClr val="dk1"/>
              </a:solidFill>
              <a:latin typeface="Calibri"/>
              <a:ea typeface="Calibri"/>
              <a:cs typeface="Calibri"/>
              <a:sym typeface="Calibri"/>
            </a:endParaRPr>
          </a:p>
        </p:txBody>
      </p:sp>
      <p:sp>
        <p:nvSpPr>
          <p:cNvPr id="195" name="Google Shape;195;p7"/>
          <p:cNvSpPr/>
          <p:nvPr/>
        </p:nvSpPr>
        <p:spPr>
          <a:xfrm>
            <a:off x="15740509" y="3626048"/>
            <a:ext cx="1337816" cy="266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500"/>
              <a:buFont typeface="Courier New"/>
              <a:buNone/>
            </a:pPr>
            <a:r>
              <a:rPr b="0" i="0" lang="en-US" sz="1500" u="none" cap="none" strike="noStrike">
                <a:solidFill>
                  <a:srgbClr val="6B7280"/>
                </a:solidFill>
                <a:latin typeface="Courier New"/>
                <a:ea typeface="Courier New"/>
                <a:cs typeface="Courier New"/>
                <a:sym typeface="Courier New"/>
              </a:rPr>
              <a:t>categorical</a:t>
            </a:r>
            <a:endParaRPr b="0" i="0" sz="1500" u="none" cap="none" strike="noStrike">
              <a:solidFill>
                <a:schemeClr val="dk1"/>
              </a:solidFill>
              <a:latin typeface="Calibri"/>
              <a:ea typeface="Calibri"/>
              <a:cs typeface="Calibri"/>
              <a:sym typeface="Calibri"/>
            </a:endParaRPr>
          </a:p>
        </p:txBody>
      </p:sp>
      <p:sp>
        <p:nvSpPr>
          <p:cNvPr id="196" name="Google Shape;196;p7"/>
          <p:cNvSpPr/>
          <p:nvPr/>
        </p:nvSpPr>
        <p:spPr>
          <a:xfrm>
            <a:off x="10597009" y="4192786"/>
            <a:ext cx="6576566" cy="600075"/>
          </a:xfrm>
          <a:prstGeom prst="roundRect">
            <a:avLst>
              <a:gd fmla="val 9524" name="adj"/>
            </a:avLst>
          </a:prstGeom>
          <a:solidFill>
            <a:srgbClr val="FAFA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10768459" y="4345186"/>
            <a:ext cx="1314896"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950"/>
              <a:buFont typeface="Helvetica Neue"/>
              <a:buNone/>
            </a:pPr>
            <a:r>
              <a:rPr b="1" i="0" lang="en-US" sz="1950" u="none" cap="none" strike="noStrike">
                <a:solidFill>
                  <a:srgbClr val="232F3E"/>
                </a:solidFill>
                <a:latin typeface="Helvetica Neue"/>
                <a:ea typeface="Helvetica Neue"/>
                <a:cs typeface="Helvetica Neue"/>
                <a:sym typeface="Helvetica Neue"/>
              </a:rPr>
              <a:t>timestamp</a:t>
            </a:r>
            <a:endParaRPr b="0" i="0" sz="1950" u="none" cap="none" strike="noStrike">
              <a:solidFill>
                <a:schemeClr val="dk1"/>
              </a:solidFill>
              <a:latin typeface="Calibri"/>
              <a:ea typeface="Calibri"/>
              <a:cs typeface="Calibri"/>
              <a:sym typeface="Calibri"/>
            </a:endParaRPr>
          </a:p>
        </p:txBody>
      </p:sp>
      <p:sp>
        <p:nvSpPr>
          <p:cNvPr id="198" name="Google Shape;198;p7"/>
          <p:cNvSpPr/>
          <p:nvPr/>
        </p:nvSpPr>
        <p:spPr>
          <a:xfrm>
            <a:off x="16084600" y="4378523"/>
            <a:ext cx="993725" cy="266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500"/>
              <a:buFont typeface="Courier New"/>
              <a:buNone/>
            </a:pPr>
            <a:r>
              <a:rPr b="0" i="0" lang="en-US" sz="1500" u="none" cap="none" strike="noStrike">
                <a:solidFill>
                  <a:srgbClr val="6B7280"/>
                </a:solidFill>
                <a:latin typeface="Courier New"/>
                <a:ea typeface="Courier New"/>
                <a:cs typeface="Courier New"/>
                <a:sym typeface="Courier New"/>
              </a:rPr>
              <a:t>datetime</a:t>
            </a:r>
            <a:endParaRPr b="0" i="0" sz="1500" u="none" cap="none" strike="noStrike">
              <a:solidFill>
                <a:schemeClr val="dk1"/>
              </a:solidFill>
              <a:latin typeface="Calibri"/>
              <a:ea typeface="Calibri"/>
              <a:cs typeface="Calibri"/>
              <a:sym typeface="Calibri"/>
            </a:endParaRPr>
          </a:p>
        </p:txBody>
      </p:sp>
      <p:sp>
        <p:nvSpPr>
          <p:cNvPr id="199" name="Google Shape;199;p7"/>
          <p:cNvSpPr/>
          <p:nvPr/>
        </p:nvSpPr>
        <p:spPr>
          <a:xfrm>
            <a:off x="10597009" y="4945261"/>
            <a:ext cx="6576566" cy="600075"/>
          </a:xfrm>
          <a:prstGeom prst="roundRect">
            <a:avLst>
              <a:gd fmla="val 9524" name="adj"/>
            </a:avLst>
          </a:prstGeom>
          <a:solidFill>
            <a:srgbClr val="FAFA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10768459" y="5097661"/>
            <a:ext cx="1535311"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950"/>
              <a:buFont typeface="Helvetica Neue"/>
              <a:buNone/>
            </a:pPr>
            <a:r>
              <a:rPr b="1" i="0" lang="en-US" sz="1950" u="none" cap="none" strike="noStrike">
                <a:solidFill>
                  <a:srgbClr val="232F3E"/>
                </a:solidFill>
                <a:latin typeface="Helvetica Neue"/>
                <a:ea typeface="Helvetica Neue"/>
                <a:cs typeface="Helvetica Neue"/>
                <a:sym typeface="Helvetica Neue"/>
              </a:rPr>
              <a:t>target_value</a:t>
            </a:r>
            <a:endParaRPr b="0" i="0" sz="1950" u="none" cap="none" strike="noStrike">
              <a:solidFill>
                <a:schemeClr val="dk1"/>
              </a:solidFill>
              <a:latin typeface="Calibri"/>
              <a:ea typeface="Calibri"/>
              <a:cs typeface="Calibri"/>
              <a:sym typeface="Calibri"/>
            </a:endParaRPr>
          </a:p>
        </p:txBody>
      </p:sp>
      <p:sp>
        <p:nvSpPr>
          <p:cNvPr id="201" name="Google Shape;201;p7"/>
          <p:cNvSpPr/>
          <p:nvPr/>
        </p:nvSpPr>
        <p:spPr>
          <a:xfrm>
            <a:off x="15167074" y="5130998"/>
            <a:ext cx="1911251" cy="266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500"/>
              <a:buFont typeface="Courier New"/>
              <a:buNone/>
            </a:pPr>
            <a:r>
              <a:rPr b="0" i="0" lang="en-US" sz="1500" u="none" cap="none" strike="noStrike">
                <a:solidFill>
                  <a:srgbClr val="FF9900"/>
                </a:solidFill>
                <a:latin typeface="Courier New"/>
                <a:ea typeface="Courier New"/>
                <a:cs typeface="Courier New"/>
                <a:sym typeface="Courier New"/>
              </a:rPr>
              <a:t>numeric · target</a:t>
            </a:r>
            <a:endParaRPr b="0" i="0" sz="1500" u="none" cap="none" strike="noStrike">
              <a:solidFill>
                <a:schemeClr val="dk1"/>
              </a:solidFill>
              <a:latin typeface="Calibri"/>
              <a:ea typeface="Calibri"/>
              <a:cs typeface="Calibri"/>
              <a:sym typeface="Calibri"/>
            </a:endParaRPr>
          </a:p>
        </p:txBody>
      </p:sp>
      <p:sp>
        <p:nvSpPr>
          <p:cNvPr id="202" name="Google Shape;202;p7"/>
          <p:cNvSpPr/>
          <p:nvPr/>
        </p:nvSpPr>
        <p:spPr>
          <a:xfrm>
            <a:off x="10597009" y="5812036"/>
            <a:ext cx="6576566" cy="9525"/>
          </a:xfrm>
          <a:prstGeom prst="rect">
            <a:avLst/>
          </a:prstGeom>
          <a:solidFill>
            <a:srgbClr val="D1D5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10597009" y="6050161"/>
            <a:ext cx="6773863" cy="6247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253"/>
              </a:buClr>
              <a:buSzPts val="1650"/>
              <a:buFont typeface="Helvetica Neue"/>
              <a:buNone/>
            </a:pPr>
            <a:r>
              <a:rPr b="0" i="0" lang="en-US" sz="1650" u="none" cap="none" strike="noStrike">
                <a:solidFill>
                  <a:srgbClr val="3A4253"/>
                </a:solidFill>
                <a:latin typeface="Helvetica Neue"/>
                <a:ea typeface="Helvetica Neue"/>
                <a:cs typeface="Helvetica Neue"/>
                <a:sym typeface="Helvetica Neue"/>
              </a:rPr>
              <a:t>Canvas inferred </a:t>
            </a:r>
            <a:r>
              <a:rPr b="1" i="0" lang="en-US" sz="1650" u="none" cap="none" strike="noStrike">
                <a:solidFill>
                  <a:srgbClr val="232F3E"/>
                </a:solidFill>
                <a:latin typeface="Helvetica Neue"/>
                <a:ea typeface="Helvetica Neue"/>
                <a:cs typeface="Helvetica Neue"/>
                <a:sym typeface="Helvetica Neue"/>
              </a:rPr>
              <a:t>time-series forecasting </a:t>
            </a:r>
            <a:r>
              <a:rPr b="0" i="0" lang="en-US" sz="1650" u="none" cap="none" strike="noStrike">
                <a:solidFill>
                  <a:srgbClr val="3A4253"/>
                </a:solidFill>
                <a:latin typeface="Helvetica Neue"/>
                <a:ea typeface="Helvetica Neue"/>
                <a:cs typeface="Helvetica Neue"/>
                <a:sym typeface="Helvetica Neue"/>
              </a:rPr>
              <a:t>from a CSV alone — no schema, no code.</a:t>
            </a:r>
            <a:endParaRPr b="0" i="0" sz="1650" u="none" cap="none" strike="noStrike">
              <a:solidFill>
                <a:schemeClr val="dk1"/>
              </a:solidFill>
              <a:latin typeface="Calibri"/>
              <a:ea typeface="Calibri"/>
              <a:cs typeface="Calibri"/>
              <a:sym typeface="Calibri"/>
            </a:endParaRPr>
          </a:p>
        </p:txBody>
      </p:sp>
      <p:sp>
        <p:nvSpPr>
          <p:cNvPr id="204" name="Google Shape;204;p7"/>
          <p:cNvSpPr/>
          <p:nvPr/>
        </p:nvSpPr>
        <p:spPr>
          <a:xfrm>
            <a:off x="10244584" y="7332166"/>
            <a:ext cx="7499858"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6B7280"/>
              </a:buClr>
              <a:buSzPts val="1800"/>
              <a:buFont typeface="Helvetica Neue"/>
              <a:buNone/>
            </a:pPr>
            <a:r>
              <a:rPr b="0" i="1" lang="en-US" sz="1800" u="none" cap="none" strike="noStrike">
                <a:solidFill>
                  <a:srgbClr val="6B7280"/>
                </a:solidFill>
                <a:latin typeface="Helvetica Neue"/>
                <a:ea typeface="Helvetica Neue"/>
                <a:cs typeface="Helvetica Neue"/>
                <a:sym typeface="Helvetica Neue"/>
              </a:rPr>
              <a:t>No schema definitions. No type hints. Just a CSV.</a:t>
            </a:r>
            <a:endParaRPr b="0" i="0" sz="1800" u="none" cap="none" strike="noStrike">
              <a:solidFill>
                <a:schemeClr val="dk1"/>
              </a:solidFill>
              <a:latin typeface="Calibri"/>
              <a:ea typeface="Calibri"/>
              <a:cs typeface="Calibri"/>
              <a:sym typeface="Calibri"/>
            </a:endParaRPr>
          </a:p>
        </p:txBody>
      </p:sp>
      <p:sp>
        <p:nvSpPr>
          <p:cNvPr id="205" name="Google Shape;205;p7"/>
          <p:cNvSpPr/>
          <p:nvPr/>
        </p:nvSpPr>
        <p:spPr>
          <a:xfrm>
            <a:off x="762000" y="9761025"/>
            <a:ext cx="52968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206" name="Google Shape;206;p7"/>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07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11" name="Shape 211"/>
        <p:cNvGrpSpPr/>
        <p:nvPr/>
      </p:nvGrpSpPr>
      <p:grpSpPr>
        <a:xfrm>
          <a:off x="0" y="0"/>
          <a:ext cx="0" cy="0"/>
          <a:chOff x="0" y="0"/>
          <a:chExt cx="0" cy="0"/>
        </a:xfrm>
      </p:grpSpPr>
      <p:sp>
        <p:nvSpPr>
          <p:cNvPr id="212" name="Google Shape;212;p8"/>
          <p:cNvSpPr/>
          <p:nvPr/>
        </p:nvSpPr>
        <p:spPr>
          <a:xfrm>
            <a:off x="762000" y="457200"/>
            <a:ext cx="2724783"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08 · TUTORIAL · STEP 3</a:t>
            </a:r>
            <a:endParaRPr b="0" i="0" sz="1350" u="none" cap="none" strike="noStrike">
              <a:solidFill>
                <a:schemeClr val="dk1"/>
              </a:solidFill>
              <a:latin typeface="Calibri"/>
              <a:ea typeface="Calibri"/>
              <a:cs typeface="Calibri"/>
              <a:sym typeface="Calibri"/>
            </a:endParaRPr>
          </a:p>
        </p:txBody>
      </p:sp>
      <p:sp>
        <p:nvSpPr>
          <p:cNvPr id="213" name="Google Shape;213;p8"/>
          <p:cNvSpPr/>
          <p:nvPr/>
        </p:nvSpPr>
        <p:spPr>
          <a:xfrm>
            <a:off x="15786199" y="457200"/>
            <a:ext cx="1816001"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RALPH</a:t>
            </a:r>
            <a:endParaRPr b="0" i="0" sz="1350" u="none" cap="none" strike="noStrike">
              <a:solidFill>
                <a:schemeClr val="dk1"/>
              </a:solidFill>
              <a:latin typeface="Calibri"/>
              <a:ea typeface="Calibri"/>
              <a:cs typeface="Calibri"/>
              <a:sym typeface="Calibri"/>
            </a:endParaRPr>
          </a:p>
        </p:txBody>
      </p:sp>
      <p:sp>
        <p:nvSpPr>
          <p:cNvPr id="214" name="Google Shape;214;p8"/>
          <p:cNvSpPr/>
          <p:nvPr/>
        </p:nvSpPr>
        <p:spPr>
          <a:xfrm>
            <a:off x="762000" y="1428750"/>
            <a:ext cx="17266920" cy="3118396"/>
          </a:xfrm>
          <a:prstGeom prst="rect">
            <a:avLst/>
          </a:prstGeom>
          <a:noFill/>
          <a:ln>
            <a:noFill/>
          </a:ln>
        </p:spPr>
        <p:txBody>
          <a:bodyPr anchorCtr="0" anchor="t" bIns="25400" lIns="25400" spcFirstLastPara="1" rIns="25400" wrap="square" tIns="25400">
            <a:normAutofit/>
          </a:bodyPr>
          <a:lstStyle/>
          <a:p>
            <a:pPr indent="0" lvl="0" marL="0" marR="0" rtl="0" algn="l">
              <a:lnSpc>
                <a:spcPct val="98000"/>
              </a:lnSpc>
              <a:spcBef>
                <a:spcPts val="0"/>
              </a:spcBef>
              <a:spcAft>
                <a:spcPts val="0"/>
              </a:spcAft>
              <a:buClr>
                <a:srgbClr val="232F3E"/>
              </a:buClr>
              <a:buSzPts val="8250"/>
              <a:buFont typeface="Helvetica Neue"/>
              <a:buNone/>
            </a:pPr>
            <a:r>
              <a:rPr b="1" i="0" lang="en-US" sz="8250" u="none" cap="none" strike="noStrike">
                <a:solidFill>
                  <a:srgbClr val="232F3E"/>
                </a:solidFill>
                <a:latin typeface="Helvetica Neue"/>
                <a:ea typeface="Helvetica Neue"/>
                <a:cs typeface="Helvetica Neue"/>
                <a:sym typeface="Helvetica Neue"/>
              </a:rPr>
              <a:t>One click. </a:t>
            </a:r>
            <a:r>
              <a:rPr b="1" i="0" lang="en-US" sz="8250" u="none" cap="none" strike="noStrike">
                <a:solidFill>
                  <a:srgbClr val="FF9900"/>
                </a:solidFill>
                <a:latin typeface="Helvetica Neue"/>
                <a:ea typeface="Helvetica Neue"/>
                <a:cs typeface="Helvetica Neue"/>
                <a:sym typeface="Helvetica Neue"/>
              </a:rPr>
              <a:t>14 minutes. </a:t>
            </a:r>
            <a:r>
              <a:rPr b="1" i="0" lang="en-US" sz="8250" u="none" cap="none" strike="noStrike">
                <a:solidFill>
                  <a:srgbClr val="232F3E"/>
                </a:solidFill>
                <a:latin typeface="Helvetica Neue"/>
                <a:ea typeface="Helvetica Neue"/>
                <a:cs typeface="Helvetica Neue"/>
                <a:sym typeface="Helvetica Neue"/>
              </a:rPr>
              <a:t>A trained model.</a:t>
            </a:r>
            <a:endParaRPr b="0" i="0" sz="8250" u="none" cap="none" strike="noStrike">
              <a:solidFill>
                <a:schemeClr val="dk1"/>
              </a:solidFill>
              <a:latin typeface="Calibri"/>
              <a:ea typeface="Calibri"/>
              <a:cs typeface="Calibri"/>
              <a:sym typeface="Calibri"/>
            </a:endParaRPr>
          </a:p>
        </p:txBody>
      </p:sp>
      <p:sp>
        <p:nvSpPr>
          <p:cNvPr id="215" name="Google Shape;215;p8"/>
          <p:cNvSpPr/>
          <p:nvPr/>
        </p:nvSpPr>
        <p:spPr>
          <a:xfrm>
            <a:off x="762000" y="4427685"/>
            <a:ext cx="8995800" cy="4940100"/>
          </a:xfrm>
          <a:prstGeom prst="roundRect">
            <a:avLst>
              <a:gd fmla="val 1928" name="adj"/>
            </a:avLst>
          </a:prstGeom>
          <a:solidFill>
            <a:srgbClr val="FFFFFF"/>
          </a:solidFill>
          <a:ln cap="flat" cmpd="sng" w="9525">
            <a:solidFill>
              <a:srgbClr val="E5E7EB"/>
            </a:solidFill>
            <a:prstDash val="solid"/>
            <a:round/>
            <a:headEnd len="sm" w="sm" type="none"/>
            <a:tailEnd len="sm" w="sm" type="none"/>
          </a:ln>
          <a:effectLst>
            <a:outerShdw blurRad="571500" rotWithShape="0" algn="bl" dir="5400000" dist="285750">
              <a:srgbClr val="0F172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6" name="Google Shape;216;p8"/>
          <p:cNvPicPr preferRelativeResize="0"/>
          <p:nvPr/>
        </p:nvPicPr>
        <p:blipFill rotWithShape="1">
          <a:blip r:embed="rId3">
            <a:alphaModFix/>
          </a:blip>
          <a:srcRect b="0" l="0" r="0" t="0"/>
          <a:stretch/>
        </p:blipFill>
        <p:spPr>
          <a:xfrm>
            <a:off x="771525" y="4457702"/>
            <a:ext cx="8976719" cy="4921151"/>
          </a:xfrm>
          <a:prstGeom prst="rect">
            <a:avLst/>
          </a:prstGeom>
          <a:noFill/>
          <a:ln>
            <a:noFill/>
          </a:ln>
        </p:spPr>
      </p:pic>
      <p:sp>
        <p:nvSpPr>
          <p:cNvPr id="217" name="Google Shape;217;p8"/>
          <p:cNvSpPr/>
          <p:nvPr/>
        </p:nvSpPr>
        <p:spPr>
          <a:xfrm>
            <a:off x="10329267" y="4140797"/>
            <a:ext cx="3503100" cy="1752600"/>
          </a:xfrm>
          <a:prstGeom prst="roundRect">
            <a:avLst>
              <a:gd fmla="val 5435"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10624542" y="4417022"/>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1" i="0" lang="en-US" sz="1350" u="none" cap="none" strike="noStrike">
                <a:solidFill>
                  <a:srgbClr val="6B7280"/>
                </a:solidFill>
                <a:latin typeface="Helvetica Neue"/>
                <a:ea typeface="Helvetica Neue"/>
                <a:cs typeface="Helvetica Neue"/>
                <a:sym typeface="Helvetica Neue"/>
              </a:rPr>
              <a:t>AVG. WQL</a:t>
            </a:r>
            <a:endParaRPr b="0" i="0" sz="1350" u="none" cap="none" strike="noStrike">
              <a:solidFill>
                <a:schemeClr val="dk1"/>
              </a:solidFill>
              <a:latin typeface="Calibri"/>
              <a:ea typeface="Calibri"/>
              <a:cs typeface="Calibri"/>
              <a:sym typeface="Calibri"/>
            </a:endParaRPr>
          </a:p>
        </p:txBody>
      </p:sp>
      <p:sp>
        <p:nvSpPr>
          <p:cNvPr id="219" name="Google Shape;219;p8"/>
          <p:cNvSpPr/>
          <p:nvPr/>
        </p:nvSpPr>
        <p:spPr>
          <a:xfrm>
            <a:off x="10624542" y="4674197"/>
            <a:ext cx="3000000" cy="743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0.078</a:t>
            </a:r>
            <a:endParaRPr b="0" i="0" sz="4800" u="none" cap="none" strike="noStrike">
              <a:solidFill>
                <a:schemeClr val="dk1"/>
              </a:solidFill>
              <a:latin typeface="Calibri"/>
              <a:ea typeface="Calibri"/>
              <a:cs typeface="Calibri"/>
              <a:sym typeface="Calibri"/>
            </a:endParaRPr>
          </a:p>
        </p:txBody>
      </p:sp>
      <p:sp>
        <p:nvSpPr>
          <p:cNvPr id="220" name="Google Shape;220;p8"/>
          <p:cNvSpPr/>
          <p:nvPr/>
        </p:nvSpPr>
        <p:spPr>
          <a:xfrm>
            <a:off x="10624542" y="5417147"/>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tight quantiles</a:t>
            </a:r>
            <a:endParaRPr b="0" i="0" sz="1350" u="none" cap="none" strike="noStrike">
              <a:solidFill>
                <a:schemeClr val="dk1"/>
              </a:solidFill>
              <a:latin typeface="Calibri"/>
              <a:ea typeface="Calibri"/>
              <a:cs typeface="Calibri"/>
              <a:sym typeface="Calibri"/>
            </a:endParaRPr>
          </a:p>
        </p:txBody>
      </p:sp>
      <p:sp>
        <p:nvSpPr>
          <p:cNvPr id="221" name="Google Shape;221;p8"/>
          <p:cNvSpPr/>
          <p:nvPr/>
        </p:nvSpPr>
        <p:spPr>
          <a:xfrm>
            <a:off x="14022884" y="4140797"/>
            <a:ext cx="3503100" cy="1752600"/>
          </a:xfrm>
          <a:prstGeom prst="roundRect">
            <a:avLst>
              <a:gd fmla="val 5435"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14318159" y="4417022"/>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1" i="0" lang="en-US" sz="1350" u="none" cap="none" strike="noStrike">
                <a:solidFill>
                  <a:srgbClr val="6B7280"/>
                </a:solidFill>
                <a:latin typeface="Helvetica Neue"/>
                <a:ea typeface="Helvetica Neue"/>
                <a:cs typeface="Helvetica Neue"/>
                <a:sym typeface="Helvetica Neue"/>
              </a:rPr>
              <a:t>MAPE</a:t>
            </a:r>
            <a:endParaRPr b="0" i="0" sz="1350" u="none" cap="none" strike="noStrike">
              <a:solidFill>
                <a:schemeClr val="dk1"/>
              </a:solidFill>
              <a:latin typeface="Calibri"/>
              <a:ea typeface="Calibri"/>
              <a:cs typeface="Calibri"/>
              <a:sym typeface="Calibri"/>
            </a:endParaRPr>
          </a:p>
        </p:txBody>
      </p:sp>
      <p:sp>
        <p:nvSpPr>
          <p:cNvPr id="223" name="Google Shape;223;p8"/>
          <p:cNvSpPr/>
          <p:nvPr/>
        </p:nvSpPr>
        <p:spPr>
          <a:xfrm>
            <a:off x="14318159" y="4674197"/>
            <a:ext cx="3000000" cy="743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0.036</a:t>
            </a:r>
            <a:endParaRPr b="0" i="0" sz="4800" u="none" cap="none" strike="noStrike">
              <a:solidFill>
                <a:schemeClr val="dk1"/>
              </a:solidFill>
              <a:latin typeface="Calibri"/>
              <a:ea typeface="Calibri"/>
              <a:cs typeface="Calibri"/>
              <a:sym typeface="Calibri"/>
            </a:endParaRPr>
          </a:p>
        </p:txBody>
      </p:sp>
      <p:sp>
        <p:nvSpPr>
          <p:cNvPr id="224" name="Google Shape;224;p8"/>
          <p:cNvSpPr/>
          <p:nvPr/>
        </p:nvSpPr>
        <p:spPr>
          <a:xfrm>
            <a:off x="14318159" y="5417147"/>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~3.6% off</a:t>
            </a:r>
            <a:endParaRPr b="0" i="0" sz="1350" u="none" cap="none" strike="noStrike">
              <a:solidFill>
                <a:schemeClr val="dk1"/>
              </a:solidFill>
              <a:latin typeface="Calibri"/>
              <a:ea typeface="Calibri"/>
              <a:cs typeface="Calibri"/>
              <a:sym typeface="Calibri"/>
            </a:endParaRPr>
          </a:p>
        </p:txBody>
      </p:sp>
      <p:sp>
        <p:nvSpPr>
          <p:cNvPr id="225" name="Google Shape;225;p8"/>
          <p:cNvSpPr/>
          <p:nvPr/>
        </p:nvSpPr>
        <p:spPr>
          <a:xfrm>
            <a:off x="10329267" y="6083897"/>
            <a:ext cx="3503100" cy="1752600"/>
          </a:xfrm>
          <a:prstGeom prst="roundRect">
            <a:avLst>
              <a:gd fmla="val 5435"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10624542" y="6360122"/>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1" i="0" lang="en-US" sz="1350" u="none" cap="none" strike="noStrike">
                <a:solidFill>
                  <a:srgbClr val="6B7280"/>
                </a:solidFill>
                <a:latin typeface="Helvetica Neue"/>
                <a:ea typeface="Helvetica Neue"/>
                <a:cs typeface="Helvetica Neue"/>
                <a:sym typeface="Helvetica Neue"/>
              </a:rPr>
              <a:t>WAPE</a:t>
            </a:r>
            <a:endParaRPr b="0" i="0" sz="1350" u="none" cap="none" strike="noStrike">
              <a:solidFill>
                <a:schemeClr val="dk1"/>
              </a:solidFill>
              <a:latin typeface="Calibri"/>
              <a:ea typeface="Calibri"/>
              <a:cs typeface="Calibri"/>
              <a:sym typeface="Calibri"/>
            </a:endParaRPr>
          </a:p>
        </p:txBody>
      </p:sp>
      <p:sp>
        <p:nvSpPr>
          <p:cNvPr id="227" name="Google Shape;227;p8"/>
          <p:cNvSpPr/>
          <p:nvPr/>
        </p:nvSpPr>
        <p:spPr>
          <a:xfrm>
            <a:off x="10624542" y="6617297"/>
            <a:ext cx="3000000" cy="743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0.007</a:t>
            </a:r>
            <a:endParaRPr b="0" i="0" sz="4800" u="none" cap="none" strike="noStrike">
              <a:solidFill>
                <a:schemeClr val="dk1"/>
              </a:solidFill>
              <a:latin typeface="Calibri"/>
              <a:ea typeface="Calibri"/>
              <a:cs typeface="Calibri"/>
              <a:sym typeface="Calibri"/>
            </a:endParaRPr>
          </a:p>
        </p:txBody>
      </p:sp>
      <p:sp>
        <p:nvSpPr>
          <p:cNvPr id="228" name="Google Shape;228;p8"/>
          <p:cNvSpPr/>
          <p:nvPr/>
        </p:nvSpPr>
        <p:spPr>
          <a:xfrm>
            <a:off x="10624542" y="7360247"/>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weighted</a:t>
            </a:r>
            <a:endParaRPr b="0" i="0" sz="1350" u="none" cap="none" strike="noStrike">
              <a:solidFill>
                <a:schemeClr val="dk1"/>
              </a:solidFill>
              <a:latin typeface="Calibri"/>
              <a:ea typeface="Calibri"/>
              <a:cs typeface="Calibri"/>
              <a:sym typeface="Calibri"/>
            </a:endParaRPr>
          </a:p>
        </p:txBody>
      </p:sp>
      <p:sp>
        <p:nvSpPr>
          <p:cNvPr id="229" name="Google Shape;229;p8"/>
          <p:cNvSpPr/>
          <p:nvPr/>
        </p:nvSpPr>
        <p:spPr>
          <a:xfrm>
            <a:off x="14022884" y="6083897"/>
            <a:ext cx="3503100" cy="1752600"/>
          </a:xfrm>
          <a:prstGeom prst="roundRect">
            <a:avLst>
              <a:gd fmla="val 5435"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14318159" y="6360122"/>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1" i="0" lang="en-US" sz="1350" u="none" cap="none" strike="noStrike">
                <a:solidFill>
                  <a:srgbClr val="6B7280"/>
                </a:solidFill>
                <a:latin typeface="Helvetica Neue"/>
                <a:ea typeface="Helvetica Neue"/>
                <a:cs typeface="Helvetica Neue"/>
                <a:sym typeface="Helvetica Neue"/>
              </a:rPr>
              <a:t>RMSE</a:t>
            </a:r>
            <a:endParaRPr b="0" i="0" sz="1350" u="none" cap="none" strike="noStrike">
              <a:solidFill>
                <a:schemeClr val="dk1"/>
              </a:solidFill>
              <a:latin typeface="Calibri"/>
              <a:ea typeface="Calibri"/>
              <a:cs typeface="Calibri"/>
              <a:sym typeface="Calibri"/>
            </a:endParaRPr>
          </a:p>
        </p:txBody>
      </p:sp>
      <p:sp>
        <p:nvSpPr>
          <p:cNvPr id="231" name="Google Shape;231;p8"/>
          <p:cNvSpPr/>
          <p:nvPr/>
        </p:nvSpPr>
        <p:spPr>
          <a:xfrm>
            <a:off x="14318159" y="6617297"/>
            <a:ext cx="3000000" cy="743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180.5</a:t>
            </a:r>
            <a:endParaRPr b="0" i="0" sz="4800" u="none" cap="none" strike="noStrike">
              <a:solidFill>
                <a:schemeClr val="dk1"/>
              </a:solidFill>
              <a:latin typeface="Calibri"/>
              <a:ea typeface="Calibri"/>
              <a:cs typeface="Calibri"/>
              <a:sym typeface="Calibri"/>
            </a:endParaRPr>
          </a:p>
        </p:txBody>
      </p:sp>
      <p:sp>
        <p:nvSpPr>
          <p:cNvPr id="232" name="Google Shape;232;p8"/>
          <p:cNvSpPr/>
          <p:nvPr/>
        </p:nvSpPr>
        <p:spPr>
          <a:xfrm>
            <a:off x="14318159" y="7360247"/>
            <a:ext cx="3000000" cy="23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root sq. error</a:t>
            </a:r>
            <a:endParaRPr b="0" i="0" sz="1350" u="none" cap="none" strike="noStrike">
              <a:solidFill>
                <a:schemeClr val="dk1"/>
              </a:solidFill>
              <a:latin typeface="Calibri"/>
              <a:ea typeface="Calibri"/>
              <a:cs typeface="Calibri"/>
              <a:sym typeface="Calibri"/>
            </a:endParaRPr>
          </a:p>
        </p:txBody>
      </p:sp>
      <p:sp>
        <p:nvSpPr>
          <p:cNvPr id="233" name="Google Shape;233;p8"/>
          <p:cNvSpPr/>
          <p:nvPr/>
        </p:nvSpPr>
        <p:spPr>
          <a:xfrm>
            <a:off x="10329267" y="8047489"/>
            <a:ext cx="7196700" cy="1451400"/>
          </a:xfrm>
          <a:prstGeom prst="roundRect">
            <a:avLst>
              <a:gd fmla="val 6563" name="adj"/>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10615017" y="8295139"/>
            <a:ext cx="6824100" cy="2781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UNDER THE HOOD</a:t>
            </a:r>
            <a:endParaRPr b="0" i="0" sz="1350" u="none" cap="none" strike="noStrike">
              <a:solidFill>
                <a:schemeClr val="dk1"/>
              </a:solidFill>
              <a:latin typeface="Calibri"/>
              <a:ea typeface="Calibri"/>
              <a:cs typeface="Calibri"/>
              <a:sym typeface="Calibri"/>
            </a:endParaRPr>
          </a:p>
        </p:txBody>
      </p:sp>
      <p:sp>
        <p:nvSpPr>
          <p:cNvPr id="235" name="Google Shape;235;p8"/>
          <p:cNvSpPr/>
          <p:nvPr/>
        </p:nvSpPr>
        <p:spPr>
          <a:xfrm>
            <a:off x="10615017" y="8611250"/>
            <a:ext cx="6824100" cy="6780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FFFF"/>
              </a:buClr>
              <a:buSzPts val="1800"/>
              <a:buFont typeface="Helvetica Neue"/>
              <a:buNone/>
            </a:pPr>
            <a:r>
              <a:rPr b="0" i="0" lang="en-US" sz="1800" u="none" cap="none" strike="noStrike">
                <a:solidFill>
                  <a:srgbClr val="FFFFFF"/>
                </a:solidFill>
                <a:latin typeface="Helvetica Neue"/>
                <a:ea typeface="Helvetica Neue"/>
                <a:cs typeface="Helvetica Neue"/>
                <a:sym typeface="Helvetica Neue"/>
              </a:rPr>
              <a:t>DeepAR · ml.c5.xlarge · trained, validated and benchmarked — without provisioning a single server.</a:t>
            </a:r>
            <a:endParaRPr b="0" i="0" sz="1800" u="none" cap="none" strike="noStrike">
              <a:solidFill>
                <a:schemeClr val="dk1"/>
              </a:solidFill>
              <a:latin typeface="Calibri"/>
              <a:ea typeface="Calibri"/>
              <a:cs typeface="Calibri"/>
              <a:sym typeface="Calibri"/>
            </a:endParaRPr>
          </a:p>
        </p:txBody>
      </p:sp>
      <p:sp>
        <p:nvSpPr>
          <p:cNvPr id="236" name="Google Shape;236;p8"/>
          <p:cNvSpPr/>
          <p:nvPr/>
        </p:nvSpPr>
        <p:spPr>
          <a:xfrm>
            <a:off x="762000" y="10856268"/>
            <a:ext cx="17266920" cy="41136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6B7280"/>
              </a:buClr>
              <a:buSzPts val="2100"/>
              <a:buFont typeface="Helvetica Neue"/>
              <a:buNone/>
            </a:pPr>
            <a:r>
              <a:rPr b="0" i="1" lang="en-US" sz="2100" u="none" cap="none" strike="noStrike">
                <a:solidFill>
                  <a:srgbClr val="6B7280"/>
                </a:solidFill>
                <a:latin typeface="Helvetica Neue"/>
                <a:ea typeface="Helvetica Neue"/>
                <a:cs typeface="Helvetica Neue"/>
                <a:sym typeface="Helvetica Neue"/>
              </a:rPr>
              <a:t>Real cloud training. Real metrics. No GPU we own. No Kubernetes we manage.</a:t>
            </a:r>
            <a:endParaRPr b="0" i="0" sz="2100" u="none" cap="none" strike="noStrike">
              <a:solidFill>
                <a:schemeClr val="dk1"/>
              </a:solidFill>
              <a:latin typeface="Calibri"/>
              <a:ea typeface="Calibri"/>
              <a:cs typeface="Calibri"/>
              <a:sym typeface="Calibri"/>
            </a:endParaRPr>
          </a:p>
        </p:txBody>
      </p:sp>
      <p:sp>
        <p:nvSpPr>
          <p:cNvPr id="237" name="Google Shape;237;p8"/>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238" name="Google Shape;238;p8"/>
          <p:cNvSpPr/>
          <p:nvPr/>
        </p:nvSpPr>
        <p:spPr>
          <a:xfrm>
            <a:off x="16929650" y="9708850"/>
            <a:ext cx="672600" cy="411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08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43" name="Shape 243"/>
        <p:cNvGrpSpPr/>
        <p:nvPr/>
      </p:nvGrpSpPr>
      <p:grpSpPr>
        <a:xfrm>
          <a:off x="0" y="0"/>
          <a:ext cx="0" cy="0"/>
          <a:chOff x="0" y="0"/>
          <a:chExt cx="0" cy="0"/>
        </a:xfrm>
      </p:grpSpPr>
      <p:sp>
        <p:nvSpPr>
          <p:cNvPr id="244" name="Google Shape;244;p9"/>
          <p:cNvSpPr/>
          <p:nvPr/>
        </p:nvSpPr>
        <p:spPr>
          <a:xfrm>
            <a:off x="762000" y="457200"/>
            <a:ext cx="2724783"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09 · TUTORIAL · STEP 4</a:t>
            </a:r>
            <a:endParaRPr b="0" i="0" sz="1350" u="none" cap="none" strike="noStrike">
              <a:solidFill>
                <a:schemeClr val="dk1"/>
              </a:solidFill>
              <a:latin typeface="Calibri"/>
              <a:ea typeface="Calibri"/>
              <a:cs typeface="Calibri"/>
              <a:sym typeface="Calibri"/>
            </a:endParaRPr>
          </a:p>
        </p:txBody>
      </p:sp>
      <p:sp>
        <p:nvSpPr>
          <p:cNvPr id="245" name="Google Shape;245;p9"/>
          <p:cNvSpPr/>
          <p:nvPr/>
        </p:nvSpPr>
        <p:spPr>
          <a:xfrm>
            <a:off x="15786199" y="457200"/>
            <a:ext cx="1816001"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RALPH</a:t>
            </a:r>
            <a:endParaRPr b="0" i="0" sz="1350" u="none" cap="none" strike="noStrike">
              <a:solidFill>
                <a:schemeClr val="dk1"/>
              </a:solidFill>
              <a:latin typeface="Calibri"/>
              <a:ea typeface="Calibri"/>
              <a:cs typeface="Calibri"/>
              <a:sym typeface="Calibri"/>
            </a:endParaRPr>
          </a:p>
        </p:txBody>
      </p:sp>
      <p:sp>
        <p:nvSpPr>
          <p:cNvPr id="246" name="Google Shape;246;p9"/>
          <p:cNvSpPr/>
          <p:nvPr/>
        </p:nvSpPr>
        <p:spPr>
          <a:xfrm>
            <a:off x="762000" y="1524000"/>
            <a:ext cx="12092516" cy="67806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Forecasts with built-in confidence bands.</a:t>
            </a:r>
            <a:endParaRPr b="0" i="0" sz="4800" u="none" cap="none" strike="noStrike">
              <a:solidFill>
                <a:schemeClr val="dk1"/>
              </a:solidFill>
              <a:latin typeface="Calibri"/>
              <a:ea typeface="Calibri"/>
              <a:cs typeface="Calibri"/>
              <a:sym typeface="Calibri"/>
            </a:endParaRPr>
          </a:p>
        </p:txBody>
      </p:sp>
      <p:sp>
        <p:nvSpPr>
          <p:cNvPr id="247" name="Google Shape;247;p9"/>
          <p:cNvSpPr/>
          <p:nvPr/>
        </p:nvSpPr>
        <p:spPr>
          <a:xfrm>
            <a:off x="13486935" y="1794801"/>
            <a:ext cx="4983300"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800"/>
              <a:buFont typeface="Helvetica Neue"/>
              <a:buNone/>
            </a:pPr>
            <a:r>
              <a:rPr b="1" i="0" lang="en-US" sz="1800" u="none" cap="none" strike="noStrike">
                <a:solidFill>
                  <a:srgbClr val="6B7280"/>
                </a:solidFill>
                <a:latin typeface="Helvetica Neue"/>
                <a:ea typeface="Helvetica Neue"/>
                <a:cs typeface="Helvetica Neue"/>
                <a:sym typeface="Helvetica Neue"/>
              </a:rPr>
              <a:t>STEP 1 · STEP 2 · STEP 3 · </a:t>
            </a:r>
            <a:r>
              <a:rPr b="1" i="0" lang="en-US" sz="1800" u="none" cap="none" strike="noStrike">
                <a:solidFill>
                  <a:srgbClr val="FF9900"/>
                </a:solidFill>
                <a:latin typeface="Helvetica Neue"/>
                <a:ea typeface="Helvetica Neue"/>
                <a:cs typeface="Helvetica Neue"/>
                <a:sym typeface="Helvetica Neue"/>
              </a:rPr>
              <a:t>STEP 4</a:t>
            </a:r>
            <a:endParaRPr b="0" i="0" sz="1800" u="none" cap="none" strike="noStrike">
              <a:solidFill>
                <a:schemeClr val="dk1"/>
              </a:solidFill>
              <a:latin typeface="Calibri"/>
              <a:ea typeface="Calibri"/>
              <a:cs typeface="Calibri"/>
              <a:sym typeface="Calibri"/>
            </a:endParaRPr>
          </a:p>
        </p:txBody>
      </p:sp>
      <p:sp>
        <p:nvSpPr>
          <p:cNvPr id="248" name="Google Shape;248;p9"/>
          <p:cNvSpPr/>
          <p:nvPr/>
        </p:nvSpPr>
        <p:spPr>
          <a:xfrm>
            <a:off x="762000" y="2506861"/>
            <a:ext cx="9639598" cy="5293221"/>
          </a:xfrm>
          <a:prstGeom prst="roundRect">
            <a:avLst>
              <a:gd fmla="val 1799" name="adj"/>
            </a:avLst>
          </a:prstGeom>
          <a:solidFill>
            <a:srgbClr val="FFFFFF"/>
          </a:solidFill>
          <a:ln cap="flat" cmpd="sng" w="9525">
            <a:solidFill>
              <a:srgbClr val="E5E7EB"/>
            </a:solidFill>
            <a:prstDash val="solid"/>
            <a:round/>
            <a:headEnd len="sm" w="sm" type="none"/>
            <a:tailEnd len="sm" w="sm" type="none"/>
          </a:ln>
          <a:effectLst>
            <a:outerShdw blurRad="571500" rotWithShape="0" algn="bl" dir="5400000" dist="285750">
              <a:srgbClr val="0F172A">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9" name="Google Shape;249;p9"/>
          <p:cNvPicPr preferRelativeResize="0"/>
          <p:nvPr/>
        </p:nvPicPr>
        <p:blipFill rotWithShape="1">
          <a:blip r:embed="rId3">
            <a:alphaModFix/>
          </a:blip>
          <a:srcRect b="0" l="0" r="0" t="0"/>
          <a:stretch/>
        </p:blipFill>
        <p:spPr>
          <a:xfrm>
            <a:off x="771525" y="2516386"/>
            <a:ext cx="9620548" cy="5274171"/>
          </a:xfrm>
          <a:prstGeom prst="rect">
            <a:avLst/>
          </a:prstGeom>
          <a:noFill/>
          <a:ln>
            <a:noFill/>
          </a:ln>
        </p:spPr>
      </p:pic>
      <p:sp>
        <p:nvSpPr>
          <p:cNvPr id="250" name="Google Shape;250;p9"/>
          <p:cNvSpPr/>
          <p:nvPr/>
        </p:nvSpPr>
        <p:spPr>
          <a:xfrm>
            <a:off x="10877848" y="2506861"/>
            <a:ext cx="6648152" cy="2424708"/>
          </a:xfrm>
          <a:prstGeom prst="roundRect">
            <a:avLst>
              <a:gd fmla="val 3928"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p:nvPr/>
        </p:nvSpPr>
        <p:spPr>
          <a:xfrm>
            <a:off x="11211223" y="2821186"/>
            <a:ext cx="6160844"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WHAT YOU SEE</a:t>
            </a:r>
            <a:endParaRPr b="0" i="0" sz="1650" u="none" cap="none" strike="noStrike">
              <a:solidFill>
                <a:schemeClr val="dk1"/>
              </a:solidFill>
              <a:latin typeface="Calibri"/>
              <a:ea typeface="Calibri"/>
              <a:cs typeface="Calibri"/>
              <a:sym typeface="Calibri"/>
            </a:endParaRPr>
          </a:p>
        </p:txBody>
      </p:sp>
      <p:sp>
        <p:nvSpPr>
          <p:cNvPr id="252" name="Google Shape;252;p9"/>
          <p:cNvSpPr/>
          <p:nvPr/>
        </p:nvSpPr>
        <p:spPr>
          <a:xfrm>
            <a:off x="11211223" y="3230761"/>
            <a:ext cx="6160844" cy="1424583"/>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232F3E"/>
              </a:buClr>
              <a:buSzPts val="1950"/>
              <a:buFont typeface="Helvetica Neue"/>
              <a:buNone/>
            </a:pPr>
            <a:r>
              <a:rPr b="1" i="0" lang="en-US" sz="1950" u="none" cap="none" strike="noStrike">
                <a:solidFill>
                  <a:srgbClr val="232F3E"/>
                </a:solidFill>
                <a:latin typeface="Helvetica Neue"/>
                <a:ea typeface="Helvetica Neue"/>
                <a:cs typeface="Helvetica Neue"/>
                <a:sym typeface="Helvetica Neue"/>
              </a:rPr>
              <a:t>P50 </a:t>
            </a:r>
            <a:r>
              <a:rPr b="0" i="0" lang="en-US" sz="1950" u="none" cap="none" strike="noStrike">
                <a:solidFill>
                  <a:srgbClr val="3A4253"/>
                </a:solidFill>
                <a:latin typeface="Helvetica Neue"/>
                <a:ea typeface="Helvetica Neue"/>
                <a:cs typeface="Helvetica Neue"/>
                <a:sym typeface="Helvetica Neue"/>
              </a:rPr>
              <a:t>hugs AAPL’s range correctly. </a:t>
            </a:r>
            <a:r>
              <a:rPr b="1" i="0" lang="en-US" sz="1950" u="none" cap="none" strike="noStrike">
                <a:solidFill>
                  <a:srgbClr val="232F3E"/>
                </a:solidFill>
                <a:latin typeface="Helvetica Neue"/>
                <a:ea typeface="Helvetica Neue"/>
                <a:cs typeface="Helvetica Neue"/>
                <a:sym typeface="Helvetica Neue"/>
              </a:rPr>
              <a:t>P90 </a:t>
            </a:r>
            <a:r>
              <a:rPr b="0" i="0" lang="en-US" sz="1950" u="none" cap="none" strike="noStrike">
                <a:solidFill>
                  <a:srgbClr val="3A4253"/>
                </a:solidFill>
                <a:latin typeface="Helvetica Neue"/>
                <a:ea typeface="Helvetica Neue"/>
                <a:cs typeface="Helvetica Neue"/>
                <a:sym typeface="Helvetica Neue"/>
              </a:rPr>
              <a:t>spikes — we trained one model on dummy data mixing AAPL ($180) with BTC ($55,000) in one column.</a:t>
            </a:r>
            <a:endParaRPr b="0" i="0" sz="1950" u="none" cap="none" strike="noStrike">
              <a:solidFill>
                <a:schemeClr val="dk1"/>
              </a:solidFill>
              <a:latin typeface="Calibri"/>
              <a:ea typeface="Calibri"/>
              <a:cs typeface="Calibri"/>
              <a:sym typeface="Calibri"/>
            </a:endParaRPr>
          </a:p>
        </p:txBody>
      </p:sp>
      <p:sp>
        <p:nvSpPr>
          <p:cNvPr id="253" name="Google Shape;253;p9"/>
          <p:cNvSpPr/>
          <p:nvPr/>
        </p:nvSpPr>
        <p:spPr>
          <a:xfrm>
            <a:off x="10877848" y="5198269"/>
            <a:ext cx="6648152" cy="1131391"/>
          </a:xfrm>
          <a:prstGeom prst="roundRect">
            <a:avLst>
              <a:gd fmla="val 5051" name="adj"/>
            </a:avLst>
          </a:prstGeom>
          <a:solidFill>
            <a:srgbClr val="FFF6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10877848" y="6320135"/>
            <a:ext cx="6648152" cy="9525"/>
          </a:xfrm>
          <a:prstGeom prst="rect">
            <a:avLst/>
          </a:prstGeom>
          <a:solidFill>
            <a:srgbClr val="FFD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
          <p:cNvSpPr/>
          <p:nvPr/>
        </p:nvSpPr>
        <p:spPr>
          <a:xfrm>
            <a:off x="10877848" y="5198269"/>
            <a:ext cx="6648152" cy="9525"/>
          </a:xfrm>
          <a:prstGeom prst="rect">
            <a:avLst/>
          </a:prstGeom>
          <a:solidFill>
            <a:srgbClr val="FFD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10877848" y="5198269"/>
            <a:ext cx="57150" cy="1131391"/>
          </a:xfrm>
          <a:prstGeom prst="rect">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17516475" y="5198269"/>
            <a:ext cx="9525" cy="1131391"/>
          </a:xfrm>
          <a:prstGeom prst="rect">
            <a:avLst/>
          </a:prstGeom>
          <a:solidFill>
            <a:srgbClr val="FFD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11201698" y="5417344"/>
            <a:ext cx="6247522" cy="73134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232F3E"/>
              </a:buClr>
              <a:buSzPts val="1950"/>
              <a:buFont typeface="Helvetica Neue"/>
              <a:buNone/>
            </a:pPr>
            <a:r>
              <a:rPr b="1" i="0" lang="en-US" sz="1950" u="none" cap="none" strike="noStrike">
                <a:solidFill>
                  <a:srgbClr val="232F3E"/>
                </a:solidFill>
                <a:latin typeface="Helvetica Neue"/>
                <a:ea typeface="Helvetica Neue"/>
                <a:cs typeface="Helvetica Neue"/>
                <a:sym typeface="Helvetica Neue"/>
              </a:rPr>
              <a:t>Lesson. </a:t>
            </a:r>
            <a:r>
              <a:rPr b="0" i="0" lang="en-US" sz="1950" u="none" cap="none" strike="noStrike">
                <a:solidFill>
                  <a:srgbClr val="232F3E"/>
                </a:solidFill>
                <a:highlight>
                  <a:srgbClr val="FFF6E5"/>
                </a:highlight>
                <a:latin typeface="Helvetica Neue"/>
                <a:ea typeface="Helvetica Neue"/>
                <a:cs typeface="Helvetica Neue"/>
                <a:sym typeface="Helvetica Neue"/>
              </a:rPr>
              <a:t>Canvas does not validate your data prep. Garbage in, garbage out — even on AWS.</a:t>
            </a:r>
            <a:endParaRPr b="0" i="0" sz="1950" u="none" cap="none" strike="noStrike">
              <a:solidFill>
                <a:schemeClr val="dk1"/>
              </a:solidFill>
              <a:latin typeface="Calibri"/>
              <a:ea typeface="Calibri"/>
              <a:cs typeface="Calibri"/>
              <a:sym typeface="Calibri"/>
            </a:endParaRPr>
          </a:p>
        </p:txBody>
      </p:sp>
      <p:sp>
        <p:nvSpPr>
          <p:cNvPr id="259" name="Google Shape;259;p9"/>
          <p:cNvSpPr/>
          <p:nvPr/>
        </p:nvSpPr>
        <p:spPr>
          <a:xfrm>
            <a:off x="10877848" y="6596360"/>
            <a:ext cx="6847597" cy="645616"/>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6B7280"/>
              </a:buClr>
              <a:buSzPts val="1650"/>
              <a:buFont typeface="Helvetica Neue"/>
              <a:buNone/>
            </a:pPr>
            <a:r>
              <a:rPr b="0" i="0" lang="en-US" sz="1650" u="none" cap="none" strike="noStrike">
                <a:solidFill>
                  <a:srgbClr val="6B7280"/>
                </a:solidFill>
                <a:latin typeface="Helvetica Neue"/>
                <a:ea typeface="Helvetica Neue"/>
                <a:cs typeface="Helvetica Neue"/>
                <a:sym typeface="Helvetica Neue"/>
              </a:rPr>
              <a:t>Fix: normalize per item, or train one model per ticker. The platform is only as smart as the data you feed it.</a:t>
            </a:r>
            <a:endParaRPr b="0" i="0" sz="1650" u="none" cap="none" strike="noStrike">
              <a:solidFill>
                <a:schemeClr val="dk1"/>
              </a:solidFill>
              <a:latin typeface="Calibri"/>
              <a:ea typeface="Calibri"/>
              <a:cs typeface="Calibri"/>
              <a:sym typeface="Calibri"/>
            </a:endParaRPr>
          </a:p>
        </p:txBody>
      </p:sp>
      <p:sp>
        <p:nvSpPr>
          <p:cNvPr id="260" name="Google Shape;260;p9"/>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261" name="Google Shape;261;p9"/>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09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66" name="Shape 266"/>
        <p:cNvGrpSpPr/>
        <p:nvPr/>
      </p:nvGrpSpPr>
      <p:grpSpPr>
        <a:xfrm>
          <a:off x="0" y="0"/>
          <a:ext cx="0" cy="0"/>
          <a:chOff x="0" y="0"/>
          <a:chExt cx="0" cy="0"/>
        </a:xfrm>
      </p:grpSpPr>
      <p:sp>
        <p:nvSpPr>
          <p:cNvPr id="267" name="Google Shape;267;p10"/>
          <p:cNvSpPr/>
          <p:nvPr/>
        </p:nvSpPr>
        <p:spPr>
          <a:xfrm>
            <a:off x="762000" y="457200"/>
            <a:ext cx="2738732"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10 · PRODUCTION PATH</a:t>
            </a:r>
            <a:endParaRPr b="0" i="0" sz="1350" u="none" cap="none" strike="noStrike">
              <a:solidFill>
                <a:schemeClr val="dk1"/>
              </a:solidFill>
              <a:latin typeface="Calibri"/>
              <a:ea typeface="Calibri"/>
              <a:cs typeface="Calibri"/>
              <a:sym typeface="Calibri"/>
            </a:endParaRPr>
          </a:p>
        </p:txBody>
      </p:sp>
      <p:sp>
        <p:nvSpPr>
          <p:cNvPr id="268" name="Google Shape;268;p10"/>
          <p:cNvSpPr/>
          <p:nvPr/>
        </p:nvSpPr>
        <p:spPr>
          <a:xfrm>
            <a:off x="15577691" y="457200"/>
            <a:ext cx="2024509"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DALIBOR</a:t>
            </a:r>
            <a:endParaRPr b="0" i="0" sz="1350" u="none" cap="none" strike="noStrike">
              <a:solidFill>
                <a:schemeClr val="dk1"/>
              </a:solidFill>
              <a:latin typeface="Calibri"/>
              <a:ea typeface="Calibri"/>
              <a:cs typeface="Calibri"/>
              <a:sym typeface="Calibri"/>
            </a:endParaRPr>
          </a:p>
        </p:txBody>
      </p:sp>
      <p:sp>
        <p:nvSpPr>
          <p:cNvPr id="269" name="Google Shape;269;p10"/>
          <p:cNvSpPr/>
          <p:nvPr/>
        </p:nvSpPr>
        <p:spPr>
          <a:xfrm>
            <a:off x="762000" y="1087675"/>
            <a:ext cx="13623300" cy="101910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Skip the UI. Drive SageMaker from </a:t>
            </a:r>
            <a:r>
              <a:rPr b="1" i="0" lang="en-US" sz="4800" u="none" cap="none" strike="noStrike">
                <a:solidFill>
                  <a:srgbClr val="FF9900"/>
                </a:solidFill>
                <a:latin typeface="Courier New"/>
                <a:ea typeface="Courier New"/>
                <a:cs typeface="Courier New"/>
                <a:sym typeface="Courier New"/>
              </a:rPr>
              <a:t>boto3</a:t>
            </a:r>
            <a:r>
              <a:rPr b="1" i="0" lang="en-US" sz="4800" u="none" cap="none" strike="noStrike">
                <a:solidFill>
                  <a:srgbClr val="232F3E"/>
                </a:solidFill>
                <a:latin typeface="Helvetica Neue"/>
                <a:ea typeface="Helvetica Neue"/>
                <a:cs typeface="Helvetica Neue"/>
                <a:sym typeface="Helvetica Neue"/>
              </a:rPr>
              <a:t>.</a:t>
            </a:r>
            <a:endParaRPr b="0" i="0" sz="4800" u="none" cap="none" strike="noStrike">
              <a:solidFill>
                <a:schemeClr val="dk1"/>
              </a:solidFill>
              <a:latin typeface="Calibri"/>
              <a:ea typeface="Calibri"/>
              <a:cs typeface="Calibri"/>
              <a:sym typeface="Calibri"/>
            </a:endParaRPr>
          </a:p>
        </p:txBody>
      </p:sp>
      <p:sp>
        <p:nvSpPr>
          <p:cNvPr id="270" name="Google Shape;270;p10"/>
          <p:cNvSpPr/>
          <p:nvPr/>
        </p:nvSpPr>
        <p:spPr>
          <a:xfrm>
            <a:off x="15152936" y="1714500"/>
            <a:ext cx="2373064" cy="371475"/>
          </a:xfrm>
          <a:prstGeom prst="roundRect">
            <a:avLst>
              <a:gd fmla="val 50000" name="adj"/>
            </a:avLst>
          </a:prstGeom>
          <a:solidFill>
            <a:srgbClr val="232F3E"/>
          </a:solidFill>
          <a:ln cap="flat" cmpd="sng" w="9525">
            <a:solidFill>
              <a:srgbClr val="232F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15314861" y="1800225"/>
            <a:ext cx="2125414" cy="2381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1350"/>
              <a:buFont typeface="Helvetica Neue"/>
              <a:buNone/>
            </a:pPr>
            <a:r>
              <a:rPr b="1" i="0" lang="en-US" sz="1350" u="none" cap="none" strike="noStrike">
                <a:solidFill>
                  <a:srgbClr val="FFFFFF"/>
                </a:solidFill>
                <a:latin typeface="Helvetica Neue"/>
                <a:ea typeface="Helvetica Neue"/>
                <a:cs typeface="Helvetica Neue"/>
                <a:sym typeface="Helvetica Neue"/>
              </a:rPr>
              <a:t>BOTO3 · PYTHON SDK</a:t>
            </a:r>
            <a:endParaRPr b="0" i="0" sz="1350" u="none" cap="none" strike="noStrike">
              <a:solidFill>
                <a:schemeClr val="dk1"/>
              </a:solidFill>
              <a:latin typeface="Calibri"/>
              <a:ea typeface="Calibri"/>
              <a:cs typeface="Calibri"/>
              <a:sym typeface="Calibri"/>
            </a:endParaRPr>
          </a:p>
        </p:txBody>
      </p:sp>
      <p:sp>
        <p:nvSpPr>
          <p:cNvPr id="272" name="Google Shape;272;p10"/>
          <p:cNvSpPr/>
          <p:nvPr/>
        </p:nvSpPr>
        <p:spPr>
          <a:xfrm>
            <a:off x="659550" y="1946750"/>
            <a:ext cx="9361200" cy="6613200"/>
          </a:xfrm>
          <a:prstGeom prst="roundRect">
            <a:avLst>
              <a:gd fmla="val 932" name="adj"/>
            </a:avLst>
          </a:prstGeom>
          <a:solidFill>
            <a:srgbClr val="1B2433"/>
          </a:solidFill>
          <a:ln cap="flat" cmpd="sng" w="9175">
            <a:solidFill>
              <a:srgbClr val="0F1620"/>
            </a:solidFill>
            <a:prstDash val="solid"/>
            <a:round/>
            <a:headEnd len="sm" w="sm" type="none"/>
            <a:tailEnd len="sm" w="sm" type="none"/>
          </a:ln>
        </p:spPr>
        <p:txBody>
          <a:bodyPr anchorCtr="0" anchor="ctr" bIns="88000" lIns="88000" spcFirstLastPara="1" rIns="88000" wrap="square" tIns="88000">
            <a:noAutofit/>
          </a:bodyPr>
          <a:lstStyle/>
          <a:p>
            <a:pPr indent="0" lvl="0" marL="0" rtl="0" algn="l">
              <a:spcBef>
                <a:spcPts val="0"/>
              </a:spcBef>
              <a:spcAft>
                <a:spcPts val="0"/>
              </a:spcAft>
              <a:buNone/>
            </a:pPr>
            <a:r>
              <a:t/>
            </a:r>
            <a:endParaRPr sz="1347"/>
          </a:p>
        </p:txBody>
      </p:sp>
      <p:sp>
        <p:nvSpPr>
          <p:cNvPr id="273" name="Google Shape;273;p10"/>
          <p:cNvSpPr/>
          <p:nvPr/>
        </p:nvSpPr>
        <p:spPr>
          <a:xfrm>
            <a:off x="1072100" y="2213150"/>
            <a:ext cx="8641200" cy="6029100"/>
          </a:xfrm>
          <a:prstGeom prst="rect">
            <a:avLst/>
          </a:prstGeom>
          <a:noFill/>
          <a:ln>
            <a:noFill/>
          </a:ln>
        </p:spPr>
        <p:txBody>
          <a:bodyPr anchorCtr="0" anchor="t" bIns="24450" lIns="24450" spcFirstLastPara="1" rIns="24450" wrap="square" tIns="24450">
            <a:normAutofit/>
          </a:bodyPr>
          <a:lstStyle/>
          <a:p>
            <a:pPr indent="0" lvl="0" marL="0" marR="0" rtl="0" algn="l">
              <a:lnSpc>
                <a:spcPct val="155000"/>
              </a:lnSpc>
              <a:spcBef>
                <a:spcPts val="0"/>
              </a:spcBef>
              <a:spcAft>
                <a:spcPts val="0"/>
              </a:spcAft>
              <a:buClr>
                <a:srgbClr val="FF9900"/>
              </a:buClr>
              <a:buSzPts val="1588"/>
              <a:buFont typeface="Courier New"/>
              <a:buNone/>
            </a:pPr>
            <a:r>
              <a:rPr b="0" i="0" lang="en-US" sz="1588" u="none" cap="none" strike="noStrike">
                <a:solidFill>
                  <a:srgbClr val="FF9900"/>
                </a:solidFill>
                <a:latin typeface="Courier New"/>
                <a:ea typeface="Courier New"/>
                <a:cs typeface="Courier New"/>
                <a:sym typeface="Courier New"/>
              </a:rPr>
              <a:t>import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sagemaker </a:t>
            </a:r>
            <a:r>
              <a:rPr b="0" i="0" lang="en-US" sz="1588" u="none" cap="none" strike="noStrike">
                <a:solidFill>
                  <a:srgbClr val="FF9900"/>
                </a:solidFill>
                <a:latin typeface="Courier New"/>
                <a:ea typeface="Courier New"/>
                <a:cs typeface="Courier New"/>
                <a:sym typeface="Courier New"/>
              </a:rPr>
              <a:t>from</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sagemaker.image_uris</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FF9900"/>
                </a:solidFill>
                <a:latin typeface="Courier New"/>
                <a:ea typeface="Courier New"/>
                <a:cs typeface="Courier New"/>
                <a:sym typeface="Courier New"/>
              </a:rPr>
              <a:t>import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retrieve session</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sagemaker</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F2F2F2"/>
                </a:solidFill>
                <a:latin typeface="Courier New"/>
                <a:ea typeface="Courier New"/>
                <a:cs typeface="Courier New"/>
                <a:sym typeface="Courier New"/>
              </a:rPr>
              <a:t>Session</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role</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sagemaker</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F2F2F2"/>
                </a:solidFill>
                <a:latin typeface="Courier New"/>
                <a:ea typeface="Courier New"/>
                <a:cs typeface="Courier New"/>
                <a:sym typeface="Courier New"/>
              </a:rPr>
              <a:t>get_execution_role</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image</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F2F2F2"/>
                </a:solidFill>
                <a:latin typeface="Courier New"/>
                <a:ea typeface="Courier New"/>
                <a:cs typeface="Courier New"/>
                <a:sym typeface="Courier New"/>
              </a:rPr>
              <a:t>retrieve</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latin typeface="Courier New"/>
                <a:ea typeface="Courier New"/>
                <a:cs typeface="Courier New"/>
                <a:sym typeface="Courier New"/>
              </a:rPr>
              <a:t>framework</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"forecasting-deepar"</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region</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"eu-west-1"</a:t>
            </a:r>
            <a:r>
              <a:rPr b="0" i="0" lang="en-US" sz="1588" u="none" cap="none" strike="noStrike">
                <a:solidFill>
                  <a:srgbClr val="B7C2D0"/>
                </a:solidFill>
                <a:latin typeface="Courier New"/>
                <a:ea typeface="Courier New"/>
                <a:cs typeface="Courier New"/>
                <a:sym typeface="Courier New"/>
              </a:rPr>
              <a:t>) </a:t>
            </a:r>
            <a:r>
              <a:rPr b="0" i="1" lang="en-US" sz="1588" u="none" cap="none" strike="noStrike">
                <a:solidFill>
                  <a:srgbClr val="6B7B91"/>
                </a:solidFill>
                <a:latin typeface="Courier New"/>
                <a:ea typeface="Courier New"/>
                <a:cs typeface="Courier New"/>
                <a:sym typeface="Courier New"/>
              </a:rPr>
              <a:t># Train job — AWS-managed DeepAR container </a:t>
            </a:r>
            <a:r>
              <a:rPr b="0" i="0" lang="en-US" sz="1588" u="none" cap="none" strike="noStrike">
                <a:solidFill>
                  <a:srgbClr val="E6EAF2"/>
                </a:solidFill>
                <a:latin typeface="Courier New"/>
                <a:ea typeface="Courier New"/>
                <a:cs typeface="Courier New"/>
                <a:sym typeface="Courier New"/>
              </a:rPr>
              <a:t>est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sagemaker</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latin typeface="Courier New"/>
                <a:ea typeface="Courier New"/>
                <a:cs typeface="Courier New"/>
                <a:sym typeface="Courier New"/>
              </a:rPr>
              <a:t>estimator</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F2F2F2"/>
                </a:solidFill>
                <a:latin typeface="Courier New"/>
                <a:ea typeface="Courier New"/>
                <a:cs typeface="Courier New"/>
                <a:sym typeface="Courier New"/>
              </a:rPr>
              <a:t>Estimator</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image_uri</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latin typeface="Courier New"/>
                <a:ea typeface="Courier New"/>
                <a:cs typeface="Courier New"/>
                <a:sym typeface="Courier New"/>
              </a:rPr>
              <a:t>image</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role</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latin typeface="Courier New"/>
                <a:ea typeface="Courier New"/>
                <a:cs typeface="Courier New"/>
                <a:sym typeface="Courier New"/>
              </a:rPr>
              <a:t>role</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instance_count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7AB7FF"/>
                </a:solidFill>
                <a:latin typeface="Courier New"/>
                <a:ea typeface="Courier New"/>
                <a:cs typeface="Courier New"/>
                <a:sym typeface="Courier New"/>
              </a:rPr>
              <a:t>1</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instance_type</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"ml.c5.xlarge"</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output_path</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"s3://my-bucket/deepar/output" </a:t>
            </a:r>
            <a:r>
              <a:rPr b="0" i="0" lang="en-US" sz="1588" u="none" cap="none" strike="noStrike">
                <a:solidFill>
                  <a:srgbClr val="B7C2D0"/>
                </a:solidFill>
                <a:latin typeface="Courier New"/>
                <a:ea typeface="Courier New"/>
                <a:cs typeface="Courier New"/>
                <a:sym typeface="Courier New"/>
              </a:rPr>
              <a:t>, ) </a:t>
            </a:r>
            <a:r>
              <a:rPr b="0" i="0" lang="en-US" sz="1588" u="none" cap="none" strike="noStrike">
                <a:solidFill>
                  <a:srgbClr val="E6EAF2"/>
                </a:solidFill>
                <a:latin typeface="Courier New"/>
                <a:ea typeface="Courier New"/>
                <a:cs typeface="Courier New"/>
                <a:sym typeface="Courier New"/>
              </a:rPr>
              <a:t>est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F2F2F2"/>
                </a:solidFill>
                <a:latin typeface="Courier New"/>
                <a:ea typeface="Courier New"/>
                <a:cs typeface="Courier New"/>
                <a:sym typeface="Courier New"/>
              </a:rPr>
              <a:t>set_hyperparameters</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time_freq</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"5min"</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context_length</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7AB7FF"/>
                </a:solidFill>
                <a:latin typeface="Courier New"/>
                <a:ea typeface="Courier New"/>
                <a:cs typeface="Courier New"/>
                <a:sym typeface="Courier New"/>
              </a:rPr>
              <a:t>100</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prediction_length</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7AB7FF"/>
                </a:solidFill>
                <a:latin typeface="Courier New"/>
                <a:ea typeface="Courier New"/>
                <a:cs typeface="Courier New"/>
                <a:sym typeface="Courier New"/>
              </a:rPr>
              <a:t>12</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epochs</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7AB7FF"/>
                </a:solidFill>
                <a:latin typeface="Courier New"/>
                <a:ea typeface="Courier New"/>
                <a:cs typeface="Courier New"/>
                <a:sym typeface="Courier New"/>
              </a:rPr>
              <a:t>50</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num_cells</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7AB7FF"/>
                </a:solidFill>
                <a:latin typeface="Courier New"/>
                <a:ea typeface="Courier New"/>
                <a:cs typeface="Courier New"/>
                <a:sym typeface="Courier New"/>
              </a:rPr>
              <a:t>40</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num_layers</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7AB7FF"/>
                </a:solidFill>
                <a:latin typeface="Courier New"/>
                <a:ea typeface="Courier New"/>
                <a:cs typeface="Courier New"/>
                <a:sym typeface="Courier New"/>
              </a:rPr>
              <a:t>2 </a:t>
            </a:r>
            <a:r>
              <a:rPr b="0" i="0" lang="en-US" sz="1588" u="none" cap="none" strike="noStrike">
                <a:solidFill>
                  <a:srgbClr val="B7C2D0"/>
                </a:solidFill>
                <a:latin typeface="Courier New"/>
                <a:ea typeface="Courier New"/>
                <a:cs typeface="Courier New"/>
                <a:sym typeface="Courier New"/>
              </a:rPr>
              <a:t>, ) </a:t>
            </a:r>
            <a:r>
              <a:rPr b="0" i="0" lang="en-US" sz="1588" u="none" cap="none" strike="noStrike">
                <a:solidFill>
                  <a:srgbClr val="E6EAF2"/>
                </a:solidFill>
                <a:latin typeface="Courier New"/>
                <a:ea typeface="Courier New"/>
                <a:cs typeface="Courier New"/>
                <a:sym typeface="Courier New"/>
              </a:rPr>
              <a:t>est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F2F2F2"/>
                </a:solidFill>
                <a:latin typeface="Courier New"/>
                <a:ea typeface="Courier New"/>
                <a:cs typeface="Courier New"/>
                <a:sym typeface="Courier New"/>
              </a:rPr>
              <a:t>fit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"train"</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9DDC8E"/>
                </a:solidFill>
                <a:latin typeface="Courier New"/>
                <a:ea typeface="Courier New"/>
                <a:cs typeface="Courier New"/>
                <a:sym typeface="Courier New"/>
              </a:rPr>
              <a:t>"s3://my-bucket/deepar/train.jsonl"</a:t>
            </a:r>
            <a:r>
              <a:rPr b="0" i="0" lang="en-US" sz="1588" u="none" cap="none" strike="noStrike">
                <a:solidFill>
                  <a:srgbClr val="B7C2D0"/>
                </a:solidFill>
                <a:latin typeface="Courier New"/>
                <a:ea typeface="Courier New"/>
                <a:cs typeface="Courier New"/>
                <a:sym typeface="Courier New"/>
              </a:rPr>
              <a:t>}) </a:t>
            </a:r>
            <a:r>
              <a:rPr b="0" i="1" lang="en-US" sz="1588" u="none" cap="none" strike="noStrike">
                <a:solidFill>
                  <a:srgbClr val="6B7B91"/>
                </a:solidFill>
                <a:latin typeface="Courier New"/>
                <a:ea typeface="Courier New"/>
                <a:cs typeface="Courier New"/>
                <a:sym typeface="Courier New"/>
              </a:rPr>
              <a:t># Deploy to a real-time endpoint a Lambda can call </a:t>
            </a:r>
            <a:r>
              <a:rPr b="0" i="0" lang="en-US" sz="1588" u="none" cap="none" strike="noStrike">
                <a:solidFill>
                  <a:srgbClr val="E6EAF2"/>
                </a:solidFill>
                <a:latin typeface="Courier New"/>
                <a:ea typeface="Courier New"/>
                <a:cs typeface="Courier New"/>
                <a:sym typeface="Courier New"/>
              </a:rPr>
              <a:t>predictor</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est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F2F2F2"/>
                </a:solidFill>
                <a:latin typeface="Courier New"/>
                <a:ea typeface="Courier New"/>
                <a:cs typeface="Courier New"/>
                <a:sym typeface="Courier New"/>
              </a:rPr>
              <a:t>deploy</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latin typeface="Courier New"/>
                <a:ea typeface="Courier New"/>
                <a:cs typeface="Courier New"/>
                <a:sym typeface="Courier New"/>
              </a:rPr>
              <a:t>instance_type</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"ml.t2.medium"</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initial_instance_count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7AB7FF"/>
                </a:solidFill>
                <a:latin typeface="Courier New"/>
                <a:ea typeface="Courier New"/>
                <a:cs typeface="Courier New"/>
                <a:sym typeface="Courier New"/>
              </a:rPr>
              <a:t>1</a:t>
            </a:r>
            <a:r>
              <a:rPr b="0" i="0" lang="en-US" sz="1588" u="none" cap="none" strike="noStrike">
                <a:solidFill>
                  <a:srgbClr val="B7C2D0"/>
                </a:solidFill>
                <a:latin typeface="Courier New"/>
                <a:ea typeface="Courier New"/>
                <a:cs typeface="Courier New"/>
                <a:sym typeface="Courier New"/>
              </a:rPr>
              <a:t>) </a:t>
            </a:r>
            <a:r>
              <a:rPr b="0" i="0" lang="en-US" sz="1588" u="none" cap="none" strike="noStrike">
                <a:solidFill>
                  <a:srgbClr val="E6EAF2"/>
                </a:solidFill>
                <a:latin typeface="Courier New"/>
                <a:ea typeface="Courier New"/>
                <a:cs typeface="Courier New"/>
                <a:sym typeface="Courier New"/>
              </a:rPr>
              <a:t>predictor</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F2F2F2"/>
                </a:solidFill>
                <a:latin typeface="Courier New"/>
                <a:ea typeface="Courier New"/>
                <a:cs typeface="Courier New"/>
                <a:sym typeface="Courier New"/>
              </a:rPr>
              <a:t>predict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"instances"</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9DDC8E"/>
                </a:solidFill>
                <a:latin typeface="Courier New"/>
                <a:ea typeface="Courier New"/>
                <a:cs typeface="Courier New"/>
                <a:sym typeface="Courier New"/>
              </a:rPr>
              <a:t>"start"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9DDC8E"/>
                </a:solidFill>
                <a:latin typeface="Courier New"/>
                <a:ea typeface="Courier New"/>
                <a:cs typeface="Courier New"/>
                <a:sym typeface="Courier New"/>
              </a:rPr>
              <a: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9DDC8E"/>
                </a:solidFill>
                <a:latin typeface="Courier New"/>
                <a:ea typeface="Courier New"/>
                <a:cs typeface="Courier New"/>
                <a:sym typeface="Courier New"/>
              </a:rPr>
              <a:t>"target"</a:t>
            </a:r>
            <a:r>
              <a:rPr b="0" i="0" lang="en-US" sz="1588" u="none" cap="none" strike="noStrike">
                <a:solidFill>
                  <a:srgbClr val="B7C2D0"/>
                </a:solidFill>
                <a:latin typeface="Courier New"/>
                <a:ea typeface="Courier New"/>
                <a:cs typeface="Courier New"/>
                <a:sym typeface="Courier New"/>
              </a:rPr>
              <a:t>:</a:t>
            </a:r>
            <a:r>
              <a:rPr b="0" i="0" lang="en-US" sz="1588" u="none" cap="none" strike="noStrike">
                <a:solidFill>
                  <a:srgbClr val="E6EAF2"/>
                </a:solidFill>
                <a:highlight>
                  <a:srgbClr val="1B2433"/>
                </a:highlight>
                <a:latin typeface="Courier New"/>
                <a:ea typeface="Courier New"/>
                <a:cs typeface="Courier New"/>
                <a:sym typeface="Courier New"/>
              </a:rPr>
              <a:t> </a:t>
            </a:r>
            <a:r>
              <a:rPr b="0" i="0" lang="en-US" sz="1588" u="none" cap="none" strike="noStrike">
                <a:solidFill>
                  <a:srgbClr val="B7C2D0"/>
                </a:solidFill>
                <a:latin typeface="Courier New"/>
                <a:ea typeface="Courier New"/>
                <a:cs typeface="Courier New"/>
                <a:sym typeface="Courier New"/>
              </a:rPr>
              <a:t>[…]}]})</a:t>
            </a:r>
            <a:endParaRPr b="0" i="0" sz="1588" u="none" cap="none" strike="noStrike">
              <a:solidFill>
                <a:schemeClr val="dk1"/>
              </a:solidFill>
              <a:latin typeface="Calibri"/>
              <a:ea typeface="Calibri"/>
              <a:cs typeface="Calibri"/>
              <a:sym typeface="Calibri"/>
            </a:endParaRPr>
          </a:p>
        </p:txBody>
      </p:sp>
      <p:sp>
        <p:nvSpPr>
          <p:cNvPr id="274" name="Google Shape;274;p10"/>
          <p:cNvSpPr/>
          <p:nvPr/>
        </p:nvSpPr>
        <p:spPr>
          <a:xfrm>
            <a:off x="11261378" y="2562225"/>
            <a:ext cx="6264622" cy="28575"/>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11261378" y="2838450"/>
            <a:ext cx="6452561"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SAME WORKFLOW</a:t>
            </a:r>
            <a:endParaRPr b="0" i="0" sz="1650" u="none" cap="none" strike="noStrike">
              <a:solidFill>
                <a:schemeClr val="dk1"/>
              </a:solidFill>
              <a:latin typeface="Calibri"/>
              <a:ea typeface="Calibri"/>
              <a:cs typeface="Calibri"/>
              <a:sym typeface="Calibri"/>
            </a:endParaRPr>
          </a:p>
        </p:txBody>
      </p:sp>
      <p:sp>
        <p:nvSpPr>
          <p:cNvPr id="276" name="Google Shape;276;p10"/>
          <p:cNvSpPr/>
          <p:nvPr/>
        </p:nvSpPr>
        <p:spPr>
          <a:xfrm>
            <a:off x="11261378" y="3248025"/>
            <a:ext cx="6452561" cy="8382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253"/>
              </a:buClr>
              <a:buSzPts val="2250"/>
              <a:buFont typeface="Helvetica Neue"/>
              <a:buNone/>
            </a:pPr>
            <a:r>
              <a:rPr b="0" i="0" lang="en-US" sz="2250" u="none" cap="none" strike="noStrike">
                <a:solidFill>
                  <a:srgbClr val="3A4253"/>
                </a:solidFill>
                <a:latin typeface="Helvetica Neue"/>
                <a:ea typeface="Helvetica Neue"/>
                <a:cs typeface="Helvetica Neue"/>
                <a:sym typeface="Helvetica Neue"/>
              </a:rPr>
              <a:t>Same DeepAR model. Same training. Same metrics — the UI just disappears.</a:t>
            </a:r>
            <a:endParaRPr b="0" i="0" sz="2250" u="none" cap="none" strike="noStrike">
              <a:solidFill>
                <a:schemeClr val="dk1"/>
              </a:solidFill>
              <a:latin typeface="Calibri"/>
              <a:ea typeface="Calibri"/>
              <a:cs typeface="Calibri"/>
              <a:sym typeface="Calibri"/>
            </a:endParaRPr>
          </a:p>
        </p:txBody>
      </p:sp>
      <p:sp>
        <p:nvSpPr>
          <p:cNvPr id="277" name="Google Shape;277;p10"/>
          <p:cNvSpPr/>
          <p:nvPr/>
        </p:nvSpPr>
        <p:spPr>
          <a:xfrm>
            <a:off x="11261378" y="4524375"/>
            <a:ext cx="6452561"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800"/>
              <a:buFont typeface="Helvetica Neue"/>
              <a:buNone/>
            </a:pPr>
            <a:r>
              <a:rPr b="1" i="0" lang="en-US" sz="1800" u="none" cap="none" strike="noStrike">
                <a:solidFill>
                  <a:srgbClr val="232F3E"/>
                </a:solidFill>
                <a:latin typeface="Helvetica Neue"/>
                <a:ea typeface="Helvetica Neue"/>
                <a:cs typeface="Helvetica Neue"/>
                <a:sym typeface="Helvetica Neue"/>
              </a:rPr>
              <a:t>↳ </a:t>
            </a:r>
            <a:r>
              <a:rPr b="0" i="0" lang="en-US" sz="1800" u="none" cap="none" strike="noStrike">
                <a:solidFill>
                  <a:srgbClr val="3A4253"/>
                </a:solidFill>
                <a:latin typeface="Helvetica Neue"/>
                <a:ea typeface="Helvetica Neue"/>
                <a:cs typeface="Helvetica Neue"/>
                <a:sym typeface="Helvetica Neue"/>
              </a:rPr>
              <a:t>Re-run from a Lambda on a schedule</a:t>
            </a:r>
            <a:endParaRPr b="0" i="0" sz="1800" u="none" cap="none" strike="noStrike">
              <a:solidFill>
                <a:schemeClr val="dk1"/>
              </a:solidFill>
              <a:latin typeface="Calibri"/>
              <a:ea typeface="Calibri"/>
              <a:cs typeface="Calibri"/>
              <a:sym typeface="Calibri"/>
            </a:endParaRPr>
          </a:p>
        </p:txBody>
      </p:sp>
      <p:sp>
        <p:nvSpPr>
          <p:cNvPr id="278" name="Google Shape;278;p10"/>
          <p:cNvSpPr/>
          <p:nvPr/>
        </p:nvSpPr>
        <p:spPr>
          <a:xfrm>
            <a:off x="11261378" y="5076825"/>
            <a:ext cx="6452561"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800"/>
              <a:buFont typeface="Helvetica Neue"/>
              <a:buNone/>
            </a:pPr>
            <a:r>
              <a:rPr b="1" i="0" lang="en-US" sz="1800" u="none" cap="none" strike="noStrike">
                <a:solidFill>
                  <a:srgbClr val="232F3E"/>
                </a:solidFill>
                <a:latin typeface="Helvetica Neue"/>
                <a:ea typeface="Helvetica Neue"/>
                <a:cs typeface="Helvetica Neue"/>
                <a:sym typeface="Helvetica Neue"/>
              </a:rPr>
              <a:t>↳ </a:t>
            </a:r>
            <a:r>
              <a:rPr b="0" i="0" lang="en-US" sz="1800" u="none" cap="none" strike="noStrike">
                <a:solidFill>
                  <a:srgbClr val="3A4253"/>
                </a:solidFill>
                <a:latin typeface="Helvetica Neue"/>
                <a:ea typeface="Helvetica Neue"/>
                <a:cs typeface="Helvetica Neue"/>
                <a:sym typeface="Helvetica Neue"/>
              </a:rPr>
              <a:t>Version it in git, plug into CI</a:t>
            </a:r>
            <a:endParaRPr b="0" i="0" sz="1800" u="none" cap="none" strike="noStrike">
              <a:solidFill>
                <a:schemeClr val="dk1"/>
              </a:solidFill>
              <a:latin typeface="Calibri"/>
              <a:ea typeface="Calibri"/>
              <a:cs typeface="Calibri"/>
              <a:sym typeface="Calibri"/>
            </a:endParaRPr>
          </a:p>
        </p:txBody>
      </p:sp>
      <p:sp>
        <p:nvSpPr>
          <p:cNvPr id="279" name="Google Shape;279;p10"/>
          <p:cNvSpPr/>
          <p:nvPr/>
        </p:nvSpPr>
        <p:spPr>
          <a:xfrm>
            <a:off x="11261378" y="5629275"/>
            <a:ext cx="6452561"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800"/>
              <a:buFont typeface="Helvetica Neue"/>
              <a:buNone/>
            </a:pPr>
            <a:r>
              <a:rPr b="1" i="0" lang="en-US" sz="1800" u="none" cap="none" strike="noStrike">
                <a:solidFill>
                  <a:srgbClr val="232F3E"/>
                </a:solidFill>
                <a:latin typeface="Helvetica Neue"/>
                <a:ea typeface="Helvetica Neue"/>
                <a:cs typeface="Helvetica Neue"/>
                <a:sym typeface="Helvetica Neue"/>
              </a:rPr>
              <a:t>↳ </a:t>
            </a:r>
            <a:r>
              <a:rPr b="0" i="0" lang="en-US" sz="1800" u="none" cap="none" strike="noStrike">
                <a:solidFill>
                  <a:srgbClr val="3A4253"/>
                </a:solidFill>
                <a:latin typeface="Helvetica Neue"/>
                <a:ea typeface="Helvetica Neue"/>
                <a:cs typeface="Helvetica Neue"/>
                <a:sym typeface="Helvetica Neue"/>
              </a:rPr>
              <a:t>Swap algorithms with a one-line change</a:t>
            </a:r>
            <a:endParaRPr b="0" i="0" sz="1800" u="none" cap="none" strike="noStrike">
              <a:solidFill>
                <a:schemeClr val="dk1"/>
              </a:solidFill>
              <a:latin typeface="Calibri"/>
              <a:ea typeface="Calibri"/>
              <a:cs typeface="Calibri"/>
              <a:sym typeface="Calibri"/>
            </a:endParaRPr>
          </a:p>
        </p:txBody>
      </p:sp>
      <p:sp>
        <p:nvSpPr>
          <p:cNvPr id="280" name="Google Shape;280;p10"/>
          <p:cNvSpPr/>
          <p:nvPr/>
        </p:nvSpPr>
        <p:spPr>
          <a:xfrm>
            <a:off x="11261378" y="6181725"/>
            <a:ext cx="6452561"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800"/>
              <a:buFont typeface="Helvetica Neue"/>
              <a:buNone/>
            </a:pPr>
            <a:r>
              <a:rPr b="1" i="0" lang="en-US" sz="1800" u="none" cap="none" strike="noStrike">
                <a:solidFill>
                  <a:srgbClr val="232F3E"/>
                </a:solidFill>
                <a:latin typeface="Helvetica Neue"/>
                <a:ea typeface="Helvetica Neue"/>
                <a:cs typeface="Helvetica Neue"/>
                <a:sym typeface="Helvetica Neue"/>
              </a:rPr>
              <a:t>↳ </a:t>
            </a:r>
            <a:r>
              <a:rPr b="0" i="0" lang="en-US" sz="1800" u="none" cap="none" strike="noStrike">
                <a:solidFill>
                  <a:srgbClr val="3A4253"/>
                </a:solidFill>
                <a:latin typeface="Helvetica Neue"/>
                <a:ea typeface="Helvetica Neue"/>
                <a:cs typeface="Helvetica Neue"/>
                <a:sym typeface="Helvetica Neue"/>
              </a:rPr>
              <a:t>Tune hyperparameters via SageMaker HPO</a:t>
            </a:r>
            <a:endParaRPr b="0" i="0" sz="1800" u="none" cap="none" strike="noStrike">
              <a:solidFill>
                <a:schemeClr val="dk1"/>
              </a:solidFill>
              <a:latin typeface="Calibri"/>
              <a:ea typeface="Calibri"/>
              <a:cs typeface="Calibri"/>
              <a:sym typeface="Calibri"/>
            </a:endParaRPr>
          </a:p>
        </p:txBody>
      </p:sp>
      <p:sp>
        <p:nvSpPr>
          <p:cNvPr id="281" name="Google Shape;281;p10"/>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282" name="Google Shape;282;p10"/>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10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87" name="Shape 287"/>
        <p:cNvGrpSpPr/>
        <p:nvPr/>
      </p:nvGrpSpPr>
      <p:grpSpPr>
        <a:xfrm>
          <a:off x="0" y="0"/>
          <a:ext cx="0" cy="0"/>
          <a:chOff x="0" y="0"/>
          <a:chExt cx="0" cy="0"/>
        </a:xfrm>
      </p:grpSpPr>
      <p:sp>
        <p:nvSpPr>
          <p:cNvPr id="288" name="Google Shape;288;p11"/>
          <p:cNvSpPr/>
          <p:nvPr/>
        </p:nvSpPr>
        <p:spPr>
          <a:xfrm>
            <a:off x="762000" y="457200"/>
            <a:ext cx="2161729"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11 · ALGORITHMS</a:t>
            </a:r>
            <a:endParaRPr b="0" i="0" sz="1350" u="none" cap="none" strike="noStrike">
              <a:solidFill>
                <a:schemeClr val="dk1"/>
              </a:solidFill>
              <a:latin typeface="Calibri"/>
              <a:ea typeface="Calibri"/>
              <a:cs typeface="Calibri"/>
              <a:sym typeface="Calibri"/>
            </a:endParaRPr>
          </a:p>
        </p:txBody>
      </p:sp>
      <p:sp>
        <p:nvSpPr>
          <p:cNvPr id="289" name="Google Shape;289;p11"/>
          <p:cNvSpPr/>
          <p:nvPr/>
        </p:nvSpPr>
        <p:spPr>
          <a:xfrm>
            <a:off x="15577691" y="457200"/>
            <a:ext cx="2024509"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DALIBOR</a:t>
            </a:r>
            <a:endParaRPr b="0" i="0" sz="1350" u="none" cap="none" strike="noStrike">
              <a:solidFill>
                <a:schemeClr val="dk1"/>
              </a:solidFill>
              <a:latin typeface="Calibri"/>
              <a:ea typeface="Calibri"/>
              <a:cs typeface="Calibri"/>
              <a:sym typeface="Calibri"/>
            </a:endParaRPr>
          </a:p>
        </p:txBody>
      </p:sp>
      <p:sp>
        <p:nvSpPr>
          <p:cNvPr id="290" name="Google Shape;290;p11"/>
          <p:cNvSpPr/>
          <p:nvPr/>
        </p:nvSpPr>
        <p:spPr>
          <a:xfrm>
            <a:off x="762000" y="1524000"/>
            <a:ext cx="14127480" cy="123825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4500"/>
              <a:buFont typeface="Helvetica Neue"/>
              <a:buNone/>
            </a:pPr>
            <a:r>
              <a:rPr b="1" lang="en-US" sz="4500">
                <a:solidFill>
                  <a:srgbClr val="232F3E"/>
                </a:solidFill>
                <a:latin typeface="Helvetica Neue"/>
                <a:ea typeface="Helvetica Neue"/>
                <a:cs typeface="Helvetica Neue"/>
                <a:sym typeface="Helvetica Neue"/>
              </a:rPr>
              <a:t>20+ built-in algorithms. Here are the ones you'll see most.  </a:t>
            </a:r>
            <a:endParaRPr b="0" i="0" sz="4500" u="none" cap="none" strike="noStrike">
              <a:solidFill>
                <a:schemeClr val="dk1"/>
              </a:solidFill>
              <a:latin typeface="Calibri"/>
              <a:ea typeface="Calibri"/>
              <a:cs typeface="Calibri"/>
              <a:sym typeface="Calibri"/>
            </a:endParaRPr>
          </a:p>
        </p:txBody>
      </p:sp>
      <p:sp>
        <p:nvSpPr>
          <p:cNvPr id="291" name="Google Shape;291;p11"/>
          <p:cNvSpPr/>
          <p:nvPr/>
        </p:nvSpPr>
        <p:spPr>
          <a:xfrm>
            <a:off x="762000" y="3781425"/>
            <a:ext cx="3687961"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952500" y="3371850"/>
            <a:ext cx="3417600"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lang="en-US" sz="1650">
                <a:solidFill>
                  <a:srgbClr val="232F3E"/>
                </a:solidFill>
                <a:latin typeface="Helvetica Neue"/>
                <a:ea typeface="Helvetica Neue"/>
                <a:cs typeface="Helvetica Neue"/>
                <a:sym typeface="Helvetica Neue"/>
              </a:rPr>
              <a:t>CATEGORY </a:t>
            </a:r>
            <a:endParaRPr b="0" i="0" sz="1650" u="none" cap="none" strike="noStrike">
              <a:solidFill>
                <a:schemeClr val="dk1"/>
              </a:solidFill>
              <a:latin typeface="Calibri"/>
              <a:ea typeface="Calibri"/>
              <a:cs typeface="Calibri"/>
              <a:sym typeface="Calibri"/>
            </a:endParaRPr>
          </a:p>
        </p:txBody>
      </p:sp>
      <p:sp>
        <p:nvSpPr>
          <p:cNvPr id="293" name="Google Shape;293;p11"/>
          <p:cNvSpPr/>
          <p:nvPr/>
        </p:nvSpPr>
        <p:spPr>
          <a:xfrm>
            <a:off x="4449961" y="3781425"/>
            <a:ext cx="4358580"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4640461" y="3371850"/>
            <a:ext cx="4108338"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lang="en-US" sz="1650">
                <a:solidFill>
                  <a:srgbClr val="232F3E"/>
                </a:solidFill>
                <a:latin typeface="Helvetica Neue"/>
                <a:ea typeface="Helvetica Neue"/>
                <a:cs typeface="Helvetica Neue"/>
                <a:sym typeface="Helvetica Neue"/>
              </a:rPr>
              <a:t>ALGORITHMS</a:t>
            </a:r>
            <a:endParaRPr b="0" i="0" sz="1650" u="none" cap="none" strike="noStrike">
              <a:solidFill>
                <a:schemeClr val="dk1"/>
              </a:solidFill>
              <a:latin typeface="Calibri"/>
              <a:ea typeface="Calibri"/>
              <a:cs typeface="Calibri"/>
              <a:sym typeface="Calibri"/>
            </a:endParaRPr>
          </a:p>
        </p:txBody>
      </p:sp>
      <p:sp>
        <p:nvSpPr>
          <p:cNvPr id="295" name="Google Shape;295;p11"/>
          <p:cNvSpPr/>
          <p:nvPr/>
        </p:nvSpPr>
        <p:spPr>
          <a:xfrm>
            <a:off x="8808541" y="3781425"/>
            <a:ext cx="6034980"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9979816" y="3343275"/>
            <a:ext cx="5835000" cy="2763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lang="en-US" sz="1650">
                <a:solidFill>
                  <a:srgbClr val="232F3E"/>
                </a:solidFill>
                <a:latin typeface="Helvetica Neue"/>
                <a:ea typeface="Helvetica Neue"/>
                <a:cs typeface="Helvetica Neue"/>
                <a:sym typeface="Helvetica Neue"/>
              </a:rPr>
              <a:t>USE CASE </a:t>
            </a:r>
            <a:endParaRPr b="0" i="0" sz="1650" u="none" cap="none" strike="noStrike">
              <a:solidFill>
                <a:schemeClr val="dk1"/>
              </a:solidFill>
              <a:latin typeface="Calibri"/>
              <a:ea typeface="Calibri"/>
              <a:cs typeface="Calibri"/>
              <a:sym typeface="Calibri"/>
            </a:endParaRPr>
          </a:p>
        </p:txBody>
      </p:sp>
      <p:sp>
        <p:nvSpPr>
          <p:cNvPr id="297" name="Google Shape;297;p11"/>
          <p:cNvSpPr/>
          <p:nvPr/>
        </p:nvSpPr>
        <p:spPr>
          <a:xfrm>
            <a:off x="14843522" y="3781425"/>
            <a:ext cx="2682478"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762000" y="4814888"/>
            <a:ext cx="3687961"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952500" y="4019550"/>
            <a:ext cx="1113681" cy="3333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General purpose </a:t>
            </a:r>
            <a:endParaRPr b="0" i="0" sz="2100" u="none" cap="none" strike="noStrike">
              <a:solidFill>
                <a:schemeClr val="dk1"/>
              </a:solidFill>
              <a:latin typeface="Calibri"/>
              <a:ea typeface="Calibri"/>
              <a:cs typeface="Calibri"/>
              <a:sym typeface="Calibri"/>
            </a:endParaRPr>
          </a:p>
        </p:txBody>
      </p:sp>
      <p:sp>
        <p:nvSpPr>
          <p:cNvPr id="300" name="Google Shape;300;p11"/>
          <p:cNvSpPr/>
          <p:nvPr/>
        </p:nvSpPr>
        <p:spPr>
          <a:xfrm>
            <a:off x="4449961" y="4814888"/>
            <a:ext cx="435858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1"/>
          <p:cNvSpPr/>
          <p:nvPr/>
        </p:nvSpPr>
        <p:spPr>
          <a:xfrm>
            <a:off x="4640448" y="4010025"/>
            <a:ext cx="4822800" cy="633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XGBoost, Linear Learner, AutoGluon-Tabular, CatBoost </a:t>
            </a:r>
            <a:endParaRPr b="0" i="0" sz="1950" u="none" cap="none" strike="noStrike">
              <a:solidFill>
                <a:schemeClr val="dk1"/>
              </a:solidFill>
              <a:latin typeface="Calibri"/>
              <a:ea typeface="Calibri"/>
              <a:cs typeface="Calibri"/>
              <a:sym typeface="Calibri"/>
            </a:endParaRPr>
          </a:p>
        </p:txBody>
      </p:sp>
      <p:sp>
        <p:nvSpPr>
          <p:cNvPr id="302" name="Google Shape;302;p11"/>
          <p:cNvSpPr/>
          <p:nvPr/>
        </p:nvSpPr>
        <p:spPr>
          <a:xfrm>
            <a:off x="8808541" y="4814888"/>
            <a:ext cx="603498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9979791" y="3990975"/>
            <a:ext cx="5835000" cy="633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Classification &amp; regression on tabular data </a:t>
            </a:r>
            <a:endParaRPr b="0" i="0" sz="1950" u="none" cap="none" strike="noStrike">
              <a:solidFill>
                <a:schemeClr val="dk1"/>
              </a:solidFill>
              <a:latin typeface="Calibri"/>
              <a:ea typeface="Calibri"/>
              <a:cs typeface="Calibri"/>
              <a:sym typeface="Calibri"/>
            </a:endParaRPr>
          </a:p>
        </p:txBody>
      </p:sp>
      <p:sp>
        <p:nvSpPr>
          <p:cNvPr id="304" name="Google Shape;304;p11"/>
          <p:cNvSpPr/>
          <p:nvPr/>
        </p:nvSpPr>
        <p:spPr>
          <a:xfrm>
            <a:off x="14843522" y="4814888"/>
            <a:ext cx="2682478"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762000" y="5767388"/>
            <a:ext cx="3687961"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952500" y="5038725"/>
            <a:ext cx="1754400" cy="333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Time series </a:t>
            </a:r>
            <a:endParaRPr b="0" i="0" sz="2100" u="none" cap="none" strike="noStrike">
              <a:solidFill>
                <a:schemeClr val="dk1"/>
              </a:solidFill>
              <a:latin typeface="Calibri"/>
              <a:ea typeface="Calibri"/>
              <a:cs typeface="Calibri"/>
              <a:sym typeface="Calibri"/>
            </a:endParaRPr>
          </a:p>
        </p:txBody>
      </p:sp>
      <p:sp>
        <p:nvSpPr>
          <p:cNvPr id="307" name="Google Shape;307;p11"/>
          <p:cNvSpPr/>
          <p:nvPr/>
        </p:nvSpPr>
        <p:spPr>
          <a:xfrm>
            <a:off x="4449961" y="5767388"/>
            <a:ext cx="435858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4640461" y="5033963"/>
            <a:ext cx="4108338" cy="561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DeepAR </a:t>
            </a:r>
            <a:endParaRPr b="0" i="0" sz="1950" u="none" cap="none" strike="noStrike">
              <a:solidFill>
                <a:schemeClr val="dk1"/>
              </a:solidFill>
              <a:latin typeface="Calibri"/>
              <a:ea typeface="Calibri"/>
              <a:cs typeface="Calibri"/>
              <a:sym typeface="Calibri"/>
            </a:endParaRPr>
          </a:p>
        </p:txBody>
      </p:sp>
      <p:sp>
        <p:nvSpPr>
          <p:cNvPr id="309" name="Google Shape;309;p11"/>
          <p:cNvSpPr/>
          <p:nvPr/>
        </p:nvSpPr>
        <p:spPr>
          <a:xfrm>
            <a:off x="8808541" y="5767388"/>
            <a:ext cx="603498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9979829" y="5014963"/>
            <a:ext cx="5835000" cy="561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Forecasting (next slide) </a:t>
            </a:r>
            <a:endParaRPr b="0" i="0" sz="1950" u="none" cap="none" strike="noStrike">
              <a:solidFill>
                <a:schemeClr val="dk1"/>
              </a:solidFill>
              <a:latin typeface="Calibri"/>
              <a:ea typeface="Calibri"/>
              <a:cs typeface="Calibri"/>
              <a:sym typeface="Calibri"/>
            </a:endParaRPr>
          </a:p>
        </p:txBody>
      </p:sp>
      <p:sp>
        <p:nvSpPr>
          <p:cNvPr id="311" name="Google Shape;311;p11"/>
          <p:cNvSpPr/>
          <p:nvPr/>
        </p:nvSpPr>
        <p:spPr>
          <a:xfrm>
            <a:off x="14843522" y="5767388"/>
            <a:ext cx="2682478"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762000" y="6719888"/>
            <a:ext cx="3687961"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1"/>
          <p:cNvSpPr/>
          <p:nvPr/>
        </p:nvSpPr>
        <p:spPr>
          <a:xfrm>
            <a:off x="952500" y="5991225"/>
            <a:ext cx="2286000" cy="6249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Unsupervised </a:t>
            </a:r>
            <a:endParaRPr b="0" i="0" sz="2100" u="none" cap="none" strike="noStrike">
              <a:solidFill>
                <a:schemeClr val="dk1"/>
              </a:solidFill>
              <a:latin typeface="Calibri"/>
              <a:ea typeface="Calibri"/>
              <a:cs typeface="Calibri"/>
              <a:sym typeface="Calibri"/>
            </a:endParaRPr>
          </a:p>
        </p:txBody>
      </p:sp>
      <p:sp>
        <p:nvSpPr>
          <p:cNvPr id="314" name="Google Shape;314;p11"/>
          <p:cNvSpPr/>
          <p:nvPr/>
        </p:nvSpPr>
        <p:spPr>
          <a:xfrm>
            <a:off x="4449961" y="6719888"/>
            <a:ext cx="435858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4640461" y="5986463"/>
            <a:ext cx="4108338" cy="5619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K-Means, PCA, Random Cut Forest </a:t>
            </a:r>
            <a:endParaRPr b="0" i="0" sz="1950" u="none" cap="none" strike="noStrike">
              <a:solidFill>
                <a:schemeClr val="dk1"/>
              </a:solidFill>
              <a:latin typeface="Calibri"/>
              <a:ea typeface="Calibri"/>
              <a:cs typeface="Calibri"/>
              <a:sym typeface="Calibri"/>
            </a:endParaRPr>
          </a:p>
        </p:txBody>
      </p:sp>
      <p:sp>
        <p:nvSpPr>
          <p:cNvPr id="316" name="Google Shape;316;p11"/>
          <p:cNvSpPr/>
          <p:nvPr/>
        </p:nvSpPr>
        <p:spPr>
          <a:xfrm>
            <a:off x="8808541" y="6719888"/>
            <a:ext cx="6034980"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9979791" y="5867438"/>
            <a:ext cx="5835000" cy="561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Clustering, dimensionality reduction, anomaly detection </a:t>
            </a:r>
            <a:endParaRPr b="0" i="0" sz="1950" u="none" cap="none" strike="noStrike">
              <a:solidFill>
                <a:schemeClr val="dk1"/>
              </a:solidFill>
              <a:latin typeface="Calibri"/>
              <a:ea typeface="Calibri"/>
              <a:cs typeface="Calibri"/>
              <a:sym typeface="Calibri"/>
            </a:endParaRPr>
          </a:p>
        </p:txBody>
      </p:sp>
      <p:sp>
        <p:nvSpPr>
          <p:cNvPr id="318" name="Google Shape;318;p11"/>
          <p:cNvSpPr/>
          <p:nvPr/>
        </p:nvSpPr>
        <p:spPr>
          <a:xfrm>
            <a:off x="14843522" y="6719888"/>
            <a:ext cx="26826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952500" y="6943725"/>
            <a:ext cx="2161800" cy="3333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Text / NLP </a:t>
            </a:r>
            <a:endParaRPr b="0" i="0" sz="2100" u="none" cap="none" strike="noStrike">
              <a:solidFill>
                <a:schemeClr val="dk1"/>
              </a:solidFill>
              <a:latin typeface="Calibri"/>
              <a:ea typeface="Calibri"/>
              <a:cs typeface="Calibri"/>
              <a:sym typeface="Calibri"/>
            </a:endParaRPr>
          </a:p>
        </p:txBody>
      </p:sp>
      <p:sp>
        <p:nvSpPr>
          <p:cNvPr id="320" name="Google Shape;320;p11"/>
          <p:cNvSpPr/>
          <p:nvPr/>
        </p:nvSpPr>
        <p:spPr>
          <a:xfrm>
            <a:off x="4640461" y="6938963"/>
            <a:ext cx="4108338" cy="56673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BlazingText, Seq2Seq, LDA </a:t>
            </a:r>
            <a:endParaRPr b="0" i="0" sz="1950" u="none" cap="none" strike="noStrike">
              <a:solidFill>
                <a:schemeClr val="dk1"/>
              </a:solidFill>
              <a:latin typeface="Calibri"/>
              <a:ea typeface="Calibri"/>
              <a:cs typeface="Calibri"/>
              <a:sym typeface="Calibri"/>
            </a:endParaRPr>
          </a:p>
        </p:txBody>
      </p:sp>
      <p:sp>
        <p:nvSpPr>
          <p:cNvPr id="321" name="Google Shape;321;p11"/>
          <p:cNvSpPr/>
          <p:nvPr/>
        </p:nvSpPr>
        <p:spPr>
          <a:xfrm>
            <a:off x="9979804" y="6886401"/>
            <a:ext cx="5835000" cy="566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Word embeddings, translation, topic modeling </a:t>
            </a:r>
            <a:endParaRPr b="0" i="0" sz="1950" u="none" cap="none" strike="noStrike">
              <a:solidFill>
                <a:schemeClr val="dk1"/>
              </a:solidFill>
              <a:latin typeface="Calibri"/>
              <a:ea typeface="Calibri"/>
              <a:cs typeface="Calibri"/>
              <a:sym typeface="Calibri"/>
            </a:endParaRPr>
          </a:p>
        </p:txBody>
      </p:sp>
      <p:sp>
        <p:nvSpPr>
          <p:cNvPr id="322" name="Google Shape;322;p11"/>
          <p:cNvSpPr/>
          <p:nvPr/>
        </p:nvSpPr>
        <p:spPr>
          <a:xfrm>
            <a:off x="762000" y="8463851"/>
            <a:ext cx="16764000" cy="1238400"/>
          </a:xfrm>
          <a:prstGeom prst="roundRect">
            <a:avLst>
              <a:gd fmla="val 6076"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1114425" y="8547888"/>
            <a:ext cx="16540800" cy="276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lang="en-US" sz="1650">
                <a:solidFill>
                  <a:srgbClr val="FF9900"/>
                </a:solidFill>
                <a:latin typeface="Courier New"/>
                <a:ea typeface="Courier New"/>
                <a:cs typeface="Courier New"/>
                <a:sym typeface="Courier New"/>
              </a:rPr>
              <a:t>NOT BUILT-IN — DIFFERENT SERVICES </a:t>
            </a:r>
            <a:endParaRPr b="0" i="0" sz="1650" u="none" cap="none" strike="noStrike">
              <a:solidFill>
                <a:schemeClr val="dk1"/>
              </a:solidFill>
              <a:latin typeface="Calibri"/>
              <a:ea typeface="Calibri"/>
              <a:cs typeface="Calibri"/>
              <a:sym typeface="Calibri"/>
            </a:endParaRPr>
          </a:p>
        </p:txBody>
      </p:sp>
      <p:sp>
        <p:nvSpPr>
          <p:cNvPr id="324" name="Google Shape;324;p11"/>
          <p:cNvSpPr/>
          <p:nvPr/>
        </p:nvSpPr>
        <p:spPr>
          <a:xfrm>
            <a:off x="1114425" y="9117490"/>
            <a:ext cx="3958800" cy="3333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232F3E"/>
              </a:buClr>
              <a:buSzPts val="1650"/>
              <a:buFont typeface="Helvetica Neue"/>
              <a:buNone/>
            </a:pPr>
            <a:r>
              <a:rPr lang="en-US" sz="1800">
                <a:solidFill>
                  <a:schemeClr val="dk1"/>
                </a:solidFill>
                <a:latin typeface="Helvetica Neue"/>
                <a:ea typeface="Helvetica Neue"/>
                <a:cs typeface="Helvetica Neue"/>
                <a:sym typeface="Helvetica Neue"/>
              </a:rPr>
              <a:t>LLMs / generative AI → </a:t>
            </a:r>
            <a:r>
              <a:rPr b="1" lang="en-US" sz="1800">
                <a:solidFill>
                  <a:schemeClr val="dk1"/>
                </a:solidFill>
                <a:latin typeface="Helvetica Neue"/>
                <a:ea typeface="Helvetica Neue"/>
                <a:cs typeface="Helvetica Neue"/>
                <a:sym typeface="Helvetica Neue"/>
              </a:rPr>
              <a:t>Bedrock </a:t>
            </a:r>
            <a:endParaRPr b="1" i="0" sz="2350" u="none" cap="none" strike="noStrike">
              <a:solidFill>
                <a:schemeClr val="dk1"/>
              </a:solidFill>
              <a:latin typeface="Helvetica Neue"/>
              <a:ea typeface="Helvetica Neue"/>
              <a:cs typeface="Helvetica Neue"/>
              <a:sym typeface="Helvetica Neue"/>
            </a:endParaRPr>
          </a:p>
        </p:txBody>
      </p:sp>
      <p:sp>
        <p:nvSpPr>
          <p:cNvPr id="325" name="Google Shape;325;p11"/>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326" name="Google Shape;326;p11"/>
          <p:cNvSpPr/>
          <p:nvPr/>
        </p:nvSpPr>
        <p:spPr>
          <a:xfrm>
            <a:off x="16942296" y="9744075"/>
            <a:ext cx="65990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11 / 17</a:t>
            </a:r>
            <a:endParaRPr b="0" i="0" sz="1350" u="none" cap="none" strike="noStrike">
              <a:solidFill>
                <a:schemeClr val="dk1"/>
              </a:solidFill>
              <a:latin typeface="Calibri"/>
              <a:ea typeface="Calibri"/>
              <a:cs typeface="Calibri"/>
              <a:sym typeface="Calibri"/>
            </a:endParaRPr>
          </a:p>
        </p:txBody>
      </p:sp>
      <p:sp>
        <p:nvSpPr>
          <p:cNvPr id="327" name="Google Shape;327;p11"/>
          <p:cNvSpPr/>
          <p:nvPr/>
        </p:nvSpPr>
        <p:spPr>
          <a:xfrm>
            <a:off x="952500" y="7679525"/>
            <a:ext cx="21618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Vision </a:t>
            </a:r>
            <a:r>
              <a:rPr b="1" lang="en-US" sz="2100">
                <a:solidFill>
                  <a:srgbClr val="232F3E"/>
                </a:solidFill>
                <a:latin typeface="Helvetica Neue"/>
                <a:ea typeface="Helvetica Neue"/>
                <a:cs typeface="Helvetica Neue"/>
                <a:sym typeface="Helvetica Neue"/>
              </a:rPr>
              <a:t> </a:t>
            </a:r>
            <a:endParaRPr b="0" i="0" sz="2100" u="none" cap="none" strike="noStrike">
              <a:solidFill>
                <a:schemeClr val="dk1"/>
              </a:solidFill>
              <a:latin typeface="Calibri"/>
              <a:ea typeface="Calibri"/>
              <a:cs typeface="Calibri"/>
              <a:sym typeface="Calibri"/>
            </a:endParaRPr>
          </a:p>
        </p:txBody>
      </p:sp>
      <p:sp>
        <p:nvSpPr>
          <p:cNvPr id="328" name="Google Shape;328;p11"/>
          <p:cNvSpPr/>
          <p:nvPr/>
        </p:nvSpPr>
        <p:spPr>
          <a:xfrm>
            <a:off x="4640461" y="7674763"/>
            <a:ext cx="4108200" cy="5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Image Classification, Object Detection, Semantic Segmentation </a:t>
            </a:r>
            <a:endParaRPr b="0" i="0" sz="1950" u="none" cap="none" strike="noStrike">
              <a:solidFill>
                <a:schemeClr val="dk1"/>
              </a:solidFill>
              <a:latin typeface="Calibri"/>
              <a:ea typeface="Calibri"/>
              <a:cs typeface="Calibri"/>
              <a:sym typeface="Calibri"/>
            </a:endParaRPr>
          </a:p>
        </p:txBody>
      </p:sp>
      <p:sp>
        <p:nvSpPr>
          <p:cNvPr id="329" name="Google Shape;329;p11"/>
          <p:cNvSpPr/>
          <p:nvPr/>
        </p:nvSpPr>
        <p:spPr>
          <a:xfrm>
            <a:off x="9979804" y="7675113"/>
            <a:ext cx="5835000" cy="5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Image labeling, object detection, pixel-level tagging </a:t>
            </a:r>
            <a:endParaRPr b="0" i="0" sz="1950" u="none" cap="none" strike="noStrike">
              <a:solidFill>
                <a:schemeClr val="dk1"/>
              </a:solidFill>
              <a:latin typeface="Calibri"/>
              <a:ea typeface="Calibri"/>
              <a:cs typeface="Calibri"/>
              <a:sym typeface="Calibri"/>
            </a:endParaRPr>
          </a:p>
        </p:txBody>
      </p:sp>
      <p:sp>
        <p:nvSpPr>
          <p:cNvPr id="330" name="Google Shape;330;p11"/>
          <p:cNvSpPr/>
          <p:nvPr/>
        </p:nvSpPr>
        <p:spPr>
          <a:xfrm>
            <a:off x="7069089" y="9130625"/>
            <a:ext cx="8508600" cy="3333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32F3E"/>
              </a:buClr>
              <a:buSzPts val="1650"/>
              <a:buFont typeface="Helvetica Neue"/>
              <a:buNone/>
            </a:pPr>
            <a:r>
              <a:rPr lang="en-US" sz="1800">
                <a:solidFill>
                  <a:schemeClr val="dk1"/>
                </a:solidFill>
                <a:latin typeface="Helvetica Neue Light"/>
                <a:ea typeface="Helvetica Neue Light"/>
                <a:cs typeface="Helvetica Neue Light"/>
                <a:sym typeface="Helvetica Neue Light"/>
              </a:rPr>
              <a:t>Pre-trained models (Hugging Face, Stable Diffusion, etc.) → </a:t>
            </a:r>
            <a:r>
              <a:rPr b="1" lang="en-US" sz="1800">
                <a:solidFill>
                  <a:schemeClr val="dk1"/>
                </a:solidFill>
                <a:latin typeface="Helvetica Neue"/>
                <a:ea typeface="Helvetica Neue"/>
                <a:cs typeface="Helvetica Neue"/>
                <a:sym typeface="Helvetica Neue"/>
              </a:rPr>
              <a:t>JumpStart </a:t>
            </a:r>
            <a:endParaRPr b="1" i="0" sz="305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35" name="Shape 335"/>
        <p:cNvGrpSpPr/>
        <p:nvPr/>
      </p:nvGrpSpPr>
      <p:grpSpPr>
        <a:xfrm>
          <a:off x="0" y="0"/>
          <a:ext cx="0" cy="0"/>
          <a:chOff x="0" y="0"/>
          <a:chExt cx="0" cy="0"/>
        </a:xfrm>
      </p:grpSpPr>
      <p:sp>
        <p:nvSpPr>
          <p:cNvPr id="336" name="Google Shape;336;g3e0832b152f_12_15"/>
          <p:cNvSpPr/>
          <p:nvPr/>
        </p:nvSpPr>
        <p:spPr>
          <a:xfrm>
            <a:off x="762000" y="457200"/>
            <a:ext cx="21618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1</a:t>
            </a:r>
            <a:r>
              <a:rPr b="1" lang="en-US" sz="1350">
                <a:solidFill>
                  <a:srgbClr val="232F3E"/>
                </a:solidFill>
                <a:latin typeface="Helvetica Neue"/>
                <a:ea typeface="Helvetica Neue"/>
                <a:cs typeface="Helvetica Neue"/>
                <a:sym typeface="Helvetica Neue"/>
              </a:rPr>
              <a:t>2</a:t>
            </a:r>
            <a:r>
              <a:rPr b="1" i="0" lang="en-US" sz="1350" u="none" cap="none" strike="noStrike">
                <a:solidFill>
                  <a:srgbClr val="232F3E"/>
                </a:solidFill>
                <a:latin typeface="Helvetica Neue"/>
                <a:ea typeface="Helvetica Neue"/>
                <a:cs typeface="Helvetica Neue"/>
                <a:sym typeface="Helvetica Neue"/>
              </a:rPr>
              <a:t> · </a:t>
            </a:r>
            <a:r>
              <a:rPr b="1" lang="en-US" sz="1350">
                <a:solidFill>
                  <a:srgbClr val="232F3E"/>
                </a:solidFill>
                <a:latin typeface="Helvetica Neue"/>
                <a:ea typeface="Helvetica Neue"/>
                <a:cs typeface="Helvetica Neue"/>
                <a:sym typeface="Helvetica Neue"/>
              </a:rPr>
              <a:t>TIME SERIES </a:t>
            </a:r>
            <a:endParaRPr b="0" i="0" sz="1350" u="none" cap="none" strike="noStrike">
              <a:solidFill>
                <a:schemeClr val="dk1"/>
              </a:solidFill>
              <a:latin typeface="Calibri"/>
              <a:ea typeface="Calibri"/>
              <a:cs typeface="Calibri"/>
              <a:sym typeface="Calibri"/>
            </a:endParaRPr>
          </a:p>
        </p:txBody>
      </p:sp>
      <p:sp>
        <p:nvSpPr>
          <p:cNvPr id="337" name="Google Shape;337;g3e0832b152f_12_15"/>
          <p:cNvSpPr/>
          <p:nvPr/>
        </p:nvSpPr>
        <p:spPr>
          <a:xfrm>
            <a:off x="15577691" y="457200"/>
            <a:ext cx="20244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DALIBOR</a:t>
            </a:r>
            <a:endParaRPr b="0" i="0" sz="1350" u="none" cap="none" strike="noStrike">
              <a:solidFill>
                <a:schemeClr val="dk1"/>
              </a:solidFill>
              <a:latin typeface="Calibri"/>
              <a:ea typeface="Calibri"/>
              <a:cs typeface="Calibri"/>
              <a:sym typeface="Calibri"/>
            </a:endParaRPr>
          </a:p>
        </p:txBody>
      </p:sp>
      <p:sp>
        <p:nvSpPr>
          <p:cNvPr id="338" name="Google Shape;338;g3e0832b152f_12_15"/>
          <p:cNvSpPr/>
          <p:nvPr/>
        </p:nvSpPr>
        <p:spPr>
          <a:xfrm>
            <a:off x="762000" y="1524000"/>
            <a:ext cx="14127600" cy="1238400"/>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232F3E"/>
              </a:buClr>
              <a:buSzPts val="4500"/>
              <a:buFont typeface="Helvetica Neue"/>
              <a:buNone/>
            </a:pPr>
            <a:r>
              <a:rPr b="1" lang="en-US" sz="4500">
                <a:solidFill>
                  <a:srgbClr val="232F3E"/>
                </a:solidFill>
                <a:latin typeface="Helvetica Neue"/>
                <a:ea typeface="Helvetica Neue"/>
                <a:cs typeface="Helvetica Neue"/>
                <a:sym typeface="Helvetica Neue"/>
              </a:rPr>
              <a:t>One built-in algorithm. One AutoML ensemble. Pick your level of control. </a:t>
            </a:r>
            <a:endParaRPr b="0" i="0" sz="4500" u="none" cap="none" strike="noStrike">
              <a:solidFill>
                <a:schemeClr val="dk1"/>
              </a:solidFill>
              <a:latin typeface="Calibri"/>
              <a:ea typeface="Calibri"/>
              <a:cs typeface="Calibri"/>
              <a:sym typeface="Calibri"/>
            </a:endParaRPr>
          </a:p>
        </p:txBody>
      </p:sp>
      <p:sp>
        <p:nvSpPr>
          <p:cNvPr id="339" name="Google Shape;339;g3e0832b152f_12_15"/>
          <p:cNvSpPr/>
          <p:nvPr/>
        </p:nvSpPr>
        <p:spPr>
          <a:xfrm>
            <a:off x="762000" y="3781425"/>
            <a:ext cx="3687900" cy="1920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3e0832b152f_12_15"/>
          <p:cNvSpPr/>
          <p:nvPr/>
        </p:nvSpPr>
        <p:spPr>
          <a:xfrm>
            <a:off x="952500" y="3371850"/>
            <a:ext cx="3417600" cy="2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232F3E"/>
              </a:buClr>
              <a:buSzPts val="1650"/>
              <a:buFont typeface="Helvetica Neue"/>
              <a:buNone/>
            </a:pPr>
            <a:r>
              <a:rPr b="1" lang="en-US" sz="1650">
                <a:solidFill>
                  <a:srgbClr val="232F3E"/>
                </a:solidFill>
                <a:latin typeface="Helvetica Neue"/>
                <a:ea typeface="Helvetica Neue"/>
                <a:cs typeface="Helvetica Neue"/>
                <a:sym typeface="Helvetica Neue"/>
              </a:rPr>
              <a:t>APPROACH</a:t>
            </a:r>
            <a:endParaRPr b="0" i="0" sz="1650" u="none" cap="none" strike="noStrike">
              <a:solidFill>
                <a:schemeClr val="dk1"/>
              </a:solidFill>
              <a:latin typeface="Calibri"/>
              <a:ea typeface="Calibri"/>
              <a:cs typeface="Calibri"/>
              <a:sym typeface="Calibri"/>
            </a:endParaRPr>
          </a:p>
        </p:txBody>
      </p:sp>
      <p:sp>
        <p:nvSpPr>
          <p:cNvPr id="341" name="Google Shape;341;g3e0832b152f_12_15"/>
          <p:cNvSpPr/>
          <p:nvPr/>
        </p:nvSpPr>
        <p:spPr>
          <a:xfrm>
            <a:off x="4449961" y="3781425"/>
            <a:ext cx="4358700" cy="1920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3e0832b152f_12_15"/>
          <p:cNvSpPr/>
          <p:nvPr/>
        </p:nvSpPr>
        <p:spPr>
          <a:xfrm>
            <a:off x="4640461" y="3371850"/>
            <a:ext cx="4108200" cy="2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232F3E"/>
              </a:buClr>
              <a:buSzPts val="1650"/>
              <a:buFont typeface="Helvetica Neue"/>
              <a:buNone/>
            </a:pPr>
            <a:r>
              <a:rPr b="1" lang="en-US" sz="1650">
                <a:solidFill>
                  <a:srgbClr val="232F3E"/>
                </a:solidFill>
                <a:latin typeface="Helvetica Neue"/>
                <a:ea typeface="Helvetica Neue"/>
                <a:cs typeface="Helvetica Neue"/>
                <a:sym typeface="Helvetica Neue"/>
              </a:rPr>
              <a:t>WHAT IT IS</a:t>
            </a:r>
            <a:endParaRPr b="0" i="0" sz="1650" u="none" cap="none" strike="noStrike">
              <a:solidFill>
                <a:schemeClr val="dk1"/>
              </a:solidFill>
              <a:latin typeface="Calibri"/>
              <a:ea typeface="Calibri"/>
              <a:cs typeface="Calibri"/>
              <a:sym typeface="Calibri"/>
            </a:endParaRPr>
          </a:p>
        </p:txBody>
      </p:sp>
      <p:sp>
        <p:nvSpPr>
          <p:cNvPr id="343" name="Google Shape;343;g3e0832b152f_12_15"/>
          <p:cNvSpPr/>
          <p:nvPr/>
        </p:nvSpPr>
        <p:spPr>
          <a:xfrm>
            <a:off x="8808541" y="3781425"/>
            <a:ext cx="6035100" cy="1920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e0832b152f_12_15"/>
          <p:cNvSpPr/>
          <p:nvPr/>
        </p:nvSpPr>
        <p:spPr>
          <a:xfrm>
            <a:off x="8999041" y="3371850"/>
            <a:ext cx="5835000" cy="2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BEST FOR</a:t>
            </a:r>
            <a:endParaRPr b="0" i="0" sz="1650" u="none" cap="none" strike="noStrike">
              <a:solidFill>
                <a:schemeClr val="dk1"/>
              </a:solidFill>
              <a:latin typeface="Calibri"/>
              <a:ea typeface="Calibri"/>
              <a:cs typeface="Calibri"/>
              <a:sym typeface="Calibri"/>
            </a:endParaRPr>
          </a:p>
        </p:txBody>
      </p:sp>
      <p:sp>
        <p:nvSpPr>
          <p:cNvPr id="345" name="Google Shape;345;g3e0832b152f_12_15"/>
          <p:cNvSpPr/>
          <p:nvPr/>
        </p:nvSpPr>
        <p:spPr>
          <a:xfrm>
            <a:off x="14843522" y="3781425"/>
            <a:ext cx="2682600" cy="1920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e0832b152f_12_15"/>
          <p:cNvSpPr/>
          <p:nvPr/>
        </p:nvSpPr>
        <p:spPr>
          <a:xfrm>
            <a:off x="762000" y="4814888"/>
            <a:ext cx="36879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e0832b152f_12_15"/>
          <p:cNvSpPr/>
          <p:nvPr/>
        </p:nvSpPr>
        <p:spPr>
          <a:xfrm>
            <a:off x="952500" y="4019550"/>
            <a:ext cx="11136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DeepAR</a:t>
            </a:r>
            <a:endParaRPr b="0" i="0" sz="2100" u="none" cap="none" strike="noStrike">
              <a:solidFill>
                <a:schemeClr val="dk1"/>
              </a:solidFill>
              <a:latin typeface="Calibri"/>
              <a:ea typeface="Calibri"/>
              <a:cs typeface="Calibri"/>
              <a:sym typeface="Calibri"/>
            </a:endParaRPr>
          </a:p>
        </p:txBody>
      </p:sp>
      <p:sp>
        <p:nvSpPr>
          <p:cNvPr id="348" name="Google Shape;348;g3e0832b152f_12_15"/>
          <p:cNvSpPr/>
          <p:nvPr/>
        </p:nvSpPr>
        <p:spPr>
          <a:xfrm>
            <a:off x="952500" y="4343400"/>
            <a:ext cx="34062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our pick</a:t>
            </a:r>
            <a:endParaRPr b="0" i="0" sz="1350" u="none" cap="none" strike="noStrike">
              <a:solidFill>
                <a:schemeClr val="dk1"/>
              </a:solidFill>
              <a:latin typeface="Calibri"/>
              <a:ea typeface="Calibri"/>
              <a:cs typeface="Calibri"/>
              <a:sym typeface="Calibri"/>
            </a:endParaRPr>
          </a:p>
        </p:txBody>
      </p:sp>
      <p:sp>
        <p:nvSpPr>
          <p:cNvPr id="349" name="Google Shape;349;g3e0832b152f_12_15"/>
          <p:cNvSpPr/>
          <p:nvPr/>
        </p:nvSpPr>
        <p:spPr>
          <a:xfrm>
            <a:off x="4449961" y="4814888"/>
            <a:ext cx="43587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3e0832b152f_12_15"/>
          <p:cNvSpPr/>
          <p:nvPr/>
        </p:nvSpPr>
        <p:spPr>
          <a:xfrm>
            <a:off x="4640461" y="4010025"/>
            <a:ext cx="4108200" cy="633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RNN-based deep learning forecaster </a:t>
            </a:r>
            <a:endParaRPr b="0" i="0" sz="1950" u="none" cap="none" strike="noStrike">
              <a:solidFill>
                <a:schemeClr val="dk1"/>
              </a:solidFill>
              <a:latin typeface="Calibri"/>
              <a:ea typeface="Calibri"/>
              <a:cs typeface="Calibri"/>
              <a:sym typeface="Calibri"/>
            </a:endParaRPr>
          </a:p>
        </p:txBody>
      </p:sp>
      <p:sp>
        <p:nvSpPr>
          <p:cNvPr id="351" name="Google Shape;351;g3e0832b152f_12_15"/>
          <p:cNvSpPr/>
          <p:nvPr/>
        </p:nvSpPr>
        <p:spPr>
          <a:xfrm>
            <a:off x="8808541" y="4814888"/>
            <a:ext cx="60351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e0832b152f_12_15"/>
          <p:cNvSpPr/>
          <p:nvPr/>
        </p:nvSpPr>
        <p:spPr>
          <a:xfrm>
            <a:off x="8999041" y="4010025"/>
            <a:ext cx="5835000" cy="633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Full control, m</a:t>
            </a:r>
            <a:r>
              <a:rPr b="0" i="0" lang="en-US" sz="1950" u="none" cap="none" strike="noStrike">
                <a:solidFill>
                  <a:srgbClr val="3A4253"/>
                </a:solidFill>
                <a:latin typeface="Helvetica Neue"/>
                <a:ea typeface="Helvetica Neue"/>
                <a:cs typeface="Helvetica Neue"/>
                <a:sym typeface="Helvetica Neue"/>
              </a:rPr>
              <a:t>any related series jointly (e.g. all 4 tickers + sentiment)</a:t>
            </a:r>
            <a:endParaRPr b="0" i="0" sz="1950" u="none" cap="none" strike="noStrike">
              <a:solidFill>
                <a:schemeClr val="dk1"/>
              </a:solidFill>
              <a:latin typeface="Calibri"/>
              <a:ea typeface="Calibri"/>
              <a:cs typeface="Calibri"/>
              <a:sym typeface="Calibri"/>
            </a:endParaRPr>
          </a:p>
        </p:txBody>
      </p:sp>
      <p:sp>
        <p:nvSpPr>
          <p:cNvPr id="353" name="Google Shape;353;g3e0832b152f_12_15"/>
          <p:cNvSpPr/>
          <p:nvPr/>
        </p:nvSpPr>
        <p:spPr>
          <a:xfrm>
            <a:off x="14843522" y="4814888"/>
            <a:ext cx="26826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e0832b152f_12_15"/>
          <p:cNvSpPr/>
          <p:nvPr/>
        </p:nvSpPr>
        <p:spPr>
          <a:xfrm>
            <a:off x="761938" y="6126963"/>
            <a:ext cx="36879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3e0832b152f_12_15"/>
          <p:cNvSpPr/>
          <p:nvPr/>
        </p:nvSpPr>
        <p:spPr>
          <a:xfrm>
            <a:off x="952500" y="5038725"/>
            <a:ext cx="28878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Autopilot ensemble </a:t>
            </a:r>
            <a:endParaRPr b="0" i="0" sz="2100" u="none" cap="none" strike="noStrike">
              <a:solidFill>
                <a:schemeClr val="dk1"/>
              </a:solidFill>
              <a:latin typeface="Calibri"/>
              <a:ea typeface="Calibri"/>
              <a:cs typeface="Calibri"/>
              <a:sym typeface="Calibri"/>
            </a:endParaRPr>
          </a:p>
        </p:txBody>
      </p:sp>
      <p:sp>
        <p:nvSpPr>
          <p:cNvPr id="356" name="Google Shape;356;g3e0832b152f_12_15"/>
          <p:cNvSpPr/>
          <p:nvPr/>
        </p:nvSpPr>
        <p:spPr>
          <a:xfrm>
            <a:off x="952500" y="5362575"/>
            <a:ext cx="34062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1350"/>
              <a:buFont typeface="Courier New"/>
              <a:buNone/>
            </a:pPr>
            <a:r>
              <a:rPr lang="en-US" sz="1350">
                <a:solidFill>
                  <a:srgbClr val="FF9900"/>
                </a:solidFill>
                <a:latin typeface="Courier New"/>
                <a:ea typeface="Courier New"/>
                <a:cs typeface="Courier New"/>
                <a:sym typeface="Courier New"/>
              </a:rPr>
              <a:t>minimal effort</a:t>
            </a:r>
            <a:endParaRPr b="0" i="0" sz="1350" u="none" cap="none" strike="noStrike">
              <a:solidFill>
                <a:schemeClr val="dk1"/>
              </a:solidFill>
              <a:latin typeface="Calibri"/>
              <a:ea typeface="Calibri"/>
              <a:cs typeface="Calibri"/>
              <a:sym typeface="Calibri"/>
            </a:endParaRPr>
          </a:p>
        </p:txBody>
      </p:sp>
      <p:sp>
        <p:nvSpPr>
          <p:cNvPr id="357" name="Google Shape;357;g3e0832b152f_12_15"/>
          <p:cNvSpPr/>
          <p:nvPr/>
        </p:nvSpPr>
        <p:spPr>
          <a:xfrm>
            <a:off x="4449899" y="6126963"/>
            <a:ext cx="43587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e0832b152f_12_15"/>
          <p:cNvSpPr/>
          <p:nvPr/>
        </p:nvSpPr>
        <p:spPr>
          <a:xfrm>
            <a:off x="4640461" y="5033963"/>
            <a:ext cx="4108200" cy="561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Trains 6 models, stacks the best (ARIMA, </a:t>
            </a:r>
            <a:r>
              <a:rPr lang="en-US" sz="1950">
                <a:solidFill>
                  <a:srgbClr val="3A4253"/>
                </a:solidFill>
                <a:latin typeface="Helvetica Neue"/>
                <a:ea typeface="Helvetica Neue"/>
                <a:cs typeface="Helvetica Neue"/>
                <a:sym typeface="Helvetica Neue"/>
              </a:rPr>
              <a:t>Prophet</a:t>
            </a:r>
            <a:r>
              <a:rPr lang="en-US" sz="1950">
                <a:solidFill>
                  <a:srgbClr val="3A4253"/>
                </a:solidFill>
                <a:latin typeface="Helvetica Neue"/>
                <a:ea typeface="Helvetica Neue"/>
                <a:cs typeface="Helvetica Neue"/>
                <a:sym typeface="Helvetica Neue"/>
              </a:rPr>
              <a:t>, NPTS, ETS, CNN-QR, DeepAR+ ) </a:t>
            </a:r>
            <a:endParaRPr b="0" i="0" sz="1950" u="none" cap="none" strike="noStrike">
              <a:solidFill>
                <a:schemeClr val="dk1"/>
              </a:solidFill>
              <a:latin typeface="Calibri"/>
              <a:ea typeface="Calibri"/>
              <a:cs typeface="Calibri"/>
              <a:sym typeface="Calibri"/>
            </a:endParaRPr>
          </a:p>
        </p:txBody>
      </p:sp>
      <p:sp>
        <p:nvSpPr>
          <p:cNvPr id="359" name="Google Shape;359;g3e0832b152f_12_15"/>
          <p:cNvSpPr/>
          <p:nvPr/>
        </p:nvSpPr>
        <p:spPr>
          <a:xfrm>
            <a:off x="8808479" y="6126963"/>
            <a:ext cx="60351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3e0832b152f_12_15"/>
          <p:cNvSpPr/>
          <p:nvPr/>
        </p:nvSpPr>
        <p:spPr>
          <a:xfrm>
            <a:off x="8999041" y="5033963"/>
            <a:ext cx="5835000" cy="561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Best model with minimal effort </a:t>
            </a:r>
            <a:endParaRPr b="0" i="0" sz="1950" u="none" cap="none" strike="noStrike">
              <a:solidFill>
                <a:schemeClr val="dk1"/>
              </a:solidFill>
              <a:latin typeface="Calibri"/>
              <a:ea typeface="Calibri"/>
              <a:cs typeface="Calibri"/>
              <a:sym typeface="Calibri"/>
            </a:endParaRPr>
          </a:p>
        </p:txBody>
      </p:sp>
      <p:sp>
        <p:nvSpPr>
          <p:cNvPr id="361" name="Google Shape;361;g3e0832b152f_12_15"/>
          <p:cNvSpPr/>
          <p:nvPr/>
        </p:nvSpPr>
        <p:spPr>
          <a:xfrm>
            <a:off x="14843460" y="6126963"/>
            <a:ext cx="26826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e0832b152f_12_15"/>
          <p:cNvSpPr/>
          <p:nvPr/>
        </p:nvSpPr>
        <p:spPr>
          <a:xfrm>
            <a:off x="761938" y="7067551"/>
            <a:ext cx="36879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e0832b152f_12_15"/>
          <p:cNvSpPr/>
          <p:nvPr/>
        </p:nvSpPr>
        <p:spPr>
          <a:xfrm>
            <a:off x="952438" y="6338888"/>
            <a:ext cx="17763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 </a:t>
            </a:r>
            <a:r>
              <a:rPr b="1" i="0" lang="en-US" sz="2100" u="none" cap="none" strike="noStrike">
                <a:solidFill>
                  <a:srgbClr val="232F3E"/>
                </a:solidFill>
                <a:latin typeface="Helvetica Neue"/>
                <a:ea typeface="Helvetica Neue"/>
                <a:cs typeface="Helvetica Neue"/>
                <a:sym typeface="Helvetica Neue"/>
              </a:rPr>
              <a:t>ARIMA</a:t>
            </a:r>
            <a:endParaRPr b="0" i="0" sz="2100" u="none" cap="none" strike="noStrike">
              <a:solidFill>
                <a:schemeClr val="dk1"/>
              </a:solidFill>
              <a:latin typeface="Calibri"/>
              <a:ea typeface="Calibri"/>
              <a:cs typeface="Calibri"/>
              <a:sym typeface="Calibri"/>
            </a:endParaRPr>
          </a:p>
        </p:txBody>
      </p:sp>
      <p:sp>
        <p:nvSpPr>
          <p:cNvPr id="364" name="Google Shape;364;g3e0832b152f_12_15"/>
          <p:cNvSpPr/>
          <p:nvPr/>
        </p:nvSpPr>
        <p:spPr>
          <a:xfrm>
            <a:off x="952438" y="6662738"/>
            <a:ext cx="34062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1350"/>
              <a:buFont typeface="Courier New"/>
              <a:buNone/>
            </a:pPr>
            <a:r>
              <a:rPr b="0" i="0" lang="en-US" sz="1350" u="none" cap="none" strike="noStrike">
                <a:solidFill>
                  <a:srgbClr val="FF9900"/>
                </a:solidFill>
                <a:latin typeface="Courier New"/>
                <a:ea typeface="Courier New"/>
                <a:cs typeface="Courier New"/>
                <a:sym typeface="Courier New"/>
              </a:rPr>
              <a:t>baseline</a:t>
            </a:r>
            <a:endParaRPr b="0" i="0" sz="1350" u="none" cap="none" strike="noStrike">
              <a:solidFill>
                <a:schemeClr val="dk1"/>
              </a:solidFill>
              <a:latin typeface="Calibri"/>
              <a:ea typeface="Calibri"/>
              <a:cs typeface="Calibri"/>
              <a:sym typeface="Calibri"/>
            </a:endParaRPr>
          </a:p>
        </p:txBody>
      </p:sp>
      <p:sp>
        <p:nvSpPr>
          <p:cNvPr id="365" name="Google Shape;365;g3e0832b152f_12_15"/>
          <p:cNvSpPr/>
          <p:nvPr/>
        </p:nvSpPr>
        <p:spPr>
          <a:xfrm>
            <a:off x="4449899" y="7067551"/>
            <a:ext cx="43587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e0832b152f_12_15"/>
          <p:cNvSpPr/>
          <p:nvPr/>
        </p:nvSpPr>
        <p:spPr>
          <a:xfrm>
            <a:off x="4640399" y="6334126"/>
            <a:ext cx="4108200" cy="561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Classical statistical model </a:t>
            </a:r>
            <a:endParaRPr b="0" i="0" sz="1950" u="none" cap="none" strike="noStrike">
              <a:solidFill>
                <a:schemeClr val="dk1"/>
              </a:solidFill>
              <a:latin typeface="Calibri"/>
              <a:ea typeface="Calibri"/>
              <a:cs typeface="Calibri"/>
              <a:sym typeface="Calibri"/>
            </a:endParaRPr>
          </a:p>
        </p:txBody>
      </p:sp>
      <p:sp>
        <p:nvSpPr>
          <p:cNvPr id="367" name="Google Shape;367;g3e0832b152f_12_15"/>
          <p:cNvSpPr/>
          <p:nvPr/>
        </p:nvSpPr>
        <p:spPr>
          <a:xfrm>
            <a:off x="8808479" y="7067551"/>
            <a:ext cx="60351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3e0832b152f_12_15"/>
          <p:cNvSpPr/>
          <p:nvPr/>
        </p:nvSpPr>
        <p:spPr>
          <a:xfrm>
            <a:off x="8998979" y="6334126"/>
            <a:ext cx="5835000" cy="561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Simple datasets, &lt; 100 series </a:t>
            </a:r>
            <a:endParaRPr b="0" i="0" sz="1950" u="none" cap="none" strike="noStrike">
              <a:solidFill>
                <a:schemeClr val="dk1"/>
              </a:solidFill>
              <a:latin typeface="Calibri"/>
              <a:ea typeface="Calibri"/>
              <a:cs typeface="Calibri"/>
              <a:sym typeface="Calibri"/>
            </a:endParaRPr>
          </a:p>
        </p:txBody>
      </p:sp>
      <p:sp>
        <p:nvSpPr>
          <p:cNvPr id="369" name="Google Shape;369;g3e0832b152f_12_15"/>
          <p:cNvSpPr/>
          <p:nvPr/>
        </p:nvSpPr>
        <p:spPr>
          <a:xfrm>
            <a:off x="14843460" y="7067551"/>
            <a:ext cx="2682600" cy="9600"/>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3e0832b152f_12_15"/>
          <p:cNvSpPr/>
          <p:nvPr/>
        </p:nvSpPr>
        <p:spPr>
          <a:xfrm>
            <a:off x="952438" y="7291388"/>
            <a:ext cx="2024400" cy="33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2F3E"/>
              </a:buClr>
              <a:buSzPts val="2100"/>
              <a:buFont typeface="Helvetica Neue"/>
              <a:buNone/>
            </a:pPr>
            <a:r>
              <a:rPr b="1" lang="en-US" sz="2100">
                <a:solidFill>
                  <a:srgbClr val="232F3E"/>
                </a:solidFill>
                <a:latin typeface="Helvetica Neue"/>
                <a:ea typeface="Helvetica Neue"/>
                <a:cs typeface="Helvetica Neue"/>
                <a:sym typeface="Helvetica Neue"/>
              </a:rPr>
              <a:t>↳ Prophet </a:t>
            </a:r>
            <a:endParaRPr b="0" i="0" sz="2100" u="none" cap="none" strike="noStrike">
              <a:solidFill>
                <a:schemeClr val="dk1"/>
              </a:solidFill>
              <a:latin typeface="Calibri"/>
              <a:ea typeface="Calibri"/>
              <a:cs typeface="Calibri"/>
              <a:sym typeface="Calibri"/>
            </a:endParaRPr>
          </a:p>
        </p:txBody>
      </p:sp>
      <p:sp>
        <p:nvSpPr>
          <p:cNvPr id="371" name="Google Shape;371;g3e0832b152f_12_15"/>
          <p:cNvSpPr/>
          <p:nvPr/>
        </p:nvSpPr>
        <p:spPr>
          <a:xfrm>
            <a:off x="952438" y="7615238"/>
            <a:ext cx="34062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1350"/>
              <a:buFont typeface="Courier New"/>
              <a:buNone/>
            </a:pPr>
            <a:r>
              <a:rPr lang="en-US" sz="1350">
                <a:solidFill>
                  <a:srgbClr val="FF9900"/>
                </a:solidFill>
                <a:latin typeface="Courier New"/>
                <a:ea typeface="Courier New"/>
                <a:cs typeface="Courier New"/>
                <a:sym typeface="Courier New"/>
              </a:rPr>
              <a:t>interpretable</a:t>
            </a:r>
            <a:endParaRPr b="0" i="0" sz="1350" u="none" cap="none" strike="noStrike">
              <a:solidFill>
                <a:schemeClr val="dk1"/>
              </a:solidFill>
              <a:latin typeface="Calibri"/>
              <a:ea typeface="Calibri"/>
              <a:cs typeface="Calibri"/>
              <a:sym typeface="Calibri"/>
            </a:endParaRPr>
          </a:p>
        </p:txBody>
      </p:sp>
      <p:sp>
        <p:nvSpPr>
          <p:cNvPr id="372" name="Google Shape;372;g3e0832b152f_12_15"/>
          <p:cNvSpPr/>
          <p:nvPr/>
        </p:nvSpPr>
        <p:spPr>
          <a:xfrm>
            <a:off x="4640399" y="7286626"/>
            <a:ext cx="4108200" cy="5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Additive model, trend + seasonality </a:t>
            </a:r>
            <a:endParaRPr b="0" i="0" sz="1950" u="none" cap="none" strike="noStrike">
              <a:solidFill>
                <a:schemeClr val="dk1"/>
              </a:solidFill>
              <a:latin typeface="Calibri"/>
              <a:ea typeface="Calibri"/>
              <a:cs typeface="Calibri"/>
              <a:sym typeface="Calibri"/>
            </a:endParaRPr>
          </a:p>
        </p:txBody>
      </p:sp>
      <p:sp>
        <p:nvSpPr>
          <p:cNvPr id="373" name="Google Shape;373;g3e0832b152f_12_15"/>
          <p:cNvSpPr/>
          <p:nvPr/>
        </p:nvSpPr>
        <p:spPr>
          <a:xfrm>
            <a:off x="8998979" y="7286626"/>
            <a:ext cx="5835000" cy="5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A4253"/>
              </a:buClr>
              <a:buSzPts val="1950"/>
              <a:buFont typeface="Helvetica Neue"/>
              <a:buNone/>
            </a:pPr>
            <a:r>
              <a:rPr lang="en-US" sz="1950">
                <a:solidFill>
                  <a:srgbClr val="3A4253"/>
                </a:solidFill>
                <a:latin typeface="Helvetica Neue"/>
                <a:ea typeface="Helvetica Neue"/>
                <a:cs typeface="Helvetica Neue"/>
                <a:sym typeface="Helvetica Neue"/>
              </a:rPr>
              <a:t>Single series, interpretable </a:t>
            </a:r>
            <a:endParaRPr b="0" i="0" sz="1950" u="none" cap="none" strike="noStrike">
              <a:solidFill>
                <a:schemeClr val="dk1"/>
              </a:solidFill>
              <a:latin typeface="Calibri"/>
              <a:ea typeface="Calibri"/>
              <a:cs typeface="Calibri"/>
              <a:sym typeface="Calibri"/>
            </a:endParaRPr>
          </a:p>
        </p:txBody>
      </p:sp>
      <p:sp>
        <p:nvSpPr>
          <p:cNvPr id="374" name="Google Shape;374;g3e0832b152f_12_15"/>
          <p:cNvSpPr/>
          <p:nvPr/>
        </p:nvSpPr>
        <p:spPr>
          <a:xfrm>
            <a:off x="762000" y="8134350"/>
            <a:ext cx="16764000" cy="1567800"/>
          </a:xfrm>
          <a:prstGeom prst="roundRect">
            <a:avLst>
              <a:gd fmla="val 6076"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e0832b152f_12_15"/>
          <p:cNvSpPr/>
          <p:nvPr/>
        </p:nvSpPr>
        <p:spPr>
          <a:xfrm>
            <a:off x="1114425" y="8410575"/>
            <a:ext cx="165408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DECISION QUICK-RULE</a:t>
            </a:r>
            <a:endParaRPr b="0" i="0" sz="1650" u="none" cap="none" strike="noStrike">
              <a:solidFill>
                <a:schemeClr val="dk1"/>
              </a:solidFill>
              <a:latin typeface="Calibri"/>
              <a:ea typeface="Calibri"/>
              <a:cs typeface="Calibri"/>
              <a:sym typeface="Calibri"/>
            </a:endParaRPr>
          </a:p>
        </p:txBody>
      </p:sp>
      <p:sp>
        <p:nvSpPr>
          <p:cNvPr id="376" name="Google Shape;376;g3e0832b152f_12_15"/>
          <p:cNvSpPr/>
          <p:nvPr/>
        </p:nvSpPr>
        <p:spPr>
          <a:xfrm>
            <a:off x="1114425" y="8839200"/>
            <a:ext cx="3958500" cy="6249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Multiple series, </a:t>
            </a:r>
            <a:r>
              <a:rPr b="1" lang="en-US" sz="1650">
                <a:solidFill>
                  <a:srgbClr val="232F3E"/>
                </a:solidFill>
                <a:latin typeface="Helvetica Neue"/>
                <a:ea typeface="Helvetica Neue"/>
                <a:cs typeface="Helvetica Neue"/>
                <a:sym typeface="Helvetica Neue"/>
              </a:rPr>
              <a:t>f</a:t>
            </a:r>
            <a:r>
              <a:rPr b="1" i="0" lang="en-US" sz="1650" u="none" cap="none" strike="noStrike">
                <a:solidFill>
                  <a:srgbClr val="232F3E"/>
                </a:solidFill>
                <a:latin typeface="Helvetica Neue"/>
                <a:ea typeface="Helvetica Neue"/>
                <a:cs typeface="Helvetica Neue"/>
                <a:sym typeface="Helvetica Neue"/>
              </a:rPr>
              <a:t>u</a:t>
            </a:r>
            <a:r>
              <a:rPr b="1" lang="en-US" sz="1650">
                <a:solidFill>
                  <a:srgbClr val="232F3E"/>
                </a:solidFill>
                <a:latin typeface="Helvetica Neue"/>
                <a:ea typeface="Helvetica Neue"/>
                <a:cs typeface="Helvetica Neue"/>
                <a:sym typeface="Helvetica Neue"/>
              </a:rPr>
              <a:t>ll control</a:t>
            </a:r>
            <a:r>
              <a:rPr b="1" i="0" lang="en-US" sz="1650" u="none" cap="none" strike="noStrike">
                <a:solidFill>
                  <a:srgbClr val="232F3E"/>
                </a:solidFill>
                <a:latin typeface="Helvetica Neue"/>
                <a:ea typeface="Helvetica Neue"/>
                <a:cs typeface="Helvetica Neue"/>
                <a:sym typeface="Helvetica Neue"/>
              </a:rPr>
              <a:t> </a:t>
            </a:r>
            <a:r>
              <a:rPr b="0" i="0" lang="en-US" sz="1650" u="none" cap="none" strike="noStrike">
                <a:solidFill>
                  <a:srgbClr val="3A4253"/>
                </a:solidFill>
                <a:latin typeface="Helvetica Neue"/>
                <a:ea typeface="Helvetica Neue"/>
                <a:cs typeface="Helvetica Neue"/>
                <a:sym typeface="Helvetica Neue"/>
              </a:rPr>
              <a:t>→ DeepAR</a:t>
            </a:r>
            <a:endParaRPr b="0" i="0" sz="1650" u="none" cap="none" strike="noStrike">
              <a:solidFill>
                <a:schemeClr val="dk1"/>
              </a:solidFill>
              <a:latin typeface="Calibri"/>
              <a:ea typeface="Calibri"/>
              <a:cs typeface="Calibri"/>
              <a:sym typeface="Calibri"/>
            </a:endParaRPr>
          </a:p>
        </p:txBody>
      </p:sp>
      <p:sp>
        <p:nvSpPr>
          <p:cNvPr id="377" name="Google Shape;377;g3e0832b152f_12_15"/>
          <p:cNvSpPr/>
          <p:nvPr/>
        </p:nvSpPr>
        <p:spPr>
          <a:xfrm>
            <a:off x="8748657" y="8848775"/>
            <a:ext cx="6141000" cy="6249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One series, simple </a:t>
            </a:r>
            <a:r>
              <a:rPr b="0" i="0" lang="en-US" sz="1650" u="none" cap="none" strike="noStrike">
                <a:solidFill>
                  <a:srgbClr val="3A4253"/>
                </a:solidFill>
                <a:latin typeface="Helvetica Neue"/>
                <a:ea typeface="Helvetica Neue"/>
                <a:cs typeface="Helvetica Neue"/>
                <a:sym typeface="Helvetica Neue"/>
              </a:rPr>
              <a:t>→ Prophet / ARIMA via Autopilot</a:t>
            </a:r>
            <a:endParaRPr b="0" i="0" sz="1650" u="none" cap="none" strike="noStrike">
              <a:solidFill>
                <a:schemeClr val="dk1"/>
              </a:solidFill>
              <a:latin typeface="Calibri"/>
              <a:ea typeface="Calibri"/>
              <a:cs typeface="Calibri"/>
              <a:sym typeface="Calibri"/>
            </a:endParaRPr>
          </a:p>
        </p:txBody>
      </p:sp>
      <p:sp>
        <p:nvSpPr>
          <p:cNvPr id="378" name="Google Shape;378;g3e0832b152f_12_15"/>
          <p:cNvSpPr/>
          <p:nvPr/>
        </p:nvSpPr>
        <p:spPr>
          <a:xfrm>
            <a:off x="762000" y="9744075"/>
            <a:ext cx="52968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379" name="Google Shape;379;g3e0832b152f_12_15"/>
          <p:cNvSpPr/>
          <p:nvPr/>
        </p:nvSpPr>
        <p:spPr>
          <a:xfrm>
            <a:off x="16942296" y="9744075"/>
            <a:ext cx="6600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12 / 17</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84" name="Shape 384"/>
        <p:cNvGrpSpPr/>
        <p:nvPr/>
      </p:nvGrpSpPr>
      <p:grpSpPr>
        <a:xfrm>
          <a:off x="0" y="0"/>
          <a:ext cx="0" cy="0"/>
          <a:chOff x="0" y="0"/>
          <a:chExt cx="0" cy="0"/>
        </a:xfrm>
      </p:grpSpPr>
      <p:sp>
        <p:nvSpPr>
          <p:cNvPr id="385" name="Google Shape;385;p12"/>
          <p:cNvSpPr/>
          <p:nvPr/>
        </p:nvSpPr>
        <p:spPr>
          <a:xfrm>
            <a:off x="762000" y="457200"/>
            <a:ext cx="2589163"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1</a:t>
            </a:r>
            <a:r>
              <a:rPr b="1" lang="en-US" sz="1350">
                <a:solidFill>
                  <a:srgbClr val="232F3E"/>
                </a:solidFill>
                <a:latin typeface="Helvetica Neue"/>
                <a:ea typeface="Helvetica Neue"/>
                <a:cs typeface="Helvetica Neue"/>
                <a:sym typeface="Helvetica Neue"/>
              </a:rPr>
              <a:t>3</a:t>
            </a:r>
            <a:r>
              <a:rPr b="1" i="0" lang="en-US" sz="1350" u="none" cap="none" strike="noStrike">
                <a:solidFill>
                  <a:srgbClr val="232F3E"/>
                </a:solidFill>
                <a:latin typeface="Helvetica Neue"/>
                <a:ea typeface="Helvetica Neue"/>
                <a:cs typeface="Helvetica Neue"/>
                <a:sym typeface="Helvetica Neue"/>
              </a:rPr>
              <a:t> · PRICING REALITY</a:t>
            </a:r>
            <a:endParaRPr b="0" i="0" sz="1350" u="none" cap="none" strike="noStrike">
              <a:solidFill>
                <a:schemeClr val="dk1"/>
              </a:solidFill>
              <a:latin typeface="Calibri"/>
              <a:ea typeface="Calibri"/>
              <a:cs typeface="Calibri"/>
              <a:sym typeface="Calibri"/>
            </a:endParaRPr>
          </a:p>
        </p:txBody>
      </p:sp>
      <p:sp>
        <p:nvSpPr>
          <p:cNvPr id="386" name="Google Shape;386;p12"/>
          <p:cNvSpPr/>
          <p:nvPr/>
        </p:nvSpPr>
        <p:spPr>
          <a:xfrm>
            <a:off x="15642431" y="457200"/>
            <a:ext cx="1959769"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ARTHUR</a:t>
            </a:r>
            <a:endParaRPr b="0" i="0" sz="1350" u="none" cap="none" strike="noStrike">
              <a:solidFill>
                <a:schemeClr val="dk1"/>
              </a:solidFill>
              <a:latin typeface="Calibri"/>
              <a:ea typeface="Calibri"/>
              <a:cs typeface="Calibri"/>
              <a:sym typeface="Calibri"/>
            </a:endParaRPr>
          </a:p>
        </p:txBody>
      </p:sp>
      <p:sp>
        <p:nvSpPr>
          <p:cNvPr id="387" name="Google Shape;387;p12"/>
          <p:cNvSpPr/>
          <p:nvPr/>
        </p:nvSpPr>
        <p:spPr>
          <a:xfrm>
            <a:off x="762000" y="1524000"/>
            <a:ext cx="17266920" cy="67806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What it actually costs.</a:t>
            </a:r>
            <a:endParaRPr b="0" i="0" sz="4800" u="none" cap="none" strike="noStrike">
              <a:solidFill>
                <a:schemeClr val="dk1"/>
              </a:solidFill>
              <a:latin typeface="Calibri"/>
              <a:ea typeface="Calibri"/>
              <a:cs typeface="Calibri"/>
              <a:sym typeface="Calibri"/>
            </a:endParaRPr>
          </a:p>
        </p:txBody>
      </p:sp>
      <p:sp>
        <p:nvSpPr>
          <p:cNvPr id="388" name="Google Shape;388;p12"/>
          <p:cNvSpPr/>
          <p:nvPr/>
        </p:nvSpPr>
        <p:spPr>
          <a:xfrm>
            <a:off x="762000" y="2697361"/>
            <a:ext cx="8143875" cy="4857750"/>
          </a:xfrm>
          <a:prstGeom prst="roundRect">
            <a:avLst>
              <a:gd fmla="val 1961"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p:nvPr/>
        </p:nvSpPr>
        <p:spPr>
          <a:xfrm>
            <a:off x="1152525" y="3068836"/>
            <a:ext cx="3067943" cy="371475"/>
          </a:xfrm>
          <a:prstGeom prst="roundRect">
            <a:avLst>
              <a:gd fmla="val 50000" name="adj"/>
            </a:avLst>
          </a:prstGeom>
          <a:noFill/>
          <a:ln cap="flat" cmpd="sng" w="9525">
            <a:solidFill>
              <a:srgbClr val="1F8A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2"/>
          <p:cNvSpPr/>
          <p:nvPr/>
        </p:nvSpPr>
        <p:spPr>
          <a:xfrm>
            <a:off x="1314450" y="3154561"/>
            <a:ext cx="2836131" cy="2381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1F8A5B"/>
              </a:buClr>
              <a:buSzPts val="1350"/>
              <a:buFont typeface="Helvetica Neue"/>
              <a:buNone/>
            </a:pPr>
            <a:r>
              <a:rPr b="1" i="0" lang="en-US" sz="1350" u="none" cap="none" strike="noStrike">
                <a:solidFill>
                  <a:srgbClr val="1F8A5B"/>
                </a:solidFill>
                <a:latin typeface="Helvetica Neue"/>
                <a:ea typeface="Helvetica Neue"/>
                <a:cs typeface="Helvetica Neue"/>
                <a:sym typeface="Helvetica Neue"/>
              </a:rPr>
              <a:t>FREE TIER · FIRST 2 MONTHS</a:t>
            </a:r>
            <a:endParaRPr b="0" i="0" sz="1350" u="none" cap="none" strike="noStrike">
              <a:solidFill>
                <a:schemeClr val="dk1"/>
              </a:solidFill>
              <a:latin typeface="Calibri"/>
              <a:ea typeface="Calibri"/>
              <a:cs typeface="Calibri"/>
              <a:sym typeface="Calibri"/>
            </a:endParaRPr>
          </a:p>
        </p:txBody>
      </p:sp>
      <p:sp>
        <p:nvSpPr>
          <p:cNvPr id="391" name="Google Shape;391;p12"/>
          <p:cNvSpPr/>
          <p:nvPr/>
        </p:nvSpPr>
        <p:spPr>
          <a:xfrm>
            <a:off x="1152525" y="4421386"/>
            <a:ext cx="7362825"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1152525" y="3945136"/>
            <a:ext cx="3502131"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Studio Notebooks </a:t>
            </a:r>
            <a:r>
              <a:rPr b="0" i="0" lang="en-US" sz="1500" u="none" cap="none" strike="noStrike">
                <a:solidFill>
                  <a:srgbClr val="6B7280"/>
                </a:solidFill>
                <a:latin typeface="Courier New"/>
                <a:ea typeface="Courier New"/>
                <a:cs typeface="Courier New"/>
                <a:sym typeface="Courier New"/>
              </a:rPr>
              <a:t>ml.t3.medium</a:t>
            </a:r>
            <a:endParaRPr b="0" i="0" sz="1950" u="none" cap="none" strike="noStrike">
              <a:solidFill>
                <a:schemeClr val="dk1"/>
              </a:solidFill>
              <a:latin typeface="Calibri"/>
              <a:ea typeface="Calibri"/>
              <a:cs typeface="Calibri"/>
              <a:sym typeface="Calibri"/>
            </a:endParaRPr>
          </a:p>
        </p:txBody>
      </p:sp>
      <p:sp>
        <p:nvSpPr>
          <p:cNvPr id="393" name="Google Shape;393;p12"/>
          <p:cNvSpPr/>
          <p:nvPr/>
        </p:nvSpPr>
        <p:spPr>
          <a:xfrm>
            <a:off x="7194049" y="3747571"/>
            <a:ext cx="1824600" cy="540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400"/>
              <a:buFont typeface="Helvetica Neue"/>
              <a:buNone/>
            </a:pPr>
            <a:r>
              <a:rPr b="1" i="0" lang="en-US" sz="2400" u="none" cap="none" strike="noStrike">
                <a:solidFill>
                  <a:srgbClr val="232F3E"/>
                </a:solidFill>
                <a:latin typeface="Helvetica Neue"/>
                <a:ea typeface="Helvetica Neue"/>
                <a:cs typeface="Helvetica Neue"/>
                <a:sym typeface="Helvetica Neue"/>
              </a:rPr>
              <a:t>250 h/mo</a:t>
            </a:r>
            <a:endParaRPr b="0" i="0" sz="2400" u="none" cap="none" strike="noStrike">
              <a:solidFill>
                <a:schemeClr val="dk1"/>
              </a:solidFill>
              <a:latin typeface="Calibri"/>
              <a:ea typeface="Calibri"/>
              <a:cs typeface="Calibri"/>
              <a:sym typeface="Calibri"/>
            </a:endParaRPr>
          </a:p>
        </p:txBody>
      </p:sp>
      <p:sp>
        <p:nvSpPr>
          <p:cNvPr id="394" name="Google Shape;394;p12"/>
          <p:cNvSpPr/>
          <p:nvPr/>
        </p:nvSpPr>
        <p:spPr>
          <a:xfrm>
            <a:off x="1152525" y="5126236"/>
            <a:ext cx="7362825"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1152525" y="4649986"/>
            <a:ext cx="2939546"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Training jobs </a:t>
            </a:r>
            <a:r>
              <a:rPr b="0" i="0" lang="en-US" sz="1500" u="none" cap="none" strike="noStrike">
                <a:solidFill>
                  <a:srgbClr val="6B7280"/>
                </a:solidFill>
                <a:latin typeface="Courier New"/>
                <a:ea typeface="Courier New"/>
                <a:cs typeface="Courier New"/>
                <a:sym typeface="Courier New"/>
              </a:rPr>
              <a:t>ml.m5.xlarge</a:t>
            </a:r>
            <a:endParaRPr b="0" i="0" sz="1950" u="none" cap="none" strike="noStrike">
              <a:solidFill>
                <a:schemeClr val="dk1"/>
              </a:solidFill>
              <a:latin typeface="Calibri"/>
              <a:ea typeface="Calibri"/>
              <a:cs typeface="Calibri"/>
              <a:sym typeface="Calibri"/>
            </a:endParaRPr>
          </a:p>
        </p:txBody>
      </p:sp>
      <p:sp>
        <p:nvSpPr>
          <p:cNvPr id="396" name="Google Shape;396;p12"/>
          <p:cNvSpPr/>
          <p:nvPr/>
        </p:nvSpPr>
        <p:spPr>
          <a:xfrm>
            <a:off x="7363577" y="4602350"/>
            <a:ext cx="1655100" cy="390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400"/>
              <a:buFont typeface="Helvetica Neue"/>
              <a:buNone/>
            </a:pPr>
            <a:r>
              <a:rPr b="1" i="0" lang="en-US" sz="2400" u="none" cap="none" strike="noStrike">
                <a:solidFill>
                  <a:srgbClr val="232F3E"/>
                </a:solidFill>
                <a:latin typeface="Helvetica Neue"/>
                <a:ea typeface="Helvetica Neue"/>
                <a:cs typeface="Helvetica Neue"/>
                <a:sym typeface="Helvetica Neue"/>
              </a:rPr>
              <a:t>50 h/mo</a:t>
            </a:r>
            <a:endParaRPr b="0" i="0" sz="2400" u="none" cap="none" strike="noStrike">
              <a:solidFill>
                <a:schemeClr val="dk1"/>
              </a:solidFill>
              <a:latin typeface="Calibri"/>
              <a:ea typeface="Calibri"/>
              <a:cs typeface="Calibri"/>
              <a:sym typeface="Calibri"/>
            </a:endParaRPr>
          </a:p>
        </p:txBody>
      </p:sp>
      <p:sp>
        <p:nvSpPr>
          <p:cNvPr id="397" name="Google Shape;397;p12"/>
          <p:cNvSpPr/>
          <p:nvPr/>
        </p:nvSpPr>
        <p:spPr>
          <a:xfrm>
            <a:off x="1152525" y="5831086"/>
            <a:ext cx="7362825"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2"/>
          <p:cNvSpPr/>
          <p:nvPr/>
        </p:nvSpPr>
        <p:spPr>
          <a:xfrm>
            <a:off x="1152525" y="5354836"/>
            <a:ext cx="3700186"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Real-time inference </a:t>
            </a:r>
            <a:r>
              <a:rPr b="0" i="0" lang="en-US" sz="1500" u="none" cap="none" strike="noStrike">
                <a:solidFill>
                  <a:srgbClr val="6B7280"/>
                </a:solidFill>
                <a:latin typeface="Courier New"/>
                <a:ea typeface="Courier New"/>
                <a:cs typeface="Courier New"/>
                <a:sym typeface="Courier New"/>
              </a:rPr>
              <a:t>ml.m5.xlarge</a:t>
            </a:r>
            <a:endParaRPr b="0" i="0" sz="1950" u="none" cap="none" strike="noStrike">
              <a:solidFill>
                <a:schemeClr val="dk1"/>
              </a:solidFill>
              <a:latin typeface="Calibri"/>
              <a:ea typeface="Calibri"/>
              <a:cs typeface="Calibri"/>
              <a:sym typeface="Calibri"/>
            </a:endParaRPr>
          </a:p>
        </p:txBody>
      </p:sp>
      <p:sp>
        <p:nvSpPr>
          <p:cNvPr id="399" name="Google Shape;399;p12"/>
          <p:cNvSpPr/>
          <p:nvPr/>
        </p:nvSpPr>
        <p:spPr>
          <a:xfrm>
            <a:off x="7194049" y="5307200"/>
            <a:ext cx="1711800" cy="390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400"/>
              <a:buFont typeface="Helvetica Neue"/>
              <a:buNone/>
            </a:pPr>
            <a:r>
              <a:rPr b="1" i="0" lang="en-US" sz="2400" u="none" cap="none" strike="noStrike">
                <a:solidFill>
                  <a:srgbClr val="232F3E"/>
                </a:solidFill>
                <a:latin typeface="Helvetica Neue"/>
                <a:ea typeface="Helvetica Neue"/>
                <a:cs typeface="Helvetica Neue"/>
                <a:sym typeface="Helvetica Neue"/>
              </a:rPr>
              <a:t>125 h/mo</a:t>
            </a:r>
            <a:endParaRPr b="0" i="0" sz="2400" u="none" cap="none" strike="noStrike">
              <a:solidFill>
                <a:schemeClr val="dk1"/>
              </a:solidFill>
              <a:latin typeface="Calibri"/>
              <a:ea typeface="Calibri"/>
              <a:cs typeface="Calibri"/>
              <a:sym typeface="Calibri"/>
            </a:endParaRPr>
          </a:p>
        </p:txBody>
      </p:sp>
      <p:sp>
        <p:nvSpPr>
          <p:cNvPr id="400" name="Google Shape;400;p12"/>
          <p:cNvSpPr/>
          <p:nvPr/>
        </p:nvSpPr>
        <p:spPr>
          <a:xfrm>
            <a:off x="1152525" y="6059686"/>
            <a:ext cx="3246592"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Data Wrangler </a:t>
            </a:r>
            <a:r>
              <a:rPr b="0" i="0" lang="en-US" sz="1500" u="none" cap="none" strike="noStrike">
                <a:solidFill>
                  <a:srgbClr val="6B7280"/>
                </a:solidFill>
                <a:latin typeface="Courier New"/>
                <a:ea typeface="Courier New"/>
                <a:cs typeface="Courier New"/>
                <a:sym typeface="Courier New"/>
              </a:rPr>
              <a:t>ml.m5.4xlarge</a:t>
            </a:r>
            <a:endParaRPr b="0" i="0" sz="1950" u="none" cap="none" strike="noStrike">
              <a:solidFill>
                <a:schemeClr val="dk1"/>
              </a:solidFill>
              <a:latin typeface="Calibri"/>
              <a:ea typeface="Calibri"/>
              <a:cs typeface="Calibri"/>
              <a:sym typeface="Calibri"/>
            </a:endParaRPr>
          </a:p>
        </p:txBody>
      </p:sp>
      <p:sp>
        <p:nvSpPr>
          <p:cNvPr id="401" name="Google Shape;401;p12"/>
          <p:cNvSpPr/>
          <p:nvPr/>
        </p:nvSpPr>
        <p:spPr>
          <a:xfrm>
            <a:off x="7363575" y="6012048"/>
            <a:ext cx="1372800" cy="4113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400"/>
              <a:buFont typeface="Helvetica Neue"/>
              <a:buNone/>
            </a:pPr>
            <a:r>
              <a:rPr b="1" i="0" lang="en-US" sz="2400" u="none" cap="none" strike="noStrike">
                <a:solidFill>
                  <a:srgbClr val="232F3E"/>
                </a:solidFill>
                <a:latin typeface="Helvetica Neue"/>
                <a:ea typeface="Helvetica Neue"/>
                <a:cs typeface="Helvetica Neue"/>
                <a:sym typeface="Helvetica Neue"/>
              </a:rPr>
              <a:t>25 h/mo</a:t>
            </a:r>
            <a:endParaRPr b="0" i="0" sz="2400" u="none" cap="none" strike="noStrike">
              <a:solidFill>
                <a:schemeClr val="dk1"/>
              </a:solidFill>
              <a:latin typeface="Calibri"/>
              <a:ea typeface="Calibri"/>
              <a:cs typeface="Calibri"/>
              <a:sym typeface="Calibri"/>
            </a:endParaRPr>
          </a:p>
        </p:txBody>
      </p:sp>
      <p:sp>
        <p:nvSpPr>
          <p:cNvPr id="402" name="Google Shape;402;p12"/>
          <p:cNvSpPr/>
          <p:nvPr/>
        </p:nvSpPr>
        <p:spPr>
          <a:xfrm>
            <a:off x="1152525" y="6726436"/>
            <a:ext cx="7583710" cy="33144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6B7280"/>
              </a:buClr>
              <a:buSzPts val="1650"/>
              <a:buFont typeface="Helvetica Neue"/>
              <a:buNone/>
            </a:pPr>
            <a:r>
              <a:rPr b="0" i="1" lang="en-US" sz="1650" u="none" cap="none" strike="noStrike">
                <a:solidFill>
                  <a:srgbClr val="6B7280"/>
                </a:solidFill>
                <a:latin typeface="Helvetica Neue"/>
                <a:ea typeface="Helvetica Neue"/>
                <a:cs typeface="Helvetica Neue"/>
                <a:sym typeface="Helvetica Neue"/>
              </a:rPr>
              <a:t>Covers most learning use cases — our team has spent &lt; $5 so far.</a:t>
            </a:r>
            <a:endParaRPr b="0" i="0" sz="1650" u="none" cap="none" strike="noStrike">
              <a:solidFill>
                <a:schemeClr val="dk1"/>
              </a:solidFill>
              <a:latin typeface="Calibri"/>
              <a:ea typeface="Calibri"/>
              <a:cs typeface="Calibri"/>
              <a:sym typeface="Calibri"/>
            </a:endParaRPr>
          </a:p>
        </p:txBody>
      </p:sp>
      <p:sp>
        <p:nvSpPr>
          <p:cNvPr id="403" name="Google Shape;403;p12"/>
          <p:cNvSpPr/>
          <p:nvPr/>
        </p:nvSpPr>
        <p:spPr>
          <a:xfrm>
            <a:off x="9382125" y="2697361"/>
            <a:ext cx="8143875" cy="4857750"/>
          </a:xfrm>
          <a:prstGeom prst="roundRect">
            <a:avLst>
              <a:gd fmla="val 1961" name="adj"/>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2"/>
          <p:cNvSpPr/>
          <p:nvPr/>
        </p:nvSpPr>
        <p:spPr>
          <a:xfrm>
            <a:off x="9763125" y="3059311"/>
            <a:ext cx="4258717" cy="371475"/>
          </a:xfrm>
          <a:prstGeom prst="roundRect">
            <a:avLst>
              <a:gd fmla="val 50000" name="adj"/>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
          <p:cNvSpPr/>
          <p:nvPr/>
        </p:nvSpPr>
        <p:spPr>
          <a:xfrm>
            <a:off x="9925050" y="3145036"/>
            <a:ext cx="4062628" cy="2381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9900"/>
              </a:buClr>
              <a:buSzPts val="1350"/>
              <a:buFont typeface="Helvetica Neue"/>
              <a:buNone/>
            </a:pPr>
            <a:r>
              <a:rPr b="1" i="0" lang="en-US" sz="1350" u="none" cap="none" strike="noStrike">
                <a:solidFill>
                  <a:srgbClr val="FF9900"/>
                </a:solidFill>
                <a:latin typeface="Helvetica Neue"/>
                <a:ea typeface="Helvetica Neue"/>
                <a:cs typeface="Helvetica Neue"/>
                <a:sym typeface="Helvetica Neue"/>
              </a:rPr>
              <a:t>AFTER FREE TIER · EU-WEST-1 · MAY 2026</a:t>
            </a:r>
            <a:endParaRPr b="0" i="0" sz="1350" u="none" cap="none" strike="noStrike">
              <a:solidFill>
                <a:schemeClr val="dk1"/>
              </a:solidFill>
              <a:latin typeface="Calibri"/>
              <a:ea typeface="Calibri"/>
              <a:cs typeface="Calibri"/>
              <a:sym typeface="Calibri"/>
            </a:endParaRPr>
          </a:p>
        </p:txBody>
      </p:sp>
      <p:sp>
        <p:nvSpPr>
          <p:cNvPr id="406" name="Google Shape;406;p12"/>
          <p:cNvSpPr/>
          <p:nvPr/>
        </p:nvSpPr>
        <p:spPr>
          <a:xfrm>
            <a:off x="9763125" y="4411861"/>
            <a:ext cx="7381875" cy="9525"/>
          </a:xfrm>
          <a:prstGeom prst="rect">
            <a:avLst/>
          </a:prstGeom>
          <a:solidFill>
            <a:srgbClr val="3A44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9763125" y="3935611"/>
            <a:ext cx="2549723"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Helvetica Neue"/>
              <a:buNone/>
            </a:pPr>
            <a:r>
              <a:rPr b="0" i="0" lang="en-US" sz="1950" u="none" cap="none" strike="noStrike">
                <a:solidFill>
                  <a:srgbClr val="FFFFFF"/>
                </a:solidFill>
                <a:latin typeface="Helvetica Neue"/>
                <a:ea typeface="Helvetica Neue"/>
                <a:cs typeface="Helvetica Neue"/>
                <a:sym typeface="Helvetica Neue"/>
              </a:rPr>
              <a:t>Studio Notebook </a:t>
            </a:r>
            <a:r>
              <a:rPr b="0" i="0" lang="en-US" sz="1500" u="none" cap="none" strike="noStrike">
                <a:solidFill>
                  <a:srgbClr val="98A4B8"/>
                </a:solidFill>
                <a:latin typeface="Courier New"/>
                <a:ea typeface="Courier New"/>
                <a:cs typeface="Courier New"/>
                <a:sym typeface="Courier New"/>
              </a:rPr>
              <a:t>small</a:t>
            </a:r>
            <a:endParaRPr b="0" i="0" sz="1950" u="none" cap="none" strike="noStrike">
              <a:solidFill>
                <a:schemeClr val="dk1"/>
              </a:solidFill>
              <a:latin typeface="Calibri"/>
              <a:ea typeface="Calibri"/>
              <a:cs typeface="Calibri"/>
              <a:sym typeface="Calibri"/>
            </a:endParaRPr>
          </a:p>
        </p:txBody>
      </p:sp>
      <p:sp>
        <p:nvSpPr>
          <p:cNvPr id="408" name="Google Shape;408;p12"/>
          <p:cNvSpPr/>
          <p:nvPr/>
        </p:nvSpPr>
        <p:spPr>
          <a:xfrm>
            <a:off x="16026705" y="3887986"/>
            <a:ext cx="1194495"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2400"/>
              <a:buFont typeface="Helvetica Neue"/>
              <a:buNone/>
            </a:pPr>
            <a:r>
              <a:rPr b="1" i="0" lang="en-US" sz="2400" u="none" cap="none" strike="noStrike">
                <a:solidFill>
                  <a:srgbClr val="FF9900"/>
                </a:solidFill>
                <a:latin typeface="Helvetica Neue"/>
                <a:ea typeface="Helvetica Neue"/>
                <a:cs typeface="Helvetica Neue"/>
                <a:sym typeface="Helvetica Neue"/>
              </a:rPr>
              <a:t>$0.05 /h</a:t>
            </a:r>
            <a:endParaRPr b="0" i="0" sz="2400" u="none" cap="none" strike="noStrike">
              <a:solidFill>
                <a:schemeClr val="dk1"/>
              </a:solidFill>
              <a:latin typeface="Calibri"/>
              <a:ea typeface="Calibri"/>
              <a:cs typeface="Calibri"/>
              <a:sym typeface="Calibri"/>
            </a:endParaRPr>
          </a:p>
        </p:txBody>
      </p:sp>
      <p:sp>
        <p:nvSpPr>
          <p:cNvPr id="409" name="Google Shape;409;p12"/>
          <p:cNvSpPr/>
          <p:nvPr/>
        </p:nvSpPr>
        <p:spPr>
          <a:xfrm>
            <a:off x="9763125" y="5116711"/>
            <a:ext cx="7381875" cy="9525"/>
          </a:xfrm>
          <a:prstGeom prst="rect">
            <a:avLst/>
          </a:prstGeom>
          <a:solidFill>
            <a:srgbClr val="3A44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2"/>
          <p:cNvSpPr/>
          <p:nvPr/>
        </p:nvSpPr>
        <p:spPr>
          <a:xfrm>
            <a:off x="9763125" y="4640461"/>
            <a:ext cx="1824484"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Helvetica Neue"/>
              <a:buNone/>
            </a:pPr>
            <a:r>
              <a:rPr b="0" i="0" lang="en-US" sz="1950" u="none" cap="none" strike="noStrike">
                <a:solidFill>
                  <a:srgbClr val="FFFFFF"/>
                </a:solidFill>
                <a:latin typeface="Helvetica Neue"/>
                <a:ea typeface="Helvetica Neue"/>
                <a:cs typeface="Helvetica Neue"/>
                <a:sym typeface="Helvetica Neue"/>
              </a:rPr>
              <a:t>Canvas session</a:t>
            </a:r>
            <a:endParaRPr b="0" i="0" sz="1950" u="none" cap="none" strike="noStrike">
              <a:solidFill>
                <a:schemeClr val="dk1"/>
              </a:solidFill>
              <a:latin typeface="Calibri"/>
              <a:ea typeface="Calibri"/>
              <a:cs typeface="Calibri"/>
              <a:sym typeface="Calibri"/>
            </a:endParaRPr>
          </a:p>
        </p:txBody>
      </p:sp>
      <p:sp>
        <p:nvSpPr>
          <p:cNvPr id="411" name="Google Shape;411;p12"/>
          <p:cNvSpPr/>
          <p:nvPr/>
        </p:nvSpPr>
        <p:spPr>
          <a:xfrm>
            <a:off x="16026705" y="4592836"/>
            <a:ext cx="1194495"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2400"/>
              <a:buFont typeface="Helvetica Neue"/>
              <a:buNone/>
            </a:pPr>
            <a:r>
              <a:rPr b="1" i="0" lang="en-US" sz="2400" u="none" cap="none" strike="noStrike">
                <a:solidFill>
                  <a:srgbClr val="FF9900"/>
                </a:solidFill>
                <a:latin typeface="Helvetica Neue"/>
                <a:ea typeface="Helvetica Neue"/>
                <a:cs typeface="Helvetica Neue"/>
                <a:sym typeface="Helvetica Neue"/>
              </a:rPr>
              <a:t>$1.13 /h</a:t>
            </a:r>
            <a:endParaRPr b="0" i="0" sz="2400" u="none" cap="none" strike="noStrike">
              <a:solidFill>
                <a:schemeClr val="dk1"/>
              </a:solidFill>
              <a:latin typeface="Calibri"/>
              <a:ea typeface="Calibri"/>
              <a:cs typeface="Calibri"/>
              <a:sym typeface="Calibri"/>
            </a:endParaRPr>
          </a:p>
        </p:txBody>
      </p:sp>
      <p:sp>
        <p:nvSpPr>
          <p:cNvPr id="412" name="Google Shape;412;p12"/>
          <p:cNvSpPr/>
          <p:nvPr/>
        </p:nvSpPr>
        <p:spPr>
          <a:xfrm>
            <a:off x="9763125" y="5821561"/>
            <a:ext cx="7381875" cy="9525"/>
          </a:xfrm>
          <a:prstGeom prst="rect">
            <a:avLst/>
          </a:prstGeom>
          <a:solidFill>
            <a:srgbClr val="3A44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9763125" y="5345311"/>
            <a:ext cx="2461468"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Helvetica Neue"/>
              <a:buNone/>
            </a:pPr>
            <a:r>
              <a:rPr b="0" i="0" lang="en-US" sz="1950" u="none" cap="none" strike="noStrike">
                <a:solidFill>
                  <a:srgbClr val="FFFFFF"/>
                </a:solidFill>
                <a:latin typeface="Helvetica Neue"/>
                <a:ea typeface="Helvetica Neue"/>
                <a:cs typeface="Helvetica Neue"/>
                <a:sym typeface="Helvetica Neue"/>
              </a:rPr>
              <a:t>Training (CPU / GPU)</a:t>
            </a:r>
            <a:endParaRPr b="0" i="0" sz="1950" u="none" cap="none" strike="noStrike">
              <a:solidFill>
                <a:schemeClr val="dk1"/>
              </a:solidFill>
              <a:latin typeface="Calibri"/>
              <a:ea typeface="Calibri"/>
              <a:cs typeface="Calibri"/>
              <a:sym typeface="Calibri"/>
            </a:endParaRPr>
          </a:p>
        </p:txBody>
      </p:sp>
      <p:sp>
        <p:nvSpPr>
          <p:cNvPr id="414" name="Google Shape;414;p12"/>
          <p:cNvSpPr/>
          <p:nvPr/>
        </p:nvSpPr>
        <p:spPr>
          <a:xfrm>
            <a:off x="14789795" y="5297686"/>
            <a:ext cx="2431405"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2400"/>
              <a:buFont typeface="Helvetica Neue"/>
              <a:buNone/>
            </a:pPr>
            <a:r>
              <a:rPr b="1" i="0" lang="en-US" sz="2400" u="none" cap="none" strike="noStrike">
                <a:solidFill>
                  <a:srgbClr val="FF9900"/>
                </a:solidFill>
                <a:latin typeface="Helvetica Neue"/>
                <a:ea typeface="Helvetica Neue"/>
                <a:cs typeface="Helvetica Neue"/>
                <a:sym typeface="Helvetica Neue"/>
              </a:rPr>
              <a:t>$0.27 → $4.20 /h</a:t>
            </a:r>
            <a:endParaRPr b="0" i="0" sz="2400" u="none" cap="none" strike="noStrike">
              <a:solidFill>
                <a:schemeClr val="dk1"/>
              </a:solidFill>
              <a:latin typeface="Calibri"/>
              <a:ea typeface="Calibri"/>
              <a:cs typeface="Calibri"/>
              <a:sym typeface="Calibri"/>
            </a:endParaRPr>
          </a:p>
        </p:txBody>
      </p:sp>
      <p:sp>
        <p:nvSpPr>
          <p:cNvPr id="415" name="Google Shape;415;p12"/>
          <p:cNvSpPr/>
          <p:nvPr/>
        </p:nvSpPr>
        <p:spPr>
          <a:xfrm>
            <a:off x="9763125" y="6050161"/>
            <a:ext cx="2154882" cy="3333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1950"/>
              <a:buFont typeface="Helvetica Neue"/>
              <a:buNone/>
            </a:pPr>
            <a:r>
              <a:rPr b="0" i="0" lang="en-US" sz="1950" u="none" cap="none" strike="noStrike">
                <a:solidFill>
                  <a:srgbClr val="FFFFFF"/>
                </a:solidFill>
                <a:latin typeface="Helvetica Neue"/>
                <a:ea typeface="Helvetica Neue"/>
                <a:cs typeface="Helvetica Neue"/>
                <a:sym typeface="Helvetica Neue"/>
              </a:rPr>
              <a:t>Real-time endpoint</a:t>
            </a:r>
            <a:endParaRPr b="0" i="0" sz="1950" u="none" cap="none" strike="noStrike">
              <a:solidFill>
                <a:schemeClr val="dk1"/>
              </a:solidFill>
              <a:latin typeface="Calibri"/>
              <a:ea typeface="Calibri"/>
              <a:cs typeface="Calibri"/>
              <a:sym typeface="Calibri"/>
            </a:endParaRPr>
          </a:p>
        </p:txBody>
      </p:sp>
      <p:sp>
        <p:nvSpPr>
          <p:cNvPr id="416" name="Google Shape;416;p12"/>
          <p:cNvSpPr/>
          <p:nvPr/>
        </p:nvSpPr>
        <p:spPr>
          <a:xfrm>
            <a:off x="14925080" y="6002536"/>
            <a:ext cx="2296120" cy="3905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2400"/>
              <a:buFont typeface="Helvetica Neue"/>
              <a:buNone/>
            </a:pPr>
            <a:r>
              <a:rPr b="1" i="0" lang="en-US" sz="2400" u="none" cap="none" strike="noStrike">
                <a:solidFill>
                  <a:srgbClr val="FF9900"/>
                </a:solidFill>
                <a:latin typeface="Helvetica Neue"/>
                <a:ea typeface="Helvetica Neue"/>
                <a:cs typeface="Helvetica Neue"/>
                <a:sym typeface="Helvetica Neue"/>
              </a:rPr>
              <a:t>$0.06 – $0.27 /h</a:t>
            </a:r>
            <a:endParaRPr b="0" i="0" sz="2400" u="none" cap="none" strike="noStrike">
              <a:solidFill>
                <a:schemeClr val="dk1"/>
              </a:solidFill>
              <a:latin typeface="Calibri"/>
              <a:ea typeface="Calibri"/>
              <a:cs typeface="Calibri"/>
              <a:sym typeface="Calibri"/>
            </a:endParaRPr>
          </a:p>
        </p:txBody>
      </p:sp>
      <p:sp>
        <p:nvSpPr>
          <p:cNvPr id="417" name="Google Shape;417;p12"/>
          <p:cNvSpPr/>
          <p:nvPr/>
        </p:nvSpPr>
        <p:spPr>
          <a:xfrm>
            <a:off x="9763125" y="6735961"/>
            <a:ext cx="7603331"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7C2D0"/>
              </a:buClr>
              <a:buSzPts val="1650"/>
              <a:buFont typeface="Helvetica Neue"/>
              <a:buNone/>
            </a:pPr>
            <a:r>
              <a:rPr b="0" i="1" lang="en-US" sz="1650" u="none" cap="none" strike="noStrike">
                <a:solidFill>
                  <a:srgbClr val="B7C2D0"/>
                </a:solidFill>
                <a:latin typeface="Helvetica Neue"/>
                <a:ea typeface="Helvetica Neue"/>
                <a:cs typeface="Helvetica Neue"/>
                <a:sym typeface="Helvetica Neue"/>
              </a:rPr>
              <a:t>A small idle endpoint on 24/7 ≈ $200/mo even if no one calls it.</a:t>
            </a:r>
            <a:endParaRPr b="0" i="0" sz="1650" u="none" cap="none" strike="noStrike">
              <a:solidFill>
                <a:schemeClr val="dk1"/>
              </a:solidFill>
              <a:latin typeface="Calibri"/>
              <a:ea typeface="Calibri"/>
              <a:cs typeface="Calibri"/>
              <a:sym typeface="Calibri"/>
            </a:endParaRPr>
          </a:p>
        </p:txBody>
      </p:sp>
      <p:sp>
        <p:nvSpPr>
          <p:cNvPr id="424" name="Google Shape;424;p12"/>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425" name="Google Shape;425;p12"/>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13 / 17</a:t>
            </a:r>
            <a:endParaRPr b="0" i="0" sz="1350" u="none" cap="none" strike="noStrike">
              <a:solidFill>
                <a:schemeClr val="dk1"/>
              </a:solidFill>
              <a:latin typeface="Calibri"/>
              <a:ea typeface="Calibri"/>
              <a:cs typeface="Calibri"/>
              <a:sym typeface="Calibri"/>
            </a:endParaRPr>
          </a:p>
        </p:txBody>
      </p:sp>
      <p:sp>
        <p:nvSpPr>
          <p:cNvPr id="426" name="Rounded Rectangle 425"/>
          <p:cNvSpPr/>
          <p:nvPr/>
        </p:nvSpPr>
        <p:spPr>
          <a:xfrm>
            <a:off x="758952" y="7918704"/>
            <a:ext cx="8147304" cy="813816"/>
          </a:xfrm>
          <a:prstGeom prst="roundRect">
            <a:avLst/>
          </a:prstGeom>
          <a:solidFill>
            <a:srgbClr val="FFF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Rectangle 426"/>
          <p:cNvSpPr/>
          <p:nvPr/>
        </p:nvSpPr>
        <p:spPr>
          <a:xfrm>
            <a:off x="758952" y="7918704"/>
            <a:ext cx="54864" cy="81381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TextBox 427"/>
          <p:cNvSpPr txBox="1"/>
          <p:nvPr/>
        </p:nvSpPr>
        <p:spPr>
          <a:xfrm>
            <a:off x="1124712" y="8028431"/>
            <a:ext cx="7690104" cy="630936"/>
          </a:xfrm>
          <a:prstGeom prst="rect">
            <a:avLst/>
          </a:prstGeom>
          <a:noFill/>
        </p:spPr>
        <p:txBody>
          <a:bodyPr wrap="square" lIns="25400" rIns="25400" tIns="25400" bIns="25400">
            <a:spAutoFit/>
          </a:bodyPr>
          <a:lstStyle/>
          <a:p>
            <a:r>
              <a:rPr sz="1100" b="1">
                <a:solidFill>
                  <a:srgbClr val="B71C1C"/>
                </a:solidFill>
              </a:rPr>
              <a:t>⚠ PROBLEM — ZOMBIE RESOURCES</a:t>
            </a:r>
          </a:p>
          <a:p>
            <a:pPr>
              <a:spcBef>
                <a:spcPts val="400"/>
              </a:spcBef>
            </a:pPr>
            <a:r>
              <a:rPr sz="1200">
                <a:solidFill>
                  <a:srgbClr val="232F3E"/>
                </a:solidFill>
              </a:rPr>
              <a:t>Deleted endpoints can leave attached EBS volumes, elastic inference accelerators, or notebook resources billing forever.</a:t>
            </a:r>
          </a:p>
        </p:txBody>
      </p:sp>
      <p:sp>
        <p:nvSpPr>
          <p:cNvPr id="429" name="Rounded Rectangle 428"/>
          <p:cNvSpPr/>
          <p:nvPr/>
        </p:nvSpPr>
        <p:spPr>
          <a:xfrm>
            <a:off x="9381744" y="7918704"/>
            <a:ext cx="8147304" cy="813816"/>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Rectangle 429"/>
          <p:cNvSpPr/>
          <p:nvPr/>
        </p:nvSpPr>
        <p:spPr>
          <a:xfrm>
            <a:off x="9381744" y="7918704"/>
            <a:ext cx="54864" cy="81381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TextBox 430"/>
          <p:cNvSpPr txBox="1"/>
          <p:nvPr/>
        </p:nvSpPr>
        <p:spPr>
          <a:xfrm>
            <a:off x="9747504" y="8028431"/>
            <a:ext cx="7690104" cy="630936"/>
          </a:xfrm>
          <a:prstGeom prst="rect">
            <a:avLst/>
          </a:prstGeom>
          <a:noFill/>
        </p:spPr>
        <p:txBody>
          <a:bodyPr wrap="square" lIns="25400" rIns="25400" tIns="25400" bIns="25400">
            <a:spAutoFit/>
          </a:bodyPr>
          <a:lstStyle/>
          <a:p>
            <a:r>
              <a:rPr sz="1100" b="1">
                <a:solidFill>
                  <a:srgbClr val="2E7D32"/>
                </a:solidFill>
              </a:rPr>
              <a:t>✓ SOLUTION — CLOUDWATCH BILLING ALARMS</a:t>
            </a:r>
          </a:p>
          <a:p>
            <a:pPr>
              <a:spcBef>
                <a:spcPts val="400"/>
              </a:spcBef>
            </a:pPr>
            <a:r>
              <a:rPr sz="1200">
                <a:solidFill>
                  <a:srgbClr val="232F3E"/>
                </a:solidFill>
              </a:rPr>
              <a:t>Set a CloudWatch billing alarm before you start — cost monitoring is not automatic on SageMaker.</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30" name="Shape 430"/>
        <p:cNvGrpSpPr/>
        <p:nvPr/>
      </p:nvGrpSpPr>
      <p:grpSpPr>
        <a:xfrm>
          <a:off x="0" y="0"/>
          <a:ext cx="0" cy="0"/>
          <a:chOff x="0" y="0"/>
          <a:chExt cx="0" cy="0"/>
        </a:xfrm>
      </p:grpSpPr>
      <p:sp>
        <p:nvSpPr>
          <p:cNvPr id="493" name="Rectangle 492"/>
          <p:cNvSpPr/>
          <p:nvPr/>
        </p:nvSpPr>
        <p:spPr>
          <a:xfrm>
            <a:off x="758952" y="6601968"/>
            <a:ext cx="9299448" cy="1481328"/>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Rectangle 487"/>
          <p:cNvSpPr/>
          <p:nvPr/>
        </p:nvSpPr>
        <p:spPr>
          <a:xfrm>
            <a:off x="758952" y="6601968"/>
            <a:ext cx="9299448" cy="1481328"/>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Google Shape;431;p13"/>
          <p:cNvSpPr/>
          <p:nvPr/>
        </p:nvSpPr>
        <p:spPr>
          <a:xfrm>
            <a:off x="762000" y="457200"/>
            <a:ext cx="2335262"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1350"/>
              <a:buFont typeface="Helvetica Neue"/>
              <a:buNone/>
            </a:pPr>
            <a:r>
              <a:rPr b="1" i="0" lang="en-US" sz="1350" u="none" cap="none" strike="noStrike">
                <a:solidFill>
                  <a:srgbClr val="232F3E"/>
                </a:solidFill>
                <a:latin typeface="Helvetica Neue"/>
                <a:ea typeface="Helvetica Neue"/>
                <a:cs typeface="Helvetica Neue"/>
                <a:sym typeface="Helvetica Neue"/>
              </a:rPr>
              <a:t>1</a:t>
            </a:r>
            <a:r>
              <a:rPr b="1" lang="en-US" sz="1350">
                <a:solidFill>
                  <a:srgbClr val="232F3E"/>
                </a:solidFill>
                <a:latin typeface="Helvetica Neue"/>
                <a:ea typeface="Helvetica Neue"/>
                <a:cs typeface="Helvetica Neue"/>
                <a:sym typeface="Helvetica Neue"/>
              </a:rPr>
              <a:t>4</a:t>
            </a:r>
            <a:r>
              <a:rPr b="1" i="0" lang="en-US" sz="1350" u="none" cap="none" strike="noStrike">
                <a:solidFill>
                  <a:srgbClr val="232F3E"/>
                </a:solidFill>
                <a:latin typeface="Helvetica Neue"/>
                <a:ea typeface="Helvetica Neue"/>
                <a:cs typeface="Helvetica Neue"/>
                <a:sym typeface="Helvetica Neue"/>
              </a:rPr>
              <a:t> · ALTERNATIVES</a:t>
            </a:r>
            <a:endParaRPr b="0" i="0" sz="1350" u="none" cap="none" strike="noStrike">
              <a:solidFill>
                <a:schemeClr val="dk1"/>
              </a:solidFill>
              <a:latin typeface="Calibri"/>
              <a:ea typeface="Calibri"/>
              <a:cs typeface="Calibri"/>
              <a:sym typeface="Calibri"/>
            </a:endParaRPr>
          </a:p>
        </p:txBody>
      </p:sp>
      <p:sp>
        <p:nvSpPr>
          <p:cNvPr id="432" name="Google Shape;432;p13"/>
          <p:cNvSpPr/>
          <p:nvPr/>
        </p:nvSpPr>
        <p:spPr>
          <a:xfrm>
            <a:off x="15642431" y="457200"/>
            <a:ext cx="1959769"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SPEAKER · ARTHUR</a:t>
            </a:r>
            <a:endParaRPr b="0" i="0" sz="1350" u="none" cap="none" strike="noStrike">
              <a:solidFill>
                <a:schemeClr val="dk1"/>
              </a:solidFill>
              <a:latin typeface="Calibri"/>
              <a:ea typeface="Calibri"/>
              <a:cs typeface="Calibri"/>
              <a:sym typeface="Calibri"/>
            </a:endParaRPr>
          </a:p>
        </p:txBody>
      </p:sp>
      <p:sp>
        <p:nvSpPr>
          <p:cNvPr id="433" name="Google Shape;433;p13"/>
          <p:cNvSpPr/>
          <p:nvPr/>
        </p:nvSpPr>
        <p:spPr>
          <a:xfrm>
            <a:off x="762000" y="1524000"/>
            <a:ext cx="17266920" cy="67806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232F3E"/>
              </a:buClr>
              <a:buSzPts val="4800"/>
              <a:buFont typeface="Helvetica Neue"/>
              <a:buNone/>
            </a:pPr>
            <a:r>
              <a:rPr b="1" i="0" lang="en-US" sz="4800" u="none" cap="none" strike="noStrike">
                <a:solidFill>
                  <a:srgbClr val="232F3E"/>
                </a:solidFill>
                <a:latin typeface="Helvetica Neue"/>
                <a:ea typeface="Helvetica Neue"/>
                <a:cs typeface="Helvetica Neue"/>
                <a:sym typeface="Helvetica Neue"/>
              </a:rPr>
              <a:t>SageMaker is one of many options.</a:t>
            </a:r>
            <a:endParaRPr b="0" i="0" sz="4800" u="none" cap="none" strike="noStrike">
              <a:solidFill>
                <a:schemeClr val="dk1"/>
              </a:solidFill>
              <a:latin typeface="Calibri"/>
              <a:ea typeface="Calibri"/>
              <a:cs typeface="Calibri"/>
              <a:sym typeface="Calibri"/>
            </a:endParaRPr>
          </a:p>
        </p:txBody>
      </p:sp>
      <p:sp>
        <p:nvSpPr>
          <p:cNvPr id="434" name="Google Shape;434;p13"/>
          <p:cNvSpPr/>
          <p:nvPr/>
        </p:nvSpPr>
        <p:spPr>
          <a:xfrm>
            <a:off x="762000" y="3221236"/>
            <a:ext cx="3348633"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952500" y="2811661"/>
            <a:ext cx="3068092"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TOOL</a:t>
            </a:r>
            <a:endParaRPr b="0" i="0" sz="1650" u="none" cap="none" strike="noStrike">
              <a:solidFill>
                <a:schemeClr val="dk1"/>
              </a:solidFill>
              <a:latin typeface="Calibri"/>
              <a:ea typeface="Calibri"/>
              <a:cs typeface="Calibri"/>
              <a:sym typeface="Calibri"/>
            </a:endParaRPr>
          </a:p>
        </p:txBody>
      </p:sp>
      <p:sp>
        <p:nvSpPr>
          <p:cNvPr id="436" name="Google Shape;436;p13"/>
          <p:cNvSpPr/>
          <p:nvPr/>
        </p:nvSpPr>
        <p:spPr>
          <a:xfrm>
            <a:off x="4110633" y="3221236"/>
            <a:ext cx="2046387"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4301133" y="2811661"/>
            <a:ext cx="1741587"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CLOUD</a:t>
            </a:r>
            <a:endParaRPr b="0" i="0" sz="1650" u="none" cap="none" strike="noStrike">
              <a:solidFill>
                <a:schemeClr val="dk1"/>
              </a:solidFill>
              <a:latin typeface="Calibri"/>
              <a:ea typeface="Calibri"/>
              <a:cs typeface="Calibri"/>
              <a:sym typeface="Calibri"/>
            </a:endParaRPr>
          </a:p>
        </p:txBody>
      </p:sp>
      <p:sp>
        <p:nvSpPr>
          <p:cNvPr id="438" name="Google Shape;438;p13"/>
          <p:cNvSpPr/>
          <p:nvPr/>
        </p:nvSpPr>
        <p:spPr>
          <a:xfrm>
            <a:off x="6157020" y="3221236"/>
            <a:ext cx="3907036" cy="19050"/>
          </a:xfrm>
          <a:prstGeom prst="rect">
            <a:avLst/>
          </a:prstGeom>
          <a:solidFill>
            <a:srgbClr val="232F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6347520" y="2811661"/>
            <a:ext cx="3643247" cy="276225"/>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232F3E"/>
              </a:buClr>
              <a:buSzPts val="1650"/>
              <a:buFont typeface="Helvetica Neue"/>
              <a:buNone/>
            </a:pPr>
            <a:r>
              <a:rPr b="1" i="0" lang="en-US" sz="1650" u="none" cap="none" strike="noStrike">
                <a:solidFill>
                  <a:srgbClr val="232F3E"/>
                </a:solidFill>
                <a:latin typeface="Helvetica Neue"/>
                <a:ea typeface="Helvetica Neue"/>
                <a:cs typeface="Helvetica Neue"/>
                <a:sym typeface="Helvetica Neue"/>
              </a:rPr>
              <a:t>BEST FOR</a:t>
            </a:r>
            <a:endParaRPr b="0" i="0" sz="1650" u="none" cap="none" strike="noStrike">
              <a:solidFill>
                <a:schemeClr val="dk1"/>
              </a:solidFill>
              <a:latin typeface="Calibri"/>
              <a:ea typeface="Calibri"/>
              <a:cs typeface="Calibri"/>
              <a:sym typeface="Calibri"/>
            </a:endParaRPr>
          </a:p>
        </p:txBody>
      </p:sp>
      <p:sp>
        <p:nvSpPr>
          <p:cNvPr id="440" name="Google Shape;440;p13"/>
          <p:cNvSpPr/>
          <p:nvPr/>
        </p:nvSpPr>
        <p:spPr>
          <a:xfrm>
            <a:off x="762000" y="3968948"/>
            <a:ext cx="3348633"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
          <p:cNvSpPr/>
          <p:nvPr/>
        </p:nvSpPr>
        <p:spPr>
          <a:xfrm>
            <a:off x="952500" y="3449836"/>
            <a:ext cx="3068092"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AWS SageMaker</a:t>
            </a:r>
            <a:endParaRPr b="0" i="0" sz="2100" u="none" cap="none" strike="noStrike">
              <a:solidFill>
                <a:schemeClr val="dk1"/>
              </a:solidFill>
              <a:latin typeface="Calibri"/>
              <a:ea typeface="Calibri"/>
              <a:cs typeface="Calibri"/>
              <a:sym typeface="Calibri"/>
            </a:endParaRPr>
          </a:p>
        </p:txBody>
      </p:sp>
      <p:sp>
        <p:nvSpPr>
          <p:cNvPr id="442" name="Google Shape;442;p13"/>
          <p:cNvSpPr/>
          <p:nvPr/>
        </p:nvSpPr>
        <p:spPr>
          <a:xfrm>
            <a:off x="4110633" y="3968948"/>
            <a:ext cx="2046387"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4301133" y="3449836"/>
            <a:ext cx="1741587"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AWS</a:t>
            </a:r>
            <a:endParaRPr b="0" i="0" sz="1950" u="none" cap="none" strike="noStrike">
              <a:solidFill>
                <a:schemeClr val="dk1"/>
              </a:solidFill>
              <a:latin typeface="Calibri"/>
              <a:ea typeface="Calibri"/>
              <a:cs typeface="Calibri"/>
              <a:sym typeface="Calibri"/>
            </a:endParaRPr>
          </a:p>
        </p:txBody>
      </p:sp>
      <p:sp>
        <p:nvSpPr>
          <p:cNvPr id="444" name="Google Shape;444;p13"/>
          <p:cNvSpPr/>
          <p:nvPr/>
        </p:nvSpPr>
        <p:spPr>
          <a:xfrm>
            <a:off x="6157020" y="3968948"/>
            <a:ext cx="3907036"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6347520" y="3449836"/>
            <a:ext cx="3643247" cy="34766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Full ML lifecycle on AWS</a:t>
            </a:r>
            <a:endParaRPr b="0" i="0" sz="1950" u="none" cap="none" strike="noStrike">
              <a:solidFill>
                <a:schemeClr val="dk1"/>
              </a:solidFill>
              <a:latin typeface="Calibri"/>
              <a:ea typeface="Calibri"/>
              <a:cs typeface="Calibri"/>
              <a:sym typeface="Calibri"/>
            </a:endParaRPr>
          </a:p>
        </p:txBody>
      </p:sp>
      <p:sp>
        <p:nvSpPr>
          <p:cNvPr id="446" name="Google Shape;446;p13"/>
          <p:cNvSpPr/>
          <p:nvPr/>
        </p:nvSpPr>
        <p:spPr>
          <a:xfrm>
            <a:off x="762000" y="4702373"/>
            <a:ext cx="3348633"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952500" y="4188023"/>
            <a:ext cx="3068092"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Google Vertex AI</a:t>
            </a:r>
            <a:endParaRPr b="0" i="0" sz="2100" u="none" cap="none" strike="noStrike">
              <a:solidFill>
                <a:schemeClr val="dk1"/>
              </a:solidFill>
              <a:latin typeface="Calibri"/>
              <a:ea typeface="Calibri"/>
              <a:cs typeface="Calibri"/>
              <a:sym typeface="Calibri"/>
            </a:endParaRPr>
          </a:p>
        </p:txBody>
      </p:sp>
      <p:sp>
        <p:nvSpPr>
          <p:cNvPr id="448" name="Google Shape;448;p13"/>
          <p:cNvSpPr/>
          <p:nvPr/>
        </p:nvSpPr>
        <p:spPr>
          <a:xfrm>
            <a:off x="4110633" y="4702373"/>
            <a:ext cx="2046387"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4301133" y="4188023"/>
            <a:ext cx="1741587"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GCP</a:t>
            </a:r>
            <a:endParaRPr b="0" i="0" sz="1950" u="none" cap="none" strike="noStrike">
              <a:solidFill>
                <a:schemeClr val="dk1"/>
              </a:solidFill>
              <a:latin typeface="Calibri"/>
              <a:ea typeface="Calibri"/>
              <a:cs typeface="Calibri"/>
              <a:sym typeface="Calibri"/>
            </a:endParaRPr>
          </a:p>
        </p:txBody>
      </p:sp>
      <p:sp>
        <p:nvSpPr>
          <p:cNvPr id="450" name="Google Shape;450;p13"/>
          <p:cNvSpPr/>
          <p:nvPr/>
        </p:nvSpPr>
        <p:spPr>
          <a:xfrm>
            <a:off x="6157020" y="4702373"/>
            <a:ext cx="3907036"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6347520" y="4188023"/>
            <a:ext cx="3643247"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Same idea on GCP</a:t>
            </a:r>
            <a:endParaRPr b="0" i="0" sz="1950" u="none" cap="none" strike="noStrike">
              <a:solidFill>
                <a:schemeClr val="dk1"/>
              </a:solidFill>
              <a:latin typeface="Calibri"/>
              <a:ea typeface="Calibri"/>
              <a:cs typeface="Calibri"/>
              <a:sym typeface="Calibri"/>
            </a:endParaRPr>
          </a:p>
        </p:txBody>
      </p:sp>
      <p:sp>
        <p:nvSpPr>
          <p:cNvPr id="452" name="Google Shape;452;p13"/>
          <p:cNvSpPr/>
          <p:nvPr/>
        </p:nvSpPr>
        <p:spPr>
          <a:xfrm>
            <a:off x="762000" y="5435798"/>
            <a:ext cx="3348633"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952500" y="4921448"/>
            <a:ext cx="3068092"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Azure ML</a:t>
            </a:r>
            <a:endParaRPr b="0" i="0" sz="2100" u="none" cap="none" strike="noStrike">
              <a:solidFill>
                <a:schemeClr val="dk1"/>
              </a:solidFill>
              <a:latin typeface="Calibri"/>
              <a:ea typeface="Calibri"/>
              <a:cs typeface="Calibri"/>
              <a:sym typeface="Calibri"/>
            </a:endParaRPr>
          </a:p>
        </p:txBody>
      </p:sp>
      <p:sp>
        <p:nvSpPr>
          <p:cNvPr id="454" name="Google Shape;454;p13"/>
          <p:cNvSpPr/>
          <p:nvPr/>
        </p:nvSpPr>
        <p:spPr>
          <a:xfrm>
            <a:off x="4110633" y="5435798"/>
            <a:ext cx="2046387"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4301133" y="4921448"/>
            <a:ext cx="1741587"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Azure</a:t>
            </a:r>
            <a:endParaRPr b="0" i="0" sz="1950" u="none" cap="none" strike="noStrike">
              <a:solidFill>
                <a:schemeClr val="dk1"/>
              </a:solidFill>
              <a:latin typeface="Calibri"/>
              <a:ea typeface="Calibri"/>
              <a:cs typeface="Calibri"/>
              <a:sym typeface="Calibri"/>
            </a:endParaRPr>
          </a:p>
        </p:txBody>
      </p:sp>
      <p:sp>
        <p:nvSpPr>
          <p:cNvPr id="456" name="Google Shape;456;p13"/>
          <p:cNvSpPr/>
          <p:nvPr/>
        </p:nvSpPr>
        <p:spPr>
          <a:xfrm>
            <a:off x="6157020" y="5435798"/>
            <a:ext cx="3907036"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6347520" y="4921448"/>
            <a:ext cx="3643247"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Same idea on Azure</a:t>
            </a:r>
            <a:endParaRPr b="0" i="0" sz="1950" u="none" cap="none" strike="noStrike">
              <a:solidFill>
                <a:schemeClr val="dk1"/>
              </a:solidFill>
              <a:latin typeface="Calibri"/>
              <a:ea typeface="Calibri"/>
              <a:cs typeface="Calibri"/>
              <a:sym typeface="Calibri"/>
            </a:endParaRPr>
          </a:p>
        </p:txBody>
      </p:sp>
      <p:sp>
        <p:nvSpPr>
          <p:cNvPr id="458" name="Google Shape;458;p13"/>
          <p:cNvSpPr/>
          <p:nvPr/>
        </p:nvSpPr>
        <p:spPr>
          <a:xfrm>
            <a:off x="762000" y="6435923"/>
            <a:ext cx="3348633"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952500" y="5654873"/>
            <a:ext cx="3068092" cy="609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MLflow on K8s</a:t>
            </a:r>
            <a:endParaRPr b="0" i="0" sz="2100" u="none" cap="none" strike="noStrike">
              <a:solidFill>
                <a:schemeClr val="dk1"/>
              </a:solidFill>
              <a:latin typeface="Calibri"/>
              <a:ea typeface="Calibri"/>
              <a:cs typeface="Calibri"/>
              <a:sym typeface="Calibri"/>
            </a:endParaRPr>
          </a:p>
        </p:txBody>
      </p:sp>
      <p:sp>
        <p:nvSpPr>
          <p:cNvPr id="460" name="Google Shape;460;p13"/>
          <p:cNvSpPr/>
          <p:nvPr/>
        </p:nvSpPr>
        <p:spPr>
          <a:xfrm>
            <a:off x="4110633" y="6435923"/>
            <a:ext cx="2046387"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4301133" y="5654873"/>
            <a:ext cx="1741587" cy="609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Cloud-agnostic</a:t>
            </a:r>
            <a:endParaRPr b="0" i="0" sz="1950" u="none" cap="none" strike="noStrike">
              <a:solidFill>
                <a:schemeClr val="dk1"/>
              </a:solidFill>
              <a:latin typeface="Calibri"/>
              <a:ea typeface="Calibri"/>
              <a:cs typeface="Calibri"/>
              <a:sym typeface="Calibri"/>
            </a:endParaRPr>
          </a:p>
        </p:txBody>
      </p:sp>
      <p:sp>
        <p:nvSpPr>
          <p:cNvPr id="462" name="Google Shape;462;p13"/>
          <p:cNvSpPr/>
          <p:nvPr/>
        </p:nvSpPr>
        <p:spPr>
          <a:xfrm>
            <a:off x="6157020" y="6435923"/>
            <a:ext cx="3907036"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6347520" y="5654873"/>
            <a:ext cx="3643247" cy="609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Avoiding lock-in</a:t>
            </a:r>
            <a:endParaRPr b="0" i="0" sz="1950" u="none" cap="none" strike="noStrike">
              <a:solidFill>
                <a:schemeClr val="dk1"/>
              </a:solidFill>
              <a:latin typeface="Calibri"/>
              <a:ea typeface="Calibri"/>
              <a:cs typeface="Calibri"/>
              <a:sym typeface="Calibri"/>
            </a:endParaRPr>
          </a:p>
        </p:txBody>
      </p:sp>
      <p:sp>
        <p:nvSpPr>
          <p:cNvPr id="464" name="Google Shape;464;p13"/>
          <p:cNvSpPr/>
          <p:nvPr/>
        </p:nvSpPr>
        <p:spPr>
          <a:xfrm>
            <a:off x="762000" y="7169348"/>
            <a:ext cx="3348633"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952500" y="6654998"/>
            <a:ext cx="3068092"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232F3E"/>
              </a:buClr>
              <a:buSzPts val="2100"/>
              <a:buFont typeface="Helvetica Neue"/>
              <a:buNone/>
            </a:pPr>
            <a:r>
              <a:rPr b="1" i="0" lang="en-US" sz="2100" u="none" cap="none" strike="noStrike">
                <a:solidFill>
                  <a:srgbClr val="232F3E"/>
                </a:solidFill>
                <a:latin typeface="Helvetica Neue"/>
                <a:ea typeface="Helvetica Neue"/>
                <a:cs typeface="Helvetica Neue"/>
                <a:sym typeface="Helvetica Neue"/>
              </a:rPr>
              <a:t>AWS Bedrock</a:t>
            </a:r>
            <a:endParaRPr b="0" i="0" sz="2100" u="none" cap="none" strike="noStrike">
              <a:solidFill>
                <a:schemeClr val="dk1"/>
              </a:solidFill>
              <a:latin typeface="Calibri"/>
              <a:ea typeface="Calibri"/>
              <a:cs typeface="Calibri"/>
              <a:sym typeface="Calibri"/>
            </a:endParaRPr>
          </a:p>
        </p:txBody>
      </p:sp>
      <p:sp>
        <p:nvSpPr>
          <p:cNvPr id="466" name="Google Shape;466;p13"/>
          <p:cNvSpPr/>
          <p:nvPr/>
        </p:nvSpPr>
        <p:spPr>
          <a:xfrm>
            <a:off x="4110633" y="7169348"/>
            <a:ext cx="2046387"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4301133" y="6654998"/>
            <a:ext cx="1741587"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Courier New"/>
              <a:buNone/>
            </a:pPr>
            <a:r>
              <a:rPr b="0" i="0" lang="en-US" sz="1950" u="none" cap="none" strike="noStrike">
                <a:solidFill>
                  <a:srgbClr val="3A4253"/>
                </a:solidFill>
                <a:latin typeface="Courier New"/>
                <a:ea typeface="Courier New"/>
                <a:cs typeface="Courier New"/>
                <a:sym typeface="Courier New"/>
              </a:rPr>
              <a:t>AWS</a:t>
            </a:r>
            <a:endParaRPr b="0" i="0" sz="1950" u="none" cap="none" strike="noStrike">
              <a:solidFill>
                <a:schemeClr val="dk1"/>
              </a:solidFill>
              <a:latin typeface="Calibri"/>
              <a:ea typeface="Calibri"/>
              <a:cs typeface="Calibri"/>
              <a:sym typeface="Calibri"/>
            </a:endParaRPr>
          </a:p>
        </p:txBody>
      </p:sp>
      <p:sp>
        <p:nvSpPr>
          <p:cNvPr id="468" name="Google Shape;468;p13"/>
          <p:cNvSpPr/>
          <p:nvPr/>
        </p:nvSpPr>
        <p:spPr>
          <a:xfrm>
            <a:off x="6157020" y="7169348"/>
            <a:ext cx="3907036" cy="9525"/>
          </a:xfrm>
          <a:prstGeom prst="rect">
            <a:avLst/>
          </a:prstGeom>
          <a:solidFill>
            <a:srgbClr val="E5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3"/>
          <p:cNvSpPr/>
          <p:nvPr/>
        </p:nvSpPr>
        <p:spPr>
          <a:xfrm>
            <a:off x="6347520" y="6654998"/>
            <a:ext cx="3643247" cy="3429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950"/>
              <a:buFont typeface="Helvetica Neue"/>
              <a:buNone/>
            </a:pPr>
            <a:r>
              <a:rPr b="0" i="0" lang="en-US" sz="1950" u="none" cap="none" strike="noStrike">
                <a:solidFill>
                  <a:srgbClr val="3A4253"/>
                </a:solidFill>
                <a:latin typeface="Helvetica Neue"/>
                <a:ea typeface="Helvetica Neue"/>
                <a:cs typeface="Helvetica Neue"/>
                <a:sym typeface="Helvetica Neue"/>
              </a:rPr>
              <a:t>LLMs / generative AI</a:t>
            </a:r>
            <a:endParaRPr b="0" i="0" sz="1950" u="none" cap="none" strike="noStrike">
              <a:solidFill>
                <a:schemeClr val="dk1"/>
              </a:solidFill>
              <a:latin typeface="Calibri"/>
              <a:ea typeface="Calibri"/>
              <a:cs typeface="Calibri"/>
              <a:sym typeface="Calibri"/>
            </a:endParaRPr>
          </a:p>
        </p:txBody>
      </p:sp>
      <p:sp>
        <p:nvSpPr>
          <p:cNvPr id="470" name="Google Shape;470;p13"/>
          <p:cNvSpPr/>
          <p:nvPr/>
        </p:nvSpPr>
        <p:spPr>
          <a:xfrm>
            <a:off x="952500" y="7388423"/>
            <a:ext cx="3068092" cy="6334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B3333"/>
              </a:buClr>
              <a:buSzPts val="2100"/>
              <a:buFont typeface="Helvetica Neue"/>
              <a:buNone/>
            </a:pPr>
            <a:r>
              <a:rPr b="1" i="0" lang="en-US" sz="2100" u="none" cap="none" strike="noStrike">
                <a:solidFill>
                  <a:srgbClr val="BB3333"/>
                </a:solidFill>
                <a:latin typeface="Helvetica Neue"/>
                <a:ea typeface="Helvetica Neue"/>
                <a:cs typeface="Helvetica Neue"/>
                <a:sym typeface="Helvetica Neue"/>
              </a:rPr>
              <a:t>AWS Forecast</a:t>
            </a:r>
            <a:endParaRPr b="0" i="0" sz="2100" u="none" cap="none" strike="noStrike">
              <a:solidFill>
                <a:schemeClr val="dk1"/>
              </a:solidFill>
              <a:latin typeface="Calibri"/>
              <a:ea typeface="Calibri"/>
              <a:cs typeface="Calibri"/>
              <a:sym typeface="Calibri"/>
            </a:endParaRPr>
          </a:p>
        </p:txBody>
      </p:sp>
      <p:sp>
        <p:nvSpPr>
          <p:cNvPr id="471" name="Google Shape;471;p13"/>
          <p:cNvSpPr/>
          <p:nvPr/>
        </p:nvSpPr>
        <p:spPr>
          <a:xfrm>
            <a:off x="4301133" y="7388423"/>
            <a:ext cx="1741587" cy="6334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B3333"/>
              </a:buClr>
              <a:buSzPts val="1950"/>
              <a:buFont typeface="Courier New"/>
              <a:buNone/>
            </a:pPr>
            <a:r>
              <a:rPr b="0" i="0" lang="en-US" sz="1950" u="none" cap="none" strike="noStrike">
                <a:solidFill>
                  <a:srgbClr val="BB3333"/>
                </a:solidFill>
                <a:latin typeface="Courier New"/>
                <a:ea typeface="Courier New"/>
                <a:cs typeface="Courier New"/>
                <a:sym typeface="Courier New"/>
              </a:rPr>
              <a:t>AWS</a:t>
            </a:r>
            <a:endParaRPr b="0" i="0" sz="1950" u="none" cap="none" strike="noStrike">
              <a:solidFill>
                <a:schemeClr val="dk1"/>
              </a:solidFill>
              <a:latin typeface="Calibri"/>
              <a:ea typeface="Calibri"/>
              <a:cs typeface="Calibri"/>
              <a:sym typeface="Calibri"/>
            </a:endParaRPr>
          </a:p>
        </p:txBody>
      </p:sp>
      <p:sp>
        <p:nvSpPr>
          <p:cNvPr id="472" name="Google Shape;472;p13"/>
          <p:cNvSpPr/>
          <p:nvPr/>
        </p:nvSpPr>
        <p:spPr>
          <a:xfrm>
            <a:off x="6347520" y="7388423"/>
            <a:ext cx="3643247" cy="633413"/>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BB3333"/>
              </a:buClr>
              <a:buSzPts val="1950"/>
              <a:buFont typeface="Helvetica Neue"/>
              <a:buNone/>
            </a:pPr>
            <a:r>
              <a:rPr b="0" i="0" lang="en-US" sz="1950" u="none" cap="none" strike="noStrike">
                <a:solidFill>
                  <a:srgbClr val="BB3333"/>
                </a:solidFill>
                <a:latin typeface="Helvetica Neue"/>
                <a:ea typeface="Helvetica Neue"/>
                <a:cs typeface="Helvetica Neue"/>
                <a:sym typeface="Helvetica Neue"/>
              </a:rPr>
              <a:t>Deprecated for new accounts (2024)</a:t>
            </a:r>
            <a:endParaRPr b="0" i="0" sz="1950" u="none" cap="none" strike="noStrike">
              <a:solidFill>
                <a:schemeClr val="dk1"/>
              </a:solidFill>
              <a:latin typeface="Calibri"/>
              <a:ea typeface="Calibri"/>
              <a:cs typeface="Calibri"/>
              <a:sym typeface="Calibri"/>
            </a:endParaRPr>
          </a:p>
        </p:txBody>
      </p:sp>
      <p:sp>
        <p:nvSpPr>
          <p:cNvPr id="473" name="Google Shape;473;p13"/>
          <p:cNvSpPr/>
          <p:nvPr/>
        </p:nvSpPr>
        <p:spPr>
          <a:xfrm>
            <a:off x="10635555" y="2640211"/>
            <a:ext cx="7097158" cy="2762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9900"/>
              </a:buClr>
              <a:buSzPts val="1650"/>
              <a:buFont typeface="Courier New"/>
              <a:buNone/>
            </a:pPr>
            <a:r>
              <a:rPr b="0" i="0" lang="en-US" sz="1650" u="none" cap="none" strike="noStrike">
                <a:solidFill>
                  <a:srgbClr val="FF9900"/>
                </a:solidFill>
                <a:latin typeface="Courier New"/>
                <a:ea typeface="Courier New"/>
                <a:cs typeface="Courier New"/>
                <a:sym typeface="Courier New"/>
              </a:rPr>
              <a:t>DECISION RULES</a:t>
            </a:r>
            <a:endParaRPr b="0" i="0" sz="1650" u="none" cap="none" strike="noStrike">
              <a:solidFill>
                <a:schemeClr val="dk1"/>
              </a:solidFill>
              <a:latin typeface="Calibri"/>
              <a:ea typeface="Calibri"/>
              <a:cs typeface="Calibri"/>
              <a:sym typeface="Calibri"/>
            </a:endParaRPr>
          </a:p>
        </p:txBody>
      </p:sp>
      <p:sp>
        <p:nvSpPr>
          <p:cNvPr id="474" name="Google Shape;474;p13"/>
          <p:cNvSpPr/>
          <p:nvPr/>
        </p:nvSpPr>
        <p:spPr>
          <a:xfrm>
            <a:off x="10635555" y="3087886"/>
            <a:ext cx="6890445" cy="666750"/>
          </a:xfrm>
          <a:prstGeom prst="roundRect">
            <a:avLst>
              <a:gd fmla="val 11429"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10873680" y="3287911"/>
            <a:ext cx="6620908"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800"/>
              <a:buFont typeface="Helvetica Neue"/>
              <a:buNone/>
            </a:pPr>
            <a:r>
              <a:rPr b="0" i="0" lang="en-US" sz="1800" u="none" cap="none" strike="noStrike">
                <a:solidFill>
                  <a:srgbClr val="3A4253"/>
                </a:solidFill>
                <a:highlight>
                  <a:srgbClr val="FFFFFF"/>
                </a:highlight>
                <a:latin typeface="Helvetica Neue"/>
                <a:ea typeface="Helvetica Neue"/>
                <a:cs typeface="Helvetica Neue"/>
                <a:sym typeface="Helvetica Neue"/>
              </a:rPr>
              <a:t>LLM / chatbot → </a:t>
            </a:r>
            <a:r>
              <a:rPr b="1" i="0" lang="en-US" sz="1800" u="none" cap="none" strike="noStrike">
                <a:solidFill>
                  <a:srgbClr val="232F3E"/>
                </a:solidFill>
                <a:latin typeface="Helvetica Neue"/>
                <a:ea typeface="Helvetica Neue"/>
                <a:cs typeface="Helvetica Neue"/>
                <a:sym typeface="Helvetica Neue"/>
              </a:rPr>
              <a:t>Bedrock</a:t>
            </a:r>
            <a:endParaRPr b="0" i="0" sz="1800" u="none" cap="none" strike="noStrike">
              <a:solidFill>
                <a:schemeClr val="dk1"/>
              </a:solidFill>
              <a:latin typeface="Calibri"/>
              <a:ea typeface="Calibri"/>
              <a:cs typeface="Calibri"/>
              <a:sym typeface="Calibri"/>
            </a:endParaRPr>
          </a:p>
        </p:txBody>
      </p:sp>
      <p:sp>
        <p:nvSpPr>
          <p:cNvPr id="476" name="Google Shape;476;p13"/>
          <p:cNvSpPr/>
          <p:nvPr/>
        </p:nvSpPr>
        <p:spPr>
          <a:xfrm>
            <a:off x="10635555" y="3887986"/>
            <a:ext cx="6890445" cy="666750"/>
          </a:xfrm>
          <a:prstGeom prst="roundRect">
            <a:avLst>
              <a:gd fmla="val 11429"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10873680" y="4088011"/>
            <a:ext cx="6620908"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800"/>
              <a:buFont typeface="Helvetica Neue"/>
              <a:buNone/>
            </a:pPr>
            <a:r>
              <a:rPr b="0" i="0" lang="en-US" sz="1800" u="none" cap="none" strike="noStrike">
                <a:solidFill>
                  <a:srgbClr val="3A4253"/>
                </a:solidFill>
                <a:highlight>
                  <a:srgbClr val="FFFFFF"/>
                </a:highlight>
                <a:latin typeface="Helvetica Neue"/>
                <a:ea typeface="Helvetica Neue"/>
                <a:cs typeface="Helvetica Neue"/>
                <a:sym typeface="Helvetica Neue"/>
              </a:rPr>
              <a:t>Time series, beginner → </a:t>
            </a:r>
            <a:r>
              <a:rPr b="1" i="0" lang="en-US" sz="1800" u="none" cap="none" strike="noStrike">
                <a:solidFill>
                  <a:srgbClr val="232F3E"/>
                </a:solidFill>
                <a:latin typeface="Helvetica Neue"/>
                <a:ea typeface="Helvetica Neue"/>
                <a:cs typeface="Helvetica Neue"/>
                <a:sym typeface="Helvetica Neue"/>
              </a:rPr>
              <a:t>Canvas</a:t>
            </a:r>
            <a:endParaRPr b="0" i="0" sz="1800" u="none" cap="none" strike="noStrike">
              <a:solidFill>
                <a:schemeClr val="dk1"/>
              </a:solidFill>
              <a:latin typeface="Calibri"/>
              <a:ea typeface="Calibri"/>
              <a:cs typeface="Calibri"/>
              <a:sym typeface="Calibri"/>
            </a:endParaRPr>
          </a:p>
        </p:txBody>
      </p:sp>
      <p:sp>
        <p:nvSpPr>
          <p:cNvPr id="478" name="Google Shape;478;p13"/>
          <p:cNvSpPr/>
          <p:nvPr/>
        </p:nvSpPr>
        <p:spPr>
          <a:xfrm>
            <a:off x="10635555" y="4688086"/>
            <a:ext cx="6890445" cy="666750"/>
          </a:xfrm>
          <a:prstGeom prst="roundRect">
            <a:avLst>
              <a:gd fmla="val 11429"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10873680" y="4888111"/>
            <a:ext cx="6620908"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800"/>
              <a:buFont typeface="Helvetica Neue"/>
              <a:buNone/>
            </a:pPr>
            <a:r>
              <a:rPr b="0" i="0" lang="en-US" sz="1800" u="none" cap="none" strike="noStrike">
                <a:solidFill>
                  <a:srgbClr val="3A4253"/>
                </a:solidFill>
                <a:highlight>
                  <a:srgbClr val="FFFFFF"/>
                </a:highlight>
                <a:latin typeface="Helvetica Neue"/>
                <a:ea typeface="Helvetica Neue"/>
                <a:cs typeface="Helvetica Neue"/>
                <a:sym typeface="Helvetica Neue"/>
              </a:rPr>
              <a:t>Time series, production → </a:t>
            </a:r>
            <a:r>
              <a:rPr b="1" i="0" lang="en-US" sz="1800" u="none" cap="none" strike="noStrike">
                <a:solidFill>
                  <a:srgbClr val="232F3E"/>
                </a:solidFill>
                <a:latin typeface="Helvetica Neue"/>
                <a:ea typeface="Helvetica Neue"/>
                <a:cs typeface="Helvetica Neue"/>
                <a:sym typeface="Helvetica Neue"/>
              </a:rPr>
              <a:t>SDK + DeepAR</a:t>
            </a:r>
            <a:endParaRPr b="0" i="0" sz="1800" u="none" cap="none" strike="noStrike">
              <a:solidFill>
                <a:schemeClr val="dk1"/>
              </a:solidFill>
              <a:latin typeface="Calibri"/>
              <a:ea typeface="Calibri"/>
              <a:cs typeface="Calibri"/>
              <a:sym typeface="Calibri"/>
            </a:endParaRPr>
          </a:p>
        </p:txBody>
      </p:sp>
      <p:sp>
        <p:nvSpPr>
          <p:cNvPr id="480" name="Google Shape;480;p13"/>
          <p:cNvSpPr/>
          <p:nvPr/>
        </p:nvSpPr>
        <p:spPr>
          <a:xfrm>
            <a:off x="10635555" y="5488186"/>
            <a:ext cx="6890445" cy="666750"/>
          </a:xfrm>
          <a:prstGeom prst="roundRect">
            <a:avLst>
              <a:gd fmla="val 11429"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3"/>
          <p:cNvSpPr/>
          <p:nvPr/>
        </p:nvSpPr>
        <p:spPr>
          <a:xfrm>
            <a:off x="10873680" y="5688211"/>
            <a:ext cx="6620908"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800"/>
              <a:buFont typeface="Helvetica Neue"/>
              <a:buNone/>
            </a:pPr>
            <a:r>
              <a:rPr b="0" i="0" lang="en-US" sz="1800" u="none" cap="none" strike="noStrike">
                <a:solidFill>
                  <a:srgbClr val="3A4253"/>
                </a:solidFill>
                <a:highlight>
                  <a:srgbClr val="FFFFFF"/>
                </a:highlight>
                <a:latin typeface="Helvetica Neue"/>
                <a:ea typeface="Helvetica Neue"/>
                <a:cs typeface="Helvetica Neue"/>
                <a:sym typeface="Helvetica Neue"/>
              </a:rPr>
              <a:t>Tabular ML → </a:t>
            </a:r>
            <a:r>
              <a:rPr b="1" i="0" lang="en-US" sz="1800" u="none" cap="none" strike="noStrike">
                <a:solidFill>
                  <a:srgbClr val="232F3E"/>
                </a:solidFill>
                <a:latin typeface="Helvetica Neue"/>
                <a:ea typeface="Helvetica Neue"/>
                <a:cs typeface="Helvetica Neue"/>
                <a:sym typeface="Helvetica Neue"/>
              </a:rPr>
              <a:t>SDK + XGBoost</a:t>
            </a:r>
            <a:endParaRPr b="0" i="0" sz="1800" u="none" cap="none" strike="noStrike">
              <a:solidFill>
                <a:schemeClr val="dk1"/>
              </a:solidFill>
              <a:latin typeface="Calibri"/>
              <a:ea typeface="Calibri"/>
              <a:cs typeface="Calibri"/>
              <a:sym typeface="Calibri"/>
            </a:endParaRPr>
          </a:p>
        </p:txBody>
      </p:sp>
      <p:sp>
        <p:nvSpPr>
          <p:cNvPr id="482" name="Google Shape;482;p13"/>
          <p:cNvSpPr/>
          <p:nvPr/>
        </p:nvSpPr>
        <p:spPr>
          <a:xfrm>
            <a:off x="10635555" y="6288286"/>
            <a:ext cx="6890445" cy="666750"/>
          </a:xfrm>
          <a:prstGeom prst="roundRect">
            <a:avLst>
              <a:gd fmla="val 11429" name="adj"/>
            </a:avLst>
          </a:prstGeom>
          <a:solidFill>
            <a:srgbClr val="FFFFFF"/>
          </a:solidFill>
          <a:ln cap="flat" cmpd="sng" w="9525">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3"/>
          <p:cNvSpPr/>
          <p:nvPr/>
        </p:nvSpPr>
        <p:spPr>
          <a:xfrm>
            <a:off x="10873680" y="6488311"/>
            <a:ext cx="6620908" cy="304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253"/>
              </a:buClr>
              <a:buSzPts val="1800"/>
              <a:buFont typeface="Helvetica Neue"/>
              <a:buNone/>
            </a:pPr>
            <a:r>
              <a:rPr b="0" i="0" lang="en-US" sz="1800" u="none" cap="none" strike="noStrike">
                <a:solidFill>
                  <a:srgbClr val="3A4253"/>
                </a:solidFill>
                <a:highlight>
                  <a:srgbClr val="FFFFFF"/>
                </a:highlight>
                <a:latin typeface="Helvetica Neue"/>
                <a:ea typeface="Helvetica Neue"/>
                <a:cs typeface="Helvetica Neue"/>
                <a:sym typeface="Helvetica Neue"/>
              </a:rPr>
              <a:t>Avoiding lock-in → </a:t>
            </a:r>
            <a:r>
              <a:rPr b="1" i="0" lang="en-US" sz="1800" u="none" cap="none" strike="noStrike">
                <a:solidFill>
                  <a:srgbClr val="232F3E"/>
                </a:solidFill>
                <a:latin typeface="Helvetica Neue"/>
                <a:ea typeface="Helvetica Neue"/>
                <a:cs typeface="Helvetica Neue"/>
                <a:sym typeface="Helvetica Neue"/>
              </a:rPr>
              <a:t>MLflow on K8s</a:t>
            </a:r>
            <a:endParaRPr b="0" i="0" sz="1800" u="none" cap="none" strike="noStrike">
              <a:solidFill>
                <a:schemeClr val="dk1"/>
              </a:solidFill>
              <a:latin typeface="Calibri"/>
              <a:ea typeface="Calibri"/>
              <a:cs typeface="Calibri"/>
              <a:sym typeface="Calibri"/>
            </a:endParaRPr>
          </a:p>
        </p:txBody>
      </p:sp>
      <p:sp>
        <p:nvSpPr>
          <p:cNvPr id="484" name="Google Shape;484;p13"/>
          <p:cNvSpPr/>
          <p:nvPr/>
        </p:nvSpPr>
        <p:spPr>
          <a:xfrm>
            <a:off x="762000" y="9744075"/>
            <a:ext cx="5296885"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280"/>
              </a:buClr>
              <a:buSzPts val="1350"/>
              <a:buFont typeface="Helvetica Neue"/>
              <a:buNone/>
            </a:pPr>
            <a:r>
              <a:rPr b="0" i="0" lang="en-US" sz="1350" u="none" cap="none" strike="noStrike">
                <a:solidFill>
                  <a:srgbClr val="6B7280"/>
                </a:solidFill>
                <a:latin typeface="Helvetica Neue"/>
                <a:ea typeface="Helvetica Neue"/>
                <a:cs typeface="Helvetica Neue"/>
                <a:sym typeface="Helvetica Neue"/>
              </a:rPr>
              <a:t>TEAM 11_02 · AWS SAGEMAKER AI · CCBDA-MIRI 2026</a:t>
            </a:r>
            <a:endParaRPr b="0" i="0" sz="1350" u="none" cap="none" strike="noStrike">
              <a:solidFill>
                <a:schemeClr val="dk1"/>
              </a:solidFill>
              <a:latin typeface="Calibri"/>
              <a:ea typeface="Calibri"/>
              <a:cs typeface="Calibri"/>
              <a:sym typeface="Calibri"/>
            </a:endParaRPr>
          </a:p>
        </p:txBody>
      </p:sp>
      <p:sp>
        <p:nvSpPr>
          <p:cNvPr id="485" name="Google Shape;485;p13"/>
          <p:cNvSpPr/>
          <p:nvPr/>
        </p:nvSpPr>
        <p:spPr>
          <a:xfrm>
            <a:off x="16929646" y="9744075"/>
            <a:ext cx="672554"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116"/>
              </a:buClr>
              <a:buSzPts val="1350"/>
              <a:buFont typeface="Helvetica Neue"/>
              <a:buNone/>
            </a:pPr>
            <a:r>
              <a:rPr b="0" i="0" lang="en-US" sz="1350" u="none" cap="none" strike="noStrike">
                <a:solidFill>
                  <a:srgbClr val="0E1116"/>
                </a:solidFill>
                <a:latin typeface="Helvetica Neue"/>
                <a:ea typeface="Helvetica Neue"/>
                <a:cs typeface="Helvetica Neue"/>
                <a:sym typeface="Helvetica Neue"/>
              </a:rPr>
              <a:t>14 / 17</a:t>
            </a:r>
            <a:endParaRPr b="0" i="0" sz="1350" u="none" cap="none" strike="noStrike">
              <a:solidFill>
                <a:schemeClr val="dk1"/>
              </a:solidFill>
              <a:latin typeface="Calibri"/>
              <a:ea typeface="Calibri"/>
              <a:cs typeface="Calibri"/>
              <a:sym typeface="Calibri"/>
            </a:endParaRPr>
          </a:p>
        </p:txBody>
      </p:sp>
      <p:sp>
        <p:nvSpPr>
          <p:cNvPr id="486" name="TextBox 485"/>
          <p:cNvSpPr txBox="1"/>
          <p:nvPr/>
        </p:nvSpPr>
        <p:spPr>
          <a:xfrm>
            <a:off x="950976" y="6400800"/>
            <a:ext cx="9107424" cy="201168"/>
          </a:xfrm>
          <a:prstGeom prst="rect">
            <a:avLst/>
          </a:prstGeom>
          <a:noFill/>
        </p:spPr>
        <p:txBody>
          <a:bodyPr wrap="none" lIns="0" rIns="0" tIns="0" bIns="0">
            <a:spAutoFit/>
          </a:bodyPr>
          <a:lstStyle/>
          <a:p>
            <a:r>
              <a:rPr sz="900" b="1" i="0">
                <a:solidFill>
                  <a:srgbClr val="FF9900"/>
                </a:solidFill>
                <a:latin typeface="Roboto Mono"/>
              </a:rPr>
              <a:t>COMPLEMENTARY AWS SERVICES</a:t>
            </a:r>
          </a:p>
        </p:txBody>
      </p:sp>
      <p:sp>
        <p:nvSpPr>
          <p:cNvPr id="487" name="Rectangle 486"/>
          <p:cNvSpPr/>
          <p:nvPr/>
        </p:nvSpPr>
        <p:spPr>
          <a:xfrm>
            <a:off x="758952" y="6611112"/>
            <a:ext cx="9299448" cy="274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TextBox 488"/>
          <p:cNvSpPr txBox="1"/>
          <p:nvPr/>
        </p:nvSpPr>
        <p:spPr>
          <a:xfrm>
            <a:off x="10872216" y="5989320"/>
            <a:ext cx="6656832" cy="201168"/>
          </a:xfrm>
          <a:prstGeom prst="rect">
            <a:avLst/>
          </a:prstGeom>
          <a:noFill/>
        </p:spPr>
        <p:txBody>
          <a:bodyPr wrap="none" lIns="0" rIns="0" tIns="0" bIns="0">
            <a:spAutoFit/>
          </a:bodyPr>
          <a:lstStyle/>
          <a:p>
            <a:r>
              <a:rPr sz="900" b="1">
                <a:solidFill>
                  <a:srgbClr val="FF9900"/>
                </a:solidFill>
                <a:latin typeface="Roboto Mono"/>
              </a:rPr>
              <a:t>WHEN SAGEMAKER ISN'T THE FIT</a:t>
            </a:r>
          </a:p>
        </p:txBody>
      </p:sp>
      <p:sp>
        <p:nvSpPr>
          <p:cNvPr id="490" name="Rectangle 489"/>
          <p:cNvSpPr/>
          <p:nvPr/>
        </p:nvSpPr>
        <p:spPr>
          <a:xfrm>
            <a:off x="10634472" y="6199632"/>
            <a:ext cx="6894576" cy="274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TextBox 490"/>
          <p:cNvSpPr txBox="1"/>
          <p:nvPr/>
        </p:nvSpPr>
        <p:spPr>
          <a:xfrm>
            <a:off x="950976" y="6400800"/>
            <a:ext cx="9107424" cy="201168"/>
          </a:xfrm>
          <a:prstGeom prst="rect">
            <a:avLst/>
          </a:prstGeom>
          <a:noFill/>
        </p:spPr>
        <p:txBody>
          <a:bodyPr wrap="none" lIns="0" rIns="0" tIns="0" bIns="0">
            <a:spAutoFit/>
          </a:bodyPr>
          <a:lstStyle/>
          <a:p>
            <a:r>
              <a:rPr sz="900" b="1">
                <a:solidFill>
                  <a:srgbClr val="FF9900"/>
                </a:solidFill>
                <a:latin typeface="Roboto Mono"/>
              </a:rPr>
              <a:t>COMPLEMENTARY AWS SERVICES</a:t>
            </a:r>
          </a:p>
        </p:txBody>
      </p:sp>
      <p:sp>
        <p:nvSpPr>
          <p:cNvPr id="492" name="Rectangle 491"/>
          <p:cNvSpPr/>
          <p:nvPr/>
        </p:nvSpPr>
        <p:spPr>
          <a:xfrm>
            <a:off x="758952" y="6611112"/>
            <a:ext cx="9299448" cy="274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TextBox 493"/>
          <p:cNvSpPr txBox="1"/>
          <p:nvPr/>
        </p:nvSpPr>
        <p:spPr>
          <a:xfrm>
            <a:off x="10872216" y="5989320"/>
            <a:ext cx="6656832" cy="201168"/>
          </a:xfrm>
          <a:prstGeom prst="rect">
            <a:avLst/>
          </a:prstGeom>
          <a:noFill/>
        </p:spPr>
        <p:txBody>
          <a:bodyPr wrap="none" lIns="0" rIns="0" tIns="0" bIns="0">
            <a:spAutoFit/>
          </a:bodyPr>
          <a:lstStyle/>
          <a:p>
            <a:r>
              <a:rPr sz="900" b="1">
                <a:solidFill>
                  <a:srgbClr val="FF9900"/>
                </a:solidFill>
                <a:latin typeface="Roboto Mono"/>
              </a:rPr>
              <a:t>WHEN SAGEMAKER ISN'T THE FIT</a:t>
            </a:r>
          </a:p>
        </p:txBody>
      </p:sp>
      <p:sp>
        <p:nvSpPr>
          <p:cNvPr id="495" name="Rectangle 494"/>
          <p:cNvSpPr/>
          <p:nvPr/>
        </p:nvSpPr>
        <p:spPr>
          <a:xfrm>
            <a:off x="10634472" y="6199632"/>
            <a:ext cx="6894576" cy="274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490" name="Shape 490"/>
        <p:cNvGrpSpPr/>
        <p:nvPr/>
      </p:nvGrpSpPr>
      <p:grpSpPr>
        <a:xfrm>
          <a:off x="0" y="0"/>
          <a:ext cx="0" cy="0"/>
          <a:chOff x="0" y="0"/>
          <a:chExt cx="0" cy="0"/>
        </a:xfrm>
      </p:grpSpPr>
      <p:sp>
        <p:nvSpPr>
          <p:cNvPr id="491" name="Google Shape;491;g3e0832b152f_9_0"/>
          <p:cNvSpPr/>
          <p:nvPr/>
        </p:nvSpPr>
        <p:spPr>
          <a:xfrm>
            <a:off x="640080" y="329184"/>
            <a:ext cx="1097280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1600"/>
              <a:buFont typeface="Calibri"/>
              <a:buNone/>
            </a:pPr>
            <a:r>
              <a:rPr b="1" i="0" lang="en-US" sz="1600" u="none" cap="none" strike="noStrike">
                <a:solidFill>
                  <a:srgbClr val="F5A623"/>
                </a:solidFill>
                <a:latin typeface="Calibri"/>
                <a:ea typeface="Calibri"/>
                <a:cs typeface="Calibri"/>
                <a:sym typeface="Calibri"/>
              </a:rPr>
              <a:t>1</a:t>
            </a:r>
            <a:r>
              <a:rPr b="1" lang="en-US" sz="1600">
                <a:solidFill>
                  <a:srgbClr val="F5A623"/>
                </a:solidFill>
                <a:latin typeface="Calibri"/>
                <a:ea typeface="Calibri"/>
                <a:cs typeface="Calibri"/>
                <a:sym typeface="Calibri"/>
              </a:rPr>
              <a:t>5</a:t>
            </a:r>
            <a:r>
              <a:rPr b="1" i="0" lang="en-US" sz="1600" u="none" cap="none" strike="noStrike">
                <a:solidFill>
                  <a:srgbClr val="F5A623"/>
                </a:solidFill>
                <a:latin typeface="Calibri"/>
                <a:ea typeface="Calibri"/>
                <a:cs typeface="Calibri"/>
                <a:sym typeface="Calibri"/>
              </a:rPr>
              <a:t> · COMMUNITY &amp; ADOPTION</a:t>
            </a:r>
            <a:endParaRPr b="0" i="0" sz="1600" u="none" cap="none" strike="noStrike">
              <a:solidFill>
                <a:schemeClr val="dk1"/>
              </a:solidFill>
              <a:latin typeface="Calibri"/>
              <a:ea typeface="Calibri"/>
              <a:cs typeface="Calibri"/>
              <a:sym typeface="Calibri"/>
            </a:endParaRPr>
          </a:p>
        </p:txBody>
      </p:sp>
      <p:sp>
        <p:nvSpPr>
          <p:cNvPr id="492" name="Google Shape;492;g3e0832b152f_9_0"/>
          <p:cNvSpPr/>
          <p:nvPr/>
        </p:nvSpPr>
        <p:spPr>
          <a:xfrm>
            <a:off x="12801600" y="329184"/>
            <a:ext cx="4937760" cy="402336"/>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888888"/>
              </a:buClr>
              <a:buSzPts val="1600"/>
              <a:buFont typeface="Calibri"/>
              <a:buNone/>
            </a:pPr>
            <a:r>
              <a:rPr b="0" i="0" lang="en-US" sz="1600" u="none" cap="none" strike="noStrike">
                <a:solidFill>
                  <a:srgbClr val="888888"/>
                </a:solidFill>
                <a:latin typeface="Calibri"/>
                <a:ea typeface="Calibri"/>
                <a:cs typeface="Calibri"/>
                <a:sym typeface="Calibri"/>
              </a:rPr>
              <a:t>SPEAKER · ILIAS</a:t>
            </a:r>
            <a:endParaRPr b="0" i="0" sz="1600" u="none" cap="none" strike="noStrike">
              <a:solidFill>
                <a:schemeClr val="dk1"/>
              </a:solidFill>
              <a:latin typeface="Calibri"/>
              <a:ea typeface="Calibri"/>
              <a:cs typeface="Calibri"/>
              <a:sym typeface="Calibri"/>
            </a:endParaRPr>
          </a:p>
        </p:txBody>
      </p:sp>
      <p:sp>
        <p:nvSpPr>
          <p:cNvPr id="493" name="Google Shape;493;g3e0832b152f_9_0"/>
          <p:cNvSpPr/>
          <p:nvPr/>
        </p:nvSpPr>
        <p:spPr>
          <a:xfrm>
            <a:off x="640080" y="877824"/>
            <a:ext cx="12801600" cy="100584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5600"/>
              <a:buFont typeface="Calibri"/>
              <a:buNone/>
            </a:pPr>
            <a:r>
              <a:rPr b="1" i="0" lang="en-US" sz="5600" u="none" cap="none" strike="noStrike">
                <a:solidFill>
                  <a:srgbClr val="1A1A2E"/>
                </a:solidFill>
                <a:latin typeface="Calibri"/>
                <a:ea typeface="Calibri"/>
                <a:cs typeface="Calibri"/>
                <a:sym typeface="Calibri"/>
              </a:rPr>
              <a:t>Who actually uses it?</a:t>
            </a:r>
            <a:endParaRPr b="0" i="0" sz="5600" u="none" cap="none" strike="noStrike">
              <a:solidFill>
                <a:schemeClr val="dk1"/>
              </a:solidFill>
              <a:latin typeface="Calibri"/>
              <a:ea typeface="Calibri"/>
              <a:cs typeface="Calibri"/>
              <a:sym typeface="Calibri"/>
            </a:endParaRPr>
          </a:p>
        </p:txBody>
      </p:sp>
      <p:sp>
        <p:nvSpPr>
          <p:cNvPr id="494" name="Google Shape;494;g3e0832b152f_9_0"/>
          <p:cNvSpPr/>
          <p:nvPr/>
        </p:nvSpPr>
        <p:spPr>
          <a:xfrm>
            <a:off x="640080" y="1773936"/>
            <a:ext cx="1700784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2000"/>
              <a:buFont typeface="Calibri"/>
              <a:buNone/>
            </a:pPr>
            <a:r>
              <a:rPr b="0" i="0" lang="en-US" sz="2000" u="none" cap="none" strike="noStrike">
                <a:solidFill>
                  <a:srgbClr val="888888"/>
                </a:solidFill>
                <a:latin typeface="Calibri"/>
                <a:ea typeface="Calibri"/>
                <a:cs typeface="Calibri"/>
                <a:sym typeface="Calibri"/>
              </a:rPr>
              <a:t>88% of organizations now use AI in at least one business function — McKinsey 2026</a:t>
            </a:r>
            <a:endParaRPr b="0" i="0" sz="2000" u="none" cap="none" strike="noStrike">
              <a:solidFill>
                <a:schemeClr val="dk1"/>
              </a:solidFill>
              <a:latin typeface="Calibri"/>
              <a:ea typeface="Calibri"/>
              <a:cs typeface="Calibri"/>
              <a:sym typeface="Calibri"/>
            </a:endParaRPr>
          </a:p>
        </p:txBody>
      </p:sp>
      <p:sp>
        <p:nvSpPr>
          <p:cNvPr id="495" name="Google Shape;495;g3e0832b152f_9_0"/>
          <p:cNvSpPr/>
          <p:nvPr/>
        </p:nvSpPr>
        <p:spPr>
          <a:xfrm>
            <a:off x="640080" y="2322576"/>
            <a:ext cx="5486400" cy="118872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96" name="Google Shape;496;g3e0832b152f_9_0"/>
          <p:cNvSpPr/>
          <p:nvPr/>
        </p:nvSpPr>
        <p:spPr>
          <a:xfrm>
            <a:off x="822960" y="2377440"/>
            <a:ext cx="5120640" cy="54864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3600"/>
              <a:buFont typeface="Calibri"/>
              <a:buNone/>
            </a:pPr>
            <a:r>
              <a:rPr b="1" i="0" lang="en-US" sz="3600" u="none" cap="none" strike="noStrike">
                <a:solidFill>
                  <a:srgbClr val="F5A623"/>
                </a:solidFill>
                <a:latin typeface="Calibri"/>
                <a:ea typeface="Calibri"/>
                <a:cs typeface="Calibri"/>
                <a:sym typeface="Calibri"/>
              </a:rPr>
              <a:t>10,900+</a:t>
            </a:r>
            <a:endParaRPr b="0" i="0" sz="3600" u="none" cap="none" strike="noStrike">
              <a:solidFill>
                <a:schemeClr val="dk1"/>
              </a:solidFill>
              <a:latin typeface="Calibri"/>
              <a:ea typeface="Calibri"/>
              <a:cs typeface="Calibri"/>
              <a:sym typeface="Calibri"/>
            </a:endParaRPr>
          </a:p>
        </p:txBody>
      </p:sp>
      <p:sp>
        <p:nvSpPr>
          <p:cNvPr id="497" name="Google Shape;497;g3e0832b152f_9_0"/>
          <p:cNvSpPr/>
          <p:nvPr/>
        </p:nvSpPr>
        <p:spPr>
          <a:xfrm>
            <a:off x="822960" y="2926080"/>
            <a:ext cx="512064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1800"/>
              <a:buFont typeface="Calibri"/>
              <a:buNone/>
            </a:pPr>
            <a:r>
              <a:rPr b="0" i="0" lang="en-US" sz="1800" u="none" cap="none" strike="noStrike">
                <a:solidFill>
                  <a:srgbClr val="888888"/>
                </a:solidFill>
                <a:latin typeface="Calibri"/>
                <a:ea typeface="Calibri"/>
                <a:cs typeface="Calibri"/>
                <a:sym typeface="Calibri"/>
              </a:rPr>
              <a:t>Stars · GitHub</a:t>
            </a:r>
            <a:endParaRPr b="0" i="0" sz="1800" u="none" cap="none" strike="noStrike">
              <a:solidFill>
                <a:schemeClr val="dk1"/>
              </a:solidFill>
              <a:latin typeface="Calibri"/>
              <a:ea typeface="Calibri"/>
              <a:cs typeface="Calibri"/>
              <a:sym typeface="Calibri"/>
            </a:endParaRPr>
          </a:p>
        </p:txBody>
      </p:sp>
      <p:sp>
        <p:nvSpPr>
          <p:cNvPr id="498" name="Google Shape;498;g3e0832b152f_9_0"/>
          <p:cNvSpPr/>
          <p:nvPr/>
        </p:nvSpPr>
        <p:spPr>
          <a:xfrm>
            <a:off x="6492240" y="2322576"/>
            <a:ext cx="5486400" cy="118872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99" name="Google Shape;499;g3e0832b152f_9_0"/>
          <p:cNvSpPr/>
          <p:nvPr/>
        </p:nvSpPr>
        <p:spPr>
          <a:xfrm>
            <a:off x="6675120" y="2377440"/>
            <a:ext cx="5120640" cy="54864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3600"/>
              <a:buFont typeface="Calibri"/>
              <a:buNone/>
            </a:pPr>
            <a:r>
              <a:rPr b="1" i="0" lang="en-US" sz="3600" u="none" cap="none" strike="noStrike">
                <a:solidFill>
                  <a:srgbClr val="F5A623"/>
                </a:solidFill>
                <a:latin typeface="Calibri"/>
                <a:ea typeface="Calibri"/>
                <a:cs typeface="Calibri"/>
                <a:sym typeface="Calibri"/>
              </a:rPr>
              <a:t>7,000+</a:t>
            </a:r>
            <a:endParaRPr b="0" i="0" sz="3600" u="none" cap="none" strike="noStrike">
              <a:solidFill>
                <a:schemeClr val="dk1"/>
              </a:solidFill>
              <a:latin typeface="Calibri"/>
              <a:ea typeface="Calibri"/>
              <a:cs typeface="Calibri"/>
              <a:sym typeface="Calibri"/>
            </a:endParaRPr>
          </a:p>
        </p:txBody>
      </p:sp>
      <p:sp>
        <p:nvSpPr>
          <p:cNvPr id="500" name="Google Shape;500;g3e0832b152f_9_0"/>
          <p:cNvSpPr/>
          <p:nvPr/>
        </p:nvSpPr>
        <p:spPr>
          <a:xfrm>
            <a:off x="6675120" y="2926080"/>
            <a:ext cx="512064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1800"/>
              <a:buFont typeface="Calibri"/>
              <a:buNone/>
            </a:pPr>
            <a:r>
              <a:rPr b="0" i="0" lang="en-US" sz="1800" u="none" cap="none" strike="noStrike">
                <a:solidFill>
                  <a:srgbClr val="888888"/>
                </a:solidFill>
                <a:latin typeface="Calibri"/>
                <a:ea typeface="Calibri"/>
                <a:cs typeface="Calibri"/>
                <a:sym typeface="Calibri"/>
              </a:rPr>
              <a:t>Forks · GitHub</a:t>
            </a:r>
            <a:endParaRPr b="0" i="0" sz="1800" u="none" cap="none" strike="noStrike">
              <a:solidFill>
                <a:schemeClr val="dk1"/>
              </a:solidFill>
              <a:latin typeface="Calibri"/>
              <a:ea typeface="Calibri"/>
              <a:cs typeface="Calibri"/>
              <a:sym typeface="Calibri"/>
            </a:endParaRPr>
          </a:p>
        </p:txBody>
      </p:sp>
      <p:sp>
        <p:nvSpPr>
          <p:cNvPr id="501" name="Google Shape;501;g3e0832b152f_9_0"/>
          <p:cNvSpPr/>
          <p:nvPr/>
        </p:nvSpPr>
        <p:spPr>
          <a:xfrm>
            <a:off x="12344400" y="2322576"/>
            <a:ext cx="5486400" cy="118872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02" name="Google Shape;502;g3e0832b152f_9_0"/>
          <p:cNvSpPr/>
          <p:nvPr/>
        </p:nvSpPr>
        <p:spPr>
          <a:xfrm>
            <a:off x="12527280" y="2377440"/>
            <a:ext cx="5120640" cy="54864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3600"/>
              <a:buFont typeface="Calibri"/>
              <a:buNone/>
            </a:pPr>
            <a:r>
              <a:rPr b="1" i="0" lang="en-US" sz="3600" u="none" cap="none" strike="noStrike">
                <a:solidFill>
                  <a:srgbClr val="F5A623"/>
                </a:solidFill>
                <a:latin typeface="Calibri"/>
                <a:ea typeface="Calibri"/>
                <a:cs typeface="Calibri"/>
                <a:sym typeface="Calibri"/>
              </a:rPr>
              <a:t>MLflow</a:t>
            </a:r>
            <a:endParaRPr b="0" i="0" sz="3600" u="none" cap="none" strike="noStrike">
              <a:solidFill>
                <a:schemeClr val="dk1"/>
              </a:solidFill>
              <a:latin typeface="Calibri"/>
              <a:ea typeface="Calibri"/>
              <a:cs typeface="Calibri"/>
              <a:sym typeface="Calibri"/>
            </a:endParaRPr>
          </a:p>
        </p:txBody>
      </p:sp>
      <p:sp>
        <p:nvSpPr>
          <p:cNvPr id="503" name="Google Shape;503;g3e0832b152f_9_0"/>
          <p:cNvSpPr/>
          <p:nvPr/>
        </p:nvSpPr>
        <p:spPr>
          <a:xfrm>
            <a:off x="12527280" y="2926080"/>
            <a:ext cx="512064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1800"/>
              <a:buFont typeface="Calibri"/>
              <a:buNone/>
            </a:pPr>
            <a:r>
              <a:rPr b="0" i="0" lang="en-US" sz="1800" u="none" cap="none" strike="noStrike">
                <a:solidFill>
                  <a:srgbClr val="888888"/>
                </a:solidFill>
                <a:latin typeface="Calibri"/>
                <a:ea typeface="Calibri"/>
                <a:cs typeface="Calibri"/>
                <a:sym typeface="Calibri"/>
              </a:rPr>
              <a:t>Native integration</a:t>
            </a:r>
            <a:endParaRPr b="0" i="0" sz="1800" u="none" cap="none" strike="noStrike">
              <a:solidFill>
                <a:schemeClr val="dk1"/>
              </a:solidFill>
              <a:latin typeface="Calibri"/>
              <a:ea typeface="Calibri"/>
              <a:cs typeface="Calibri"/>
              <a:sym typeface="Calibri"/>
            </a:endParaRPr>
          </a:p>
        </p:txBody>
      </p:sp>
      <p:sp>
        <p:nvSpPr>
          <p:cNvPr id="504" name="Google Shape;504;g3e0832b152f_9_0"/>
          <p:cNvSpPr/>
          <p:nvPr/>
        </p:nvSpPr>
        <p:spPr>
          <a:xfrm>
            <a:off x="640080" y="3803904"/>
            <a:ext cx="1554480"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05" name="Google Shape;505;g3e0832b152f_9_0"/>
          <p:cNvSpPr/>
          <p:nvPr/>
        </p:nvSpPr>
        <p:spPr>
          <a:xfrm>
            <a:off x="640080" y="3803904"/>
            <a:ext cx="1554480"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Figma</a:t>
            </a:r>
            <a:endParaRPr b="0" i="0" sz="1800" u="none" cap="none" strike="noStrike">
              <a:solidFill>
                <a:schemeClr val="dk1"/>
              </a:solidFill>
              <a:latin typeface="Calibri"/>
              <a:ea typeface="Calibri"/>
              <a:cs typeface="Calibri"/>
              <a:sym typeface="Calibri"/>
            </a:endParaRPr>
          </a:p>
        </p:txBody>
      </p:sp>
      <p:sp>
        <p:nvSpPr>
          <p:cNvPr id="506" name="Google Shape;506;g3e0832b152f_9_0"/>
          <p:cNvSpPr/>
          <p:nvPr/>
        </p:nvSpPr>
        <p:spPr>
          <a:xfrm>
            <a:off x="2377440" y="3803904"/>
            <a:ext cx="2377440"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07" name="Google Shape;507;g3e0832b152f_9_0"/>
          <p:cNvSpPr/>
          <p:nvPr/>
        </p:nvSpPr>
        <p:spPr>
          <a:xfrm>
            <a:off x="2377440" y="3803904"/>
            <a:ext cx="2377440"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Perplexity</a:t>
            </a:r>
            <a:endParaRPr b="0" i="0" sz="1800" u="none" cap="none" strike="noStrike">
              <a:solidFill>
                <a:schemeClr val="dk1"/>
              </a:solidFill>
              <a:latin typeface="Calibri"/>
              <a:ea typeface="Calibri"/>
              <a:cs typeface="Calibri"/>
              <a:sym typeface="Calibri"/>
            </a:endParaRPr>
          </a:p>
        </p:txBody>
      </p:sp>
      <p:sp>
        <p:nvSpPr>
          <p:cNvPr id="508" name="Google Shape;508;g3e0832b152f_9_0"/>
          <p:cNvSpPr/>
          <p:nvPr/>
        </p:nvSpPr>
        <p:spPr>
          <a:xfrm>
            <a:off x="4937760" y="3803904"/>
            <a:ext cx="1225296"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09" name="Google Shape;509;g3e0832b152f_9_0"/>
          <p:cNvSpPr/>
          <p:nvPr/>
        </p:nvSpPr>
        <p:spPr>
          <a:xfrm>
            <a:off x="4937760" y="3803904"/>
            <a:ext cx="1225296"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NFL</a:t>
            </a:r>
            <a:endParaRPr b="0" i="0" sz="1800" u="none" cap="none" strike="noStrike">
              <a:solidFill>
                <a:schemeClr val="dk1"/>
              </a:solidFill>
              <a:latin typeface="Calibri"/>
              <a:ea typeface="Calibri"/>
              <a:cs typeface="Calibri"/>
              <a:sym typeface="Calibri"/>
            </a:endParaRPr>
          </a:p>
        </p:txBody>
      </p:sp>
      <p:sp>
        <p:nvSpPr>
          <p:cNvPr id="510" name="Google Shape;510;g3e0832b152f_9_0"/>
          <p:cNvSpPr/>
          <p:nvPr/>
        </p:nvSpPr>
        <p:spPr>
          <a:xfrm>
            <a:off x="6345936" y="3803904"/>
            <a:ext cx="2926080"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11" name="Google Shape;511;g3e0832b152f_9_0"/>
          <p:cNvSpPr/>
          <p:nvPr/>
        </p:nvSpPr>
        <p:spPr>
          <a:xfrm>
            <a:off x="6345936" y="3803904"/>
            <a:ext cx="2926080"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LG AI Research</a:t>
            </a:r>
            <a:endParaRPr b="0" i="0" sz="1800" u="none" cap="none" strike="noStrike">
              <a:solidFill>
                <a:schemeClr val="dk1"/>
              </a:solidFill>
              <a:latin typeface="Calibri"/>
              <a:ea typeface="Calibri"/>
              <a:cs typeface="Calibri"/>
              <a:sym typeface="Calibri"/>
            </a:endParaRPr>
          </a:p>
        </p:txBody>
      </p:sp>
      <p:sp>
        <p:nvSpPr>
          <p:cNvPr id="512" name="Google Shape;512;g3e0832b152f_9_0"/>
          <p:cNvSpPr/>
          <p:nvPr/>
        </p:nvSpPr>
        <p:spPr>
          <a:xfrm>
            <a:off x="9454896" y="3803904"/>
            <a:ext cx="1719072"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13" name="Google Shape;513;g3e0832b152f_9_0"/>
          <p:cNvSpPr/>
          <p:nvPr/>
        </p:nvSpPr>
        <p:spPr>
          <a:xfrm>
            <a:off x="9454896" y="3803904"/>
            <a:ext cx="1719072"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Toyota</a:t>
            </a:r>
            <a:endParaRPr b="0" i="0" sz="1800" u="none" cap="none" strike="noStrike">
              <a:solidFill>
                <a:schemeClr val="dk1"/>
              </a:solidFill>
              <a:latin typeface="Calibri"/>
              <a:ea typeface="Calibri"/>
              <a:cs typeface="Calibri"/>
              <a:sym typeface="Calibri"/>
            </a:endParaRPr>
          </a:p>
        </p:txBody>
      </p:sp>
      <p:sp>
        <p:nvSpPr>
          <p:cNvPr id="514" name="Google Shape;514;g3e0832b152f_9_0"/>
          <p:cNvSpPr/>
          <p:nvPr/>
        </p:nvSpPr>
        <p:spPr>
          <a:xfrm>
            <a:off x="11356848" y="3803904"/>
            <a:ext cx="2377440"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15" name="Google Shape;515;g3e0832b152f_9_0"/>
          <p:cNvSpPr/>
          <p:nvPr/>
        </p:nvSpPr>
        <p:spPr>
          <a:xfrm>
            <a:off x="11356848" y="3803904"/>
            <a:ext cx="2377440"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Salesforce</a:t>
            </a:r>
            <a:endParaRPr b="0" i="0" sz="1800" u="none" cap="none" strike="noStrike">
              <a:solidFill>
                <a:schemeClr val="dk1"/>
              </a:solidFill>
              <a:latin typeface="Calibri"/>
              <a:ea typeface="Calibri"/>
              <a:cs typeface="Calibri"/>
              <a:sym typeface="Calibri"/>
            </a:endParaRPr>
          </a:p>
        </p:txBody>
      </p:sp>
      <p:sp>
        <p:nvSpPr>
          <p:cNvPr id="516" name="Google Shape;516;g3e0832b152f_9_0"/>
          <p:cNvSpPr/>
          <p:nvPr/>
        </p:nvSpPr>
        <p:spPr>
          <a:xfrm>
            <a:off x="13917168" y="3803904"/>
            <a:ext cx="2871216"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17" name="Google Shape;517;g3e0832b152f_9_0"/>
          <p:cNvSpPr/>
          <p:nvPr/>
        </p:nvSpPr>
        <p:spPr>
          <a:xfrm>
            <a:off x="13917168" y="3803904"/>
            <a:ext cx="2871216"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Itaú · banking</a:t>
            </a:r>
            <a:endParaRPr b="0" i="0" sz="1800" u="none" cap="none" strike="noStrike">
              <a:solidFill>
                <a:schemeClr val="dk1"/>
              </a:solidFill>
              <a:latin typeface="Calibri"/>
              <a:ea typeface="Calibri"/>
              <a:cs typeface="Calibri"/>
              <a:sym typeface="Calibri"/>
            </a:endParaRPr>
          </a:p>
        </p:txBody>
      </p:sp>
      <p:sp>
        <p:nvSpPr>
          <p:cNvPr id="518" name="Google Shape;518;g3e0832b152f_9_0"/>
          <p:cNvSpPr/>
          <p:nvPr/>
        </p:nvSpPr>
        <p:spPr>
          <a:xfrm>
            <a:off x="640080" y="4389120"/>
            <a:ext cx="2926080"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19" name="Google Shape;519;g3e0832b152f_9_0"/>
          <p:cNvSpPr/>
          <p:nvPr/>
        </p:nvSpPr>
        <p:spPr>
          <a:xfrm>
            <a:off x="640080" y="4389120"/>
            <a:ext cx="2926080"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Cerner · healthcare</a:t>
            </a:r>
            <a:endParaRPr b="0" i="0" sz="1800" u="none" cap="none" strike="noStrike">
              <a:solidFill>
                <a:schemeClr val="dk1"/>
              </a:solidFill>
              <a:latin typeface="Calibri"/>
              <a:ea typeface="Calibri"/>
              <a:cs typeface="Calibri"/>
              <a:sym typeface="Calibri"/>
            </a:endParaRPr>
          </a:p>
        </p:txBody>
      </p:sp>
      <p:sp>
        <p:nvSpPr>
          <p:cNvPr id="520" name="Google Shape;520;g3e0832b152f_9_0"/>
          <p:cNvSpPr/>
          <p:nvPr/>
        </p:nvSpPr>
        <p:spPr>
          <a:xfrm>
            <a:off x="3749040" y="4389120"/>
            <a:ext cx="1719072"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21" name="Google Shape;521;g3e0832b152f_9_0"/>
          <p:cNvSpPr/>
          <p:nvPr/>
        </p:nvSpPr>
        <p:spPr>
          <a:xfrm>
            <a:off x="3749040" y="4389120"/>
            <a:ext cx="1719072"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Intuit</a:t>
            </a:r>
            <a:endParaRPr b="0" i="0" sz="1800" u="none" cap="none" strike="noStrike">
              <a:solidFill>
                <a:schemeClr val="dk1"/>
              </a:solidFill>
              <a:latin typeface="Calibri"/>
              <a:ea typeface="Calibri"/>
              <a:cs typeface="Calibri"/>
              <a:sym typeface="Calibri"/>
            </a:endParaRPr>
          </a:p>
        </p:txBody>
      </p:sp>
      <p:sp>
        <p:nvSpPr>
          <p:cNvPr id="522" name="Google Shape;522;g3e0832b152f_9_0"/>
          <p:cNvSpPr/>
          <p:nvPr/>
        </p:nvSpPr>
        <p:spPr>
          <a:xfrm>
            <a:off x="5650992" y="4389120"/>
            <a:ext cx="1719072" cy="475488"/>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23" name="Google Shape;523;g3e0832b152f_9_0"/>
          <p:cNvSpPr/>
          <p:nvPr/>
        </p:nvSpPr>
        <p:spPr>
          <a:xfrm>
            <a:off x="5650992" y="4389120"/>
            <a:ext cx="1719072" cy="475488"/>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444444"/>
              </a:buClr>
              <a:buSzPts val="1800"/>
              <a:buFont typeface="Calibri"/>
              <a:buNone/>
            </a:pPr>
            <a:r>
              <a:rPr b="0" i="0" lang="en-US" sz="1800" u="none" cap="none" strike="noStrike">
                <a:solidFill>
                  <a:srgbClr val="444444"/>
                </a:solidFill>
                <a:latin typeface="Calibri"/>
                <a:ea typeface="Calibri"/>
                <a:cs typeface="Calibri"/>
                <a:sym typeface="Calibri"/>
              </a:rPr>
              <a:t>Sophos</a:t>
            </a:r>
            <a:endParaRPr b="0" i="0" sz="1800" u="none" cap="none" strike="noStrike">
              <a:solidFill>
                <a:schemeClr val="dk1"/>
              </a:solidFill>
              <a:latin typeface="Calibri"/>
              <a:ea typeface="Calibri"/>
              <a:cs typeface="Calibri"/>
              <a:sym typeface="Calibri"/>
            </a:endParaRPr>
          </a:p>
        </p:txBody>
      </p:sp>
      <p:sp>
        <p:nvSpPr>
          <p:cNvPr id="524" name="Google Shape;524;g3e0832b152f_9_0"/>
          <p:cNvSpPr/>
          <p:nvPr/>
        </p:nvSpPr>
        <p:spPr>
          <a:xfrm>
            <a:off x="640080" y="5047488"/>
            <a:ext cx="8412480" cy="265176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25" name="Google Shape;525;g3e0832b152f_9_0"/>
          <p:cNvSpPr/>
          <p:nvPr/>
        </p:nvSpPr>
        <p:spPr>
          <a:xfrm>
            <a:off x="822960" y="5193792"/>
            <a:ext cx="274320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D7D46"/>
              </a:buClr>
              <a:buSzPts val="1600"/>
              <a:buFont typeface="Calibri"/>
              <a:buNone/>
            </a:pPr>
            <a:r>
              <a:rPr b="1" i="0" lang="en-US" sz="1600" u="none" cap="none" strike="noStrike">
                <a:solidFill>
                  <a:srgbClr val="2D7D46"/>
                </a:solidFill>
                <a:latin typeface="Calibri"/>
                <a:ea typeface="Calibri"/>
                <a:cs typeface="Calibri"/>
                <a:sym typeface="Calibri"/>
              </a:rPr>
              <a:t>LOVED</a:t>
            </a:r>
            <a:endParaRPr b="0" i="0" sz="1600" u="none" cap="none" strike="noStrike">
              <a:solidFill>
                <a:schemeClr val="dk1"/>
              </a:solidFill>
              <a:latin typeface="Calibri"/>
              <a:ea typeface="Calibri"/>
              <a:cs typeface="Calibri"/>
              <a:sym typeface="Calibri"/>
            </a:endParaRPr>
          </a:p>
        </p:txBody>
      </p:sp>
      <p:sp>
        <p:nvSpPr>
          <p:cNvPr id="526" name="Google Shape;526;g3e0832b152f_9_0"/>
          <p:cNvSpPr/>
          <p:nvPr/>
        </p:nvSpPr>
        <p:spPr>
          <a:xfrm>
            <a:off x="822960" y="5632704"/>
            <a:ext cx="786384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One-touch deployment</a:t>
            </a:r>
            <a:endParaRPr b="0" i="0" sz="2000" u="none" cap="none" strike="noStrike">
              <a:solidFill>
                <a:schemeClr val="dk1"/>
              </a:solidFill>
              <a:latin typeface="Calibri"/>
              <a:ea typeface="Calibri"/>
              <a:cs typeface="Calibri"/>
              <a:sym typeface="Calibri"/>
            </a:endParaRPr>
          </a:p>
        </p:txBody>
      </p:sp>
      <p:sp>
        <p:nvSpPr>
          <p:cNvPr id="527" name="Google Shape;527;g3e0832b152f_9_0"/>
          <p:cNvSpPr/>
          <p:nvPr/>
        </p:nvSpPr>
        <p:spPr>
          <a:xfrm>
            <a:off x="822960" y="6089904"/>
            <a:ext cx="786384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Fully managed, scales easily</a:t>
            </a:r>
            <a:endParaRPr b="0" i="0" sz="2000" u="none" cap="none" strike="noStrike">
              <a:solidFill>
                <a:schemeClr val="dk1"/>
              </a:solidFill>
              <a:latin typeface="Calibri"/>
              <a:ea typeface="Calibri"/>
              <a:cs typeface="Calibri"/>
              <a:sym typeface="Calibri"/>
            </a:endParaRPr>
          </a:p>
        </p:txBody>
      </p:sp>
      <p:sp>
        <p:nvSpPr>
          <p:cNvPr id="528" name="Google Shape;528;g3e0832b152f_9_0"/>
          <p:cNvSpPr/>
          <p:nvPr/>
        </p:nvSpPr>
        <p:spPr>
          <a:xfrm>
            <a:off x="822960" y="6547104"/>
            <a:ext cx="786384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Wide framework support — TF / PyTorch / MXNet</a:t>
            </a:r>
            <a:endParaRPr b="0" i="0" sz="2000" u="none" cap="none" strike="noStrike">
              <a:solidFill>
                <a:schemeClr val="dk1"/>
              </a:solidFill>
              <a:latin typeface="Calibri"/>
              <a:ea typeface="Calibri"/>
              <a:cs typeface="Calibri"/>
              <a:sym typeface="Calibri"/>
            </a:endParaRPr>
          </a:p>
        </p:txBody>
      </p:sp>
      <p:sp>
        <p:nvSpPr>
          <p:cNvPr id="529" name="Google Shape;529;g3e0832b152f_9_0"/>
          <p:cNvSpPr/>
          <p:nvPr/>
        </p:nvSpPr>
        <p:spPr>
          <a:xfrm>
            <a:off x="822960" y="7004304"/>
            <a:ext cx="786384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Strong technical support</a:t>
            </a:r>
            <a:endParaRPr b="0" i="0" sz="2000" u="none" cap="none" strike="noStrike">
              <a:solidFill>
                <a:schemeClr val="dk1"/>
              </a:solidFill>
              <a:latin typeface="Calibri"/>
              <a:ea typeface="Calibri"/>
              <a:cs typeface="Calibri"/>
              <a:sym typeface="Calibri"/>
            </a:endParaRPr>
          </a:p>
        </p:txBody>
      </p:sp>
      <p:sp>
        <p:nvSpPr>
          <p:cNvPr id="530" name="Google Shape;530;g3e0832b152f_9_0"/>
          <p:cNvSpPr/>
          <p:nvPr/>
        </p:nvSpPr>
        <p:spPr>
          <a:xfrm>
            <a:off x="9418320" y="5047488"/>
            <a:ext cx="8229600" cy="265176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31" name="Google Shape;531;g3e0832b152f_9_0"/>
          <p:cNvSpPr/>
          <p:nvPr/>
        </p:nvSpPr>
        <p:spPr>
          <a:xfrm>
            <a:off x="9601200" y="5193792"/>
            <a:ext cx="548640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C0392B"/>
              </a:buClr>
              <a:buSzPts val="1600"/>
              <a:buFont typeface="Calibri"/>
              <a:buNone/>
            </a:pPr>
            <a:r>
              <a:rPr b="1" i="0" lang="en-US" sz="1600" u="none" cap="none" strike="noStrike">
                <a:solidFill>
                  <a:srgbClr val="C0392B"/>
                </a:solidFill>
                <a:latin typeface="Calibri"/>
                <a:ea typeface="Calibri"/>
                <a:cs typeface="Calibri"/>
                <a:sym typeface="Calibri"/>
              </a:rPr>
              <a:t>COMPLAINED ABOUT</a:t>
            </a:r>
            <a:endParaRPr b="0" i="0" sz="1600" u="none" cap="none" strike="noStrike">
              <a:solidFill>
                <a:schemeClr val="dk1"/>
              </a:solidFill>
              <a:latin typeface="Calibri"/>
              <a:ea typeface="Calibri"/>
              <a:cs typeface="Calibri"/>
              <a:sym typeface="Calibri"/>
            </a:endParaRPr>
          </a:p>
        </p:txBody>
      </p:sp>
      <p:sp>
        <p:nvSpPr>
          <p:cNvPr id="532" name="Google Shape;532;g3e0832b152f_9_0"/>
          <p:cNvSpPr/>
          <p:nvPr/>
        </p:nvSpPr>
        <p:spPr>
          <a:xfrm>
            <a:off x="9601200" y="5632704"/>
            <a:ext cx="768096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Opaque pricing → "month-end shock"</a:t>
            </a:r>
            <a:endParaRPr b="0" i="0" sz="2000" u="none" cap="none" strike="noStrike">
              <a:solidFill>
                <a:schemeClr val="dk1"/>
              </a:solidFill>
              <a:latin typeface="Calibri"/>
              <a:ea typeface="Calibri"/>
              <a:cs typeface="Calibri"/>
              <a:sym typeface="Calibri"/>
            </a:endParaRPr>
          </a:p>
        </p:txBody>
      </p:sp>
      <p:sp>
        <p:nvSpPr>
          <p:cNvPr id="533" name="Google Shape;533;g3e0832b152f_9_0"/>
          <p:cNvSpPr/>
          <p:nvPr/>
        </p:nvSpPr>
        <p:spPr>
          <a:xfrm>
            <a:off x="9601200" y="6089904"/>
            <a:ext cx="768096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Steep learning curve for non-AWS natives</a:t>
            </a:r>
            <a:endParaRPr b="0" i="0" sz="2000" u="none" cap="none" strike="noStrike">
              <a:solidFill>
                <a:schemeClr val="dk1"/>
              </a:solidFill>
              <a:latin typeface="Calibri"/>
              <a:ea typeface="Calibri"/>
              <a:cs typeface="Calibri"/>
              <a:sym typeface="Calibri"/>
            </a:endParaRPr>
          </a:p>
        </p:txBody>
      </p:sp>
      <p:sp>
        <p:nvSpPr>
          <p:cNvPr id="534" name="Google Shape;534;g3e0832b152f_9_0"/>
          <p:cNvSpPr/>
          <p:nvPr/>
        </p:nvSpPr>
        <p:spPr>
          <a:xfrm>
            <a:off x="9601200" y="6547104"/>
            <a:ext cx="768096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"Zombie resources" keep billing after deletion</a:t>
            </a:r>
            <a:endParaRPr b="0" i="0" sz="2000" u="none" cap="none" strike="noStrike">
              <a:solidFill>
                <a:schemeClr val="dk1"/>
              </a:solidFill>
              <a:latin typeface="Calibri"/>
              <a:ea typeface="Calibri"/>
              <a:cs typeface="Calibri"/>
              <a:sym typeface="Calibri"/>
            </a:endParaRPr>
          </a:p>
        </p:txBody>
      </p:sp>
      <p:sp>
        <p:nvSpPr>
          <p:cNvPr id="535" name="Google Shape;535;g3e0832b152f_9_0"/>
          <p:cNvSpPr/>
          <p:nvPr/>
        </p:nvSpPr>
        <p:spPr>
          <a:xfrm>
            <a:off x="9601200" y="7004304"/>
            <a:ext cx="768096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333333"/>
              </a:buClr>
              <a:buSzPts val="2000"/>
              <a:buFont typeface="Calibri"/>
              <a:buNone/>
            </a:pPr>
            <a:r>
              <a:rPr b="0" i="0" lang="en-US" sz="2000" u="none" cap="none" strike="noStrike">
                <a:solidFill>
                  <a:srgbClr val="333333"/>
                </a:solidFill>
                <a:latin typeface="Calibri"/>
                <a:ea typeface="Calibri"/>
                <a:cs typeface="Calibri"/>
                <a:sym typeface="Calibri"/>
              </a:rPr>
              <a:t>✗  Vendor lock-in — SageMaker-specific artifacts</a:t>
            </a:r>
            <a:endParaRPr b="0" i="0" sz="2000" u="none" cap="none" strike="noStrike">
              <a:solidFill>
                <a:schemeClr val="dk1"/>
              </a:solidFill>
              <a:latin typeface="Calibri"/>
              <a:ea typeface="Calibri"/>
              <a:cs typeface="Calibri"/>
              <a:sym typeface="Calibri"/>
            </a:endParaRPr>
          </a:p>
        </p:txBody>
      </p:sp>
      <p:sp>
        <p:nvSpPr>
          <p:cNvPr id="536" name="Google Shape;536;g3e0832b152f_9_0"/>
          <p:cNvSpPr/>
          <p:nvPr/>
        </p:nvSpPr>
        <p:spPr>
          <a:xfrm>
            <a:off x="640080" y="7863840"/>
            <a:ext cx="17007840" cy="1371600"/>
          </a:xfrm>
          <a:prstGeom prst="rect">
            <a:avLst/>
          </a:prstGeom>
          <a:solidFill>
            <a:srgbClr val="1A1A2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37" name="Google Shape;537;g3e0832b152f_9_0"/>
          <p:cNvSpPr/>
          <p:nvPr/>
        </p:nvSpPr>
        <p:spPr>
          <a:xfrm>
            <a:off x="914400" y="7936992"/>
            <a:ext cx="5486400" cy="329184"/>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1500"/>
              <a:buFont typeface="Calibri"/>
              <a:buNone/>
            </a:pPr>
            <a:r>
              <a:rPr b="1" i="0" lang="en-US" sz="1500" u="none" cap="none" strike="noStrike">
                <a:solidFill>
                  <a:srgbClr val="F5A623"/>
                </a:solidFill>
                <a:latin typeface="Calibri"/>
                <a:ea typeface="Calibri"/>
                <a:cs typeface="Calibri"/>
                <a:sym typeface="Calibri"/>
              </a:rPr>
              <a:t>FLAGSHIP USE CASE</a:t>
            </a:r>
            <a:endParaRPr b="0" i="0" sz="1500" u="none" cap="none" strike="noStrike">
              <a:solidFill>
                <a:schemeClr val="dk1"/>
              </a:solidFill>
              <a:latin typeface="Calibri"/>
              <a:ea typeface="Calibri"/>
              <a:cs typeface="Calibri"/>
              <a:sym typeface="Calibri"/>
            </a:endParaRPr>
          </a:p>
        </p:txBody>
      </p:sp>
      <p:sp>
        <p:nvSpPr>
          <p:cNvPr id="538" name="Google Shape;538;g3e0832b152f_9_0"/>
          <p:cNvSpPr/>
          <p:nvPr/>
        </p:nvSpPr>
        <p:spPr>
          <a:xfrm>
            <a:off x="914400" y="8284464"/>
            <a:ext cx="16642080" cy="8229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E8E5DC"/>
              </a:buClr>
              <a:buSzPts val="2100"/>
              <a:buFont typeface="Calibri"/>
              <a:buNone/>
            </a:pPr>
            <a:r>
              <a:rPr b="0" i="0" lang="en-US" sz="2100" u="none" cap="none" strike="noStrike">
                <a:solidFill>
                  <a:srgbClr val="E8E5DC"/>
                </a:solidFill>
                <a:latin typeface="Calibri"/>
                <a:ea typeface="Calibri"/>
                <a:cs typeface="Calibri"/>
                <a:sym typeface="Calibri"/>
              </a:rPr>
              <a:t>NFL Next Gen Stats scores every play of every game in real time using SageMaker — including live Completion Probability during broadcasts.</a:t>
            </a:r>
            <a:endParaRPr b="0" i="0" sz="2100" u="none" cap="none" strike="noStrike">
              <a:solidFill>
                <a:schemeClr val="dk1"/>
              </a:solidFill>
              <a:latin typeface="Calibri"/>
              <a:ea typeface="Calibri"/>
              <a:cs typeface="Calibri"/>
              <a:sym typeface="Calibri"/>
            </a:endParaRPr>
          </a:p>
        </p:txBody>
      </p:sp>
      <p:cxnSp>
        <p:nvCxnSpPr>
          <p:cNvPr id="539" name="Google Shape;539;g3e0832b152f_9_0"/>
          <p:cNvCxnSpPr/>
          <p:nvPr/>
        </p:nvCxnSpPr>
        <p:spPr>
          <a:xfrm>
            <a:off x="0" y="9912096"/>
            <a:ext cx="18288000" cy="0"/>
          </a:xfrm>
          <a:prstGeom prst="straightConnector1">
            <a:avLst/>
          </a:prstGeom>
          <a:noFill/>
          <a:ln cap="flat" cmpd="sng" w="9525">
            <a:solidFill>
              <a:srgbClr val="E0DDD6"/>
            </a:solidFill>
            <a:prstDash val="solid"/>
            <a:round/>
            <a:headEnd len="sm" w="sm" type="none"/>
            <a:tailEnd len="sm" w="sm" type="none"/>
          </a:ln>
        </p:spPr>
      </p:cxnSp>
      <p:sp>
        <p:nvSpPr>
          <p:cNvPr id="540" name="Google Shape;540;g3e0832b152f_9_0"/>
          <p:cNvSpPr/>
          <p:nvPr/>
        </p:nvSpPr>
        <p:spPr>
          <a:xfrm>
            <a:off x="493765" y="9692660"/>
            <a:ext cx="146304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BBBBBB"/>
              </a:buClr>
              <a:buSzPts val="1400"/>
              <a:buFont typeface="Calibri"/>
              <a:buNone/>
            </a:pPr>
            <a:r>
              <a:rPr b="1" i="0" lang="en-US" sz="1400" u="none" cap="none" strike="noStrike">
                <a:solidFill>
                  <a:srgbClr val="888888"/>
                </a:solidFill>
                <a:latin typeface="Calibri"/>
                <a:ea typeface="Calibri"/>
                <a:cs typeface="Calibri"/>
                <a:sym typeface="Calibri"/>
              </a:rPr>
              <a:t>TEAM 11_02 · AWS SAGEMAKER AI · CCBDA-MIRI 2026</a:t>
            </a:r>
            <a:endParaRPr b="1" i="0" sz="1400" u="none" cap="none" strike="noStrike">
              <a:solidFill>
                <a:srgbClr val="888888"/>
              </a:solidFill>
              <a:latin typeface="Calibri"/>
              <a:ea typeface="Calibri"/>
              <a:cs typeface="Calibri"/>
              <a:sym typeface="Calibri"/>
            </a:endParaRPr>
          </a:p>
        </p:txBody>
      </p:sp>
      <p:sp>
        <p:nvSpPr>
          <p:cNvPr id="541" name="Google Shape;541;g3e0832b152f_9_0"/>
          <p:cNvSpPr/>
          <p:nvPr/>
        </p:nvSpPr>
        <p:spPr>
          <a:xfrm>
            <a:off x="15544800" y="9966960"/>
            <a:ext cx="2194560" cy="329184"/>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BBBBBB"/>
              </a:buClr>
              <a:buSzPts val="1400"/>
              <a:buFont typeface="Calibri"/>
              <a:buNone/>
            </a:pPr>
            <a:r>
              <a:rPr b="0" i="0" lang="en-US" sz="1400" u="none" cap="none" strike="noStrike">
                <a:solidFill>
                  <a:srgbClr val="BBBBBB"/>
                </a:solidFill>
                <a:latin typeface="Calibri"/>
                <a:ea typeface="Calibri"/>
                <a:cs typeface="Calibri"/>
                <a:sym typeface="Calibri"/>
              </a:rPr>
              <a:t>15 / 17</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546" name="Shape 546"/>
        <p:cNvGrpSpPr/>
        <p:nvPr/>
      </p:nvGrpSpPr>
      <p:grpSpPr>
        <a:xfrm>
          <a:off x="0" y="0"/>
          <a:ext cx="0" cy="0"/>
          <a:chOff x="0" y="0"/>
          <a:chExt cx="0" cy="0"/>
        </a:xfrm>
      </p:grpSpPr>
      <p:sp>
        <p:nvSpPr>
          <p:cNvPr id="547" name="Google Shape;547;g3e0832b152f_9_56"/>
          <p:cNvSpPr/>
          <p:nvPr/>
        </p:nvSpPr>
        <p:spPr>
          <a:xfrm>
            <a:off x="640080" y="329184"/>
            <a:ext cx="914400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1600"/>
              <a:buFont typeface="Calibri"/>
              <a:buNone/>
            </a:pPr>
            <a:r>
              <a:rPr b="1" i="0" lang="en-US" sz="1600" u="none" cap="none" strike="noStrike">
                <a:solidFill>
                  <a:srgbClr val="F5A623"/>
                </a:solidFill>
                <a:latin typeface="Calibri"/>
                <a:ea typeface="Calibri"/>
                <a:cs typeface="Calibri"/>
                <a:sym typeface="Calibri"/>
              </a:rPr>
              <a:t>1</a:t>
            </a:r>
            <a:r>
              <a:rPr b="1" lang="en-US" sz="1600">
                <a:solidFill>
                  <a:srgbClr val="F5A623"/>
                </a:solidFill>
                <a:latin typeface="Calibri"/>
                <a:ea typeface="Calibri"/>
                <a:cs typeface="Calibri"/>
                <a:sym typeface="Calibri"/>
              </a:rPr>
              <a:t>6</a:t>
            </a:r>
            <a:r>
              <a:rPr b="1" i="0" lang="en-US" sz="1600" u="none" cap="none" strike="noStrike">
                <a:solidFill>
                  <a:srgbClr val="F5A623"/>
                </a:solidFill>
                <a:latin typeface="Calibri"/>
                <a:ea typeface="Calibri"/>
                <a:cs typeface="Calibri"/>
                <a:sym typeface="Calibri"/>
              </a:rPr>
              <a:t> · GOTCHAS</a:t>
            </a:r>
            <a:endParaRPr b="0" i="0" sz="1600" u="none" cap="none" strike="noStrike">
              <a:solidFill>
                <a:schemeClr val="dk1"/>
              </a:solidFill>
              <a:latin typeface="Calibri"/>
              <a:ea typeface="Calibri"/>
              <a:cs typeface="Calibri"/>
              <a:sym typeface="Calibri"/>
            </a:endParaRPr>
          </a:p>
        </p:txBody>
      </p:sp>
      <p:sp>
        <p:nvSpPr>
          <p:cNvPr id="548" name="Google Shape;548;g3e0832b152f_9_56"/>
          <p:cNvSpPr/>
          <p:nvPr/>
        </p:nvSpPr>
        <p:spPr>
          <a:xfrm>
            <a:off x="12801600" y="329184"/>
            <a:ext cx="4937760" cy="402336"/>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888888"/>
              </a:buClr>
              <a:buSzPts val="1600"/>
              <a:buFont typeface="Calibri"/>
              <a:buNone/>
            </a:pPr>
            <a:r>
              <a:rPr b="0" i="0" lang="en-US" sz="1600" u="none" cap="none" strike="noStrike">
                <a:solidFill>
                  <a:srgbClr val="888888"/>
                </a:solidFill>
                <a:latin typeface="Calibri"/>
                <a:ea typeface="Calibri"/>
                <a:cs typeface="Calibri"/>
                <a:sym typeface="Calibri"/>
              </a:rPr>
              <a:t>SPEAKER · </a:t>
            </a:r>
            <a:r>
              <a:rPr lang="en-US" sz="1600">
                <a:solidFill>
                  <a:srgbClr val="888888"/>
                </a:solidFill>
                <a:latin typeface="Calibri"/>
                <a:ea typeface="Calibri"/>
                <a:cs typeface="Calibri"/>
                <a:sym typeface="Calibri"/>
              </a:rPr>
              <a:t>ILIAS</a:t>
            </a:r>
            <a:r>
              <a:rPr b="0" i="0" lang="en-US" sz="1600" u="none" cap="none" strike="noStrike">
                <a:solidFill>
                  <a:srgbClr val="888888"/>
                </a:solidFill>
                <a:latin typeface="Calibri"/>
                <a:ea typeface="Calibri"/>
                <a:cs typeface="Calibri"/>
                <a:sym typeface="Calibri"/>
              </a:rPr>
              <a:t> &amp; ARTHUR</a:t>
            </a:r>
            <a:endParaRPr b="0" i="0" sz="1600" u="none" cap="none" strike="noStrike">
              <a:solidFill>
                <a:schemeClr val="dk1"/>
              </a:solidFill>
              <a:latin typeface="Calibri"/>
              <a:ea typeface="Calibri"/>
              <a:cs typeface="Calibri"/>
              <a:sym typeface="Calibri"/>
            </a:endParaRPr>
          </a:p>
        </p:txBody>
      </p:sp>
      <p:sp>
        <p:nvSpPr>
          <p:cNvPr id="549" name="Google Shape;549;g3e0832b152f_9_56"/>
          <p:cNvSpPr/>
          <p:nvPr/>
        </p:nvSpPr>
        <p:spPr>
          <a:xfrm>
            <a:off x="640080" y="804672"/>
            <a:ext cx="16459200" cy="95097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5600"/>
              <a:buFont typeface="Calibri"/>
              <a:buNone/>
            </a:pPr>
            <a:r>
              <a:rPr b="1" i="0" lang="en-US" sz="5600" u="none" cap="none" strike="noStrike">
                <a:solidFill>
                  <a:srgbClr val="1A1A2E"/>
                </a:solidFill>
                <a:latin typeface="Calibri"/>
                <a:ea typeface="Calibri"/>
                <a:cs typeface="Calibri"/>
                <a:sym typeface="Calibri"/>
              </a:rPr>
              <a:t>Lessons we learned </a:t>
            </a:r>
            <a:r>
              <a:rPr b="1" i="0" lang="en-US" sz="5600" u="none" cap="none" strike="noStrike">
                <a:solidFill>
                  <a:srgbClr val="F5A623"/>
                </a:solidFill>
                <a:latin typeface="Calibri"/>
                <a:ea typeface="Calibri"/>
                <a:cs typeface="Calibri"/>
                <a:sym typeface="Calibri"/>
              </a:rPr>
              <a:t>the hard way.</a:t>
            </a:r>
            <a:endParaRPr b="0" i="0" sz="5600" u="none" cap="none" strike="noStrike">
              <a:solidFill>
                <a:schemeClr val="dk1"/>
              </a:solidFill>
              <a:latin typeface="Calibri"/>
              <a:ea typeface="Calibri"/>
              <a:cs typeface="Calibri"/>
              <a:sym typeface="Calibri"/>
            </a:endParaRPr>
          </a:p>
        </p:txBody>
      </p:sp>
      <p:sp>
        <p:nvSpPr>
          <p:cNvPr id="550" name="Google Shape;550;g3e0832b152f_9_56"/>
          <p:cNvSpPr/>
          <p:nvPr/>
        </p:nvSpPr>
        <p:spPr>
          <a:xfrm>
            <a:off x="640080" y="1606247"/>
            <a:ext cx="17007900" cy="126180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51" name="Google Shape;551;g3e0832b152f_9_56"/>
          <p:cNvSpPr/>
          <p:nvPr/>
        </p:nvSpPr>
        <p:spPr>
          <a:xfrm>
            <a:off x="640080" y="1606247"/>
            <a:ext cx="109800" cy="126180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52" name="Google Shape;552;g3e0832b152f_9_56"/>
          <p:cNvSpPr/>
          <p:nvPr/>
        </p:nvSpPr>
        <p:spPr>
          <a:xfrm>
            <a:off x="914400" y="1697687"/>
            <a:ext cx="69480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01</a:t>
            </a:r>
            <a:endParaRPr b="0" i="0" sz="2200" u="none" cap="none" strike="noStrike">
              <a:solidFill>
                <a:schemeClr val="dk1"/>
              </a:solidFill>
              <a:latin typeface="Calibri"/>
              <a:ea typeface="Calibri"/>
              <a:cs typeface="Calibri"/>
              <a:sym typeface="Calibri"/>
            </a:endParaRPr>
          </a:p>
        </p:txBody>
      </p:sp>
      <p:sp>
        <p:nvSpPr>
          <p:cNvPr id="553" name="Google Shape;553;g3e0832b152f_9_56"/>
          <p:cNvSpPr/>
          <p:nvPr/>
        </p:nvSpPr>
        <p:spPr>
          <a:xfrm>
            <a:off x="1737360" y="1679399"/>
            <a:ext cx="15544800" cy="4389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Service quotas</a:t>
            </a:r>
            <a:endParaRPr b="0" i="0" sz="2200" u="none" cap="none" strike="noStrike">
              <a:solidFill>
                <a:schemeClr val="dk1"/>
              </a:solidFill>
              <a:latin typeface="Calibri"/>
              <a:ea typeface="Calibri"/>
              <a:cs typeface="Calibri"/>
              <a:sym typeface="Calibri"/>
            </a:endParaRPr>
          </a:p>
        </p:txBody>
      </p:sp>
      <p:sp>
        <p:nvSpPr>
          <p:cNvPr id="554" name="Google Shape;554;g3e0832b152f_9_56"/>
          <p:cNvSpPr/>
          <p:nvPr/>
        </p:nvSpPr>
        <p:spPr>
          <a:xfrm>
            <a:off x="1737360" y="2100023"/>
            <a:ext cx="153618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555555"/>
              </a:buClr>
              <a:buSzPts val="1900"/>
              <a:buFont typeface="Calibri"/>
              <a:buNone/>
            </a:pPr>
            <a:r>
              <a:rPr b="0" i="0" lang="en-US" sz="1900" u="none" cap="none" strike="noStrike">
                <a:solidFill>
                  <a:srgbClr val="555555"/>
                </a:solidFill>
                <a:latin typeface="Calibri"/>
                <a:ea typeface="Calibri"/>
                <a:cs typeface="Calibri"/>
                <a:sym typeface="Calibri"/>
              </a:rPr>
              <a:t>Quotas hit zero by default for new accounts — especially GPU instances.</a:t>
            </a:r>
            <a:endParaRPr b="0" i="0" sz="1900" u="none" cap="none" strike="noStrike">
              <a:solidFill>
                <a:schemeClr val="dk1"/>
              </a:solidFill>
              <a:latin typeface="Calibri"/>
              <a:ea typeface="Calibri"/>
              <a:cs typeface="Calibri"/>
              <a:sym typeface="Calibri"/>
            </a:endParaRPr>
          </a:p>
        </p:txBody>
      </p:sp>
      <p:sp>
        <p:nvSpPr>
          <p:cNvPr id="555" name="Google Shape;555;g3e0832b152f_9_56"/>
          <p:cNvSpPr/>
          <p:nvPr/>
        </p:nvSpPr>
        <p:spPr>
          <a:xfrm>
            <a:off x="1737360" y="2502359"/>
            <a:ext cx="6422700" cy="292500"/>
          </a:xfrm>
          <a:prstGeom prst="rect">
            <a:avLst/>
          </a:prstGeom>
          <a:solidFill>
            <a:srgbClr val="E8F2FB"/>
          </a:solidFill>
          <a:ln cap="flat" cmpd="sng" w="12700">
            <a:solidFill>
              <a:srgbClr val="E8F2F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56" name="Google Shape;556;g3e0832b152f_9_56"/>
          <p:cNvSpPr/>
          <p:nvPr/>
        </p:nvSpPr>
        <p:spPr>
          <a:xfrm>
            <a:off x="1737360" y="2484071"/>
            <a:ext cx="64227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700"/>
              <a:buFont typeface="Calibri"/>
              <a:buNone/>
            </a:pPr>
            <a:r>
              <a:rPr b="1" i="0" lang="en-US" sz="1700" u="none" cap="none" strike="noStrike">
                <a:solidFill>
                  <a:srgbClr val="185FA5"/>
                </a:solidFill>
                <a:latin typeface="Calibri"/>
                <a:ea typeface="Calibri"/>
                <a:cs typeface="Calibri"/>
                <a:sym typeface="Calibri"/>
              </a:rPr>
              <a:t>→ File a quota request — plan for 24–48h delay</a:t>
            </a:r>
            <a:endParaRPr b="0" i="0" sz="1700" u="none" cap="none" strike="noStrike">
              <a:solidFill>
                <a:schemeClr val="dk1"/>
              </a:solidFill>
              <a:latin typeface="Calibri"/>
              <a:ea typeface="Calibri"/>
              <a:cs typeface="Calibri"/>
              <a:sym typeface="Calibri"/>
            </a:endParaRPr>
          </a:p>
        </p:txBody>
      </p:sp>
      <p:sp>
        <p:nvSpPr>
          <p:cNvPr id="557" name="Google Shape;557;g3e0832b152f_9_56"/>
          <p:cNvSpPr/>
          <p:nvPr/>
        </p:nvSpPr>
        <p:spPr>
          <a:xfrm>
            <a:off x="640080" y="2996135"/>
            <a:ext cx="17007900" cy="126180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58" name="Google Shape;558;g3e0832b152f_9_56"/>
          <p:cNvSpPr/>
          <p:nvPr/>
        </p:nvSpPr>
        <p:spPr>
          <a:xfrm>
            <a:off x="640080" y="2996135"/>
            <a:ext cx="109800" cy="126180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59" name="Google Shape;559;g3e0832b152f_9_56"/>
          <p:cNvSpPr/>
          <p:nvPr/>
        </p:nvSpPr>
        <p:spPr>
          <a:xfrm>
            <a:off x="914400" y="3087575"/>
            <a:ext cx="69480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02</a:t>
            </a:r>
            <a:endParaRPr b="0" i="0" sz="2200" u="none" cap="none" strike="noStrike">
              <a:solidFill>
                <a:schemeClr val="dk1"/>
              </a:solidFill>
              <a:latin typeface="Calibri"/>
              <a:ea typeface="Calibri"/>
              <a:cs typeface="Calibri"/>
              <a:sym typeface="Calibri"/>
            </a:endParaRPr>
          </a:p>
        </p:txBody>
      </p:sp>
      <p:sp>
        <p:nvSpPr>
          <p:cNvPr id="560" name="Google Shape;560;g3e0832b152f_9_56"/>
          <p:cNvSpPr/>
          <p:nvPr/>
        </p:nvSpPr>
        <p:spPr>
          <a:xfrm>
            <a:off x="1737360" y="3069287"/>
            <a:ext cx="15544800" cy="4389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Region matching</a:t>
            </a:r>
            <a:endParaRPr b="0" i="0" sz="2200" u="none" cap="none" strike="noStrike">
              <a:solidFill>
                <a:schemeClr val="dk1"/>
              </a:solidFill>
              <a:latin typeface="Calibri"/>
              <a:ea typeface="Calibri"/>
              <a:cs typeface="Calibri"/>
              <a:sym typeface="Calibri"/>
            </a:endParaRPr>
          </a:p>
        </p:txBody>
      </p:sp>
      <p:sp>
        <p:nvSpPr>
          <p:cNvPr id="561" name="Google Shape;561;g3e0832b152f_9_56"/>
          <p:cNvSpPr/>
          <p:nvPr/>
        </p:nvSpPr>
        <p:spPr>
          <a:xfrm>
            <a:off x="1737360" y="3489911"/>
            <a:ext cx="153618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555555"/>
              </a:buClr>
              <a:buSzPts val="1900"/>
              <a:buFont typeface="Calibri"/>
              <a:buNone/>
            </a:pPr>
            <a:r>
              <a:rPr b="0" i="0" lang="en-US" sz="1900" u="none" cap="none" strike="noStrike">
                <a:solidFill>
                  <a:srgbClr val="555555"/>
                </a:solidFill>
                <a:latin typeface="Calibri"/>
                <a:ea typeface="Calibri"/>
                <a:cs typeface="Calibri"/>
                <a:sym typeface="Calibri"/>
              </a:rPr>
              <a:t>SageMaker, S3, QuickSight, DynamoDB — all in one region. Silent failures otherwise.</a:t>
            </a:r>
            <a:endParaRPr b="0" i="0" sz="1900" u="none" cap="none" strike="noStrike">
              <a:solidFill>
                <a:schemeClr val="dk1"/>
              </a:solidFill>
              <a:latin typeface="Calibri"/>
              <a:ea typeface="Calibri"/>
              <a:cs typeface="Calibri"/>
              <a:sym typeface="Calibri"/>
            </a:endParaRPr>
          </a:p>
        </p:txBody>
      </p:sp>
      <p:sp>
        <p:nvSpPr>
          <p:cNvPr id="562" name="Google Shape;562;g3e0832b152f_9_56"/>
          <p:cNvSpPr/>
          <p:nvPr/>
        </p:nvSpPr>
        <p:spPr>
          <a:xfrm>
            <a:off x="1737360" y="3892247"/>
            <a:ext cx="5106000" cy="292500"/>
          </a:xfrm>
          <a:prstGeom prst="rect">
            <a:avLst/>
          </a:prstGeom>
          <a:solidFill>
            <a:srgbClr val="E8F2FB"/>
          </a:solidFill>
          <a:ln cap="flat" cmpd="sng" w="12700">
            <a:solidFill>
              <a:srgbClr val="E8F2F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63" name="Google Shape;563;g3e0832b152f_9_56"/>
          <p:cNvSpPr/>
          <p:nvPr/>
        </p:nvSpPr>
        <p:spPr>
          <a:xfrm>
            <a:off x="1737360" y="3873959"/>
            <a:ext cx="51060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700"/>
              <a:buFont typeface="Calibri"/>
              <a:buNone/>
            </a:pPr>
            <a:r>
              <a:rPr b="1" i="0" lang="en-US" sz="1700" u="none" cap="none" strike="noStrike">
                <a:solidFill>
                  <a:srgbClr val="185FA5"/>
                </a:solidFill>
                <a:latin typeface="Calibri"/>
                <a:ea typeface="Calibri"/>
                <a:cs typeface="Calibri"/>
                <a:sym typeface="Calibri"/>
              </a:rPr>
              <a:t>→ Everything in eu-west-1, never mix</a:t>
            </a:r>
            <a:endParaRPr b="0" i="0" sz="1700" u="none" cap="none" strike="noStrike">
              <a:solidFill>
                <a:schemeClr val="dk1"/>
              </a:solidFill>
              <a:latin typeface="Calibri"/>
              <a:ea typeface="Calibri"/>
              <a:cs typeface="Calibri"/>
              <a:sym typeface="Calibri"/>
            </a:endParaRPr>
          </a:p>
        </p:txBody>
      </p:sp>
      <p:sp>
        <p:nvSpPr>
          <p:cNvPr id="564" name="Google Shape;564;g3e0832b152f_9_56"/>
          <p:cNvSpPr/>
          <p:nvPr/>
        </p:nvSpPr>
        <p:spPr>
          <a:xfrm>
            <a:off x="640080" y="4386023"/>
            <a:ext cx="17007900" cy="126180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65" name="Google Shape;565;g3e0832b152f_9_56"/>
          <p:cNvSpPr/>
          <p:nvPr/>
        </p:nvSpPr>
        <p:spPr>
          <a:xfrm>
            <a:off x="640080" y="4386023"/>
            <a:ext cx="109800" cy="126180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66" name="Google Shape;566;g3e0832b152f_9_56"/>
          <p:cNvSpPr/>
          <p:nvPr/>
        </p:nvSpPr>
        <p:spPr>
          <a:xfrm>
            <a:off x="914400" y="4477463"/>
            <a:ext cx="69480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03</a:t>
            </a:r>
            <a:endParaRPr b="0" i="0" sz="2200" u="none" cap="none" strike="noStrike">
              <a:solidFill>
                <a:schemeClr val="dk1"/>
              </a:solidFill>
              <a:latin typeface="Calibri"/>
              <a:ea typeface="Calibri"/>
              <a:cs typeface="Calibri"/>
              <a:sym typeface="Calibri"/>
            </a:endParaRPr>
          </a:p>
        </p:txBody>
      </p:sp>
      <p:sp>
        <p:nvSpPr>
          <p:cNvPr id="567" name="Google Shape;567;g3e0832b152f_9_56"/>
          <p:cNvSpPr/>
          <p:nvPr/>
        </p:nvSpPr>
        <p:spPr>
          <a:xfrm>
            <a:off x="1737360" y="4459175"/>
            <a:ext cx="15544800" cy="4389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Cross-account S3</a:t>
            </a:r>
            <a:endParaRPr b="0" i="0" sz="2200" u="none" cap="none" strike="noStrike">
              <a:solidFill>
                <a:schemeClr val="dk1"/>
              </a:solidFill>
              <a:latin typeface="Calibri"/>
              <a:ea typeface="Calibri"/>
              <a:cs typeface="Calibri"/>
              <a:sym typeface="Calibri"/>
            </a:endParaRPr>
          </a:p>
        </p:txBody>
      </p:sp>
      <p:sp>
        <p:nvSpPr>
          <p:cNvPr id="568" name="Google Shape;568;g3e0832b152f_9_56"/>
          <p:cNvSpPr/>
          <p:nvPr/>
        </p:nvSpPr>
        <p:spPr>
          <a:xfrm>
            <a:off x="1737360" y="4879799"/>
            <a:ext cx="153618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555555"/>
              </a:buClr>
              <a:buSzPts val="1900"/>
              <a:buFont typeface="Calibri"/>
              <a:buNone/>
            </a:pPr>
            <a:r>
              <a:rPr b="0" i="0" lang="en-US" sz="1900" u="none" cap="none" strike="noStrike">
                <a:solidFill>
                  <a:srgbClr val="555555"/>
                </a:solidFill>
                <a:latin typeface="Calibri"/>
                <a:ea typeface="Calibri"/>
                <a:cs typeface="Calibri"/>
                <a:sym typeface="Calibri"/>
              </a:rPr>
              <a:t>IAM permissions on your side alone aren't enough. Add explicit bucket policy on S3 side.</a:t>
            </a:r>
            <a:endParaRPr b="0" i="0" sz="1900" u="none" cap="none" strike="noStrike">
              <a:solidFill>
                <a:schemeClr val="dk1"/>
              </a:solidFill>
              <a:latin typeface="Calibri"/>
              <a:ea typeface="Calibri"/>
              <a:cs typeface="Calibri"/>
              <a:sym typeface="Calibri"/>
            </a:endParaRPr>
          </a:p>
        </p:txBody>
      </p:sp>
      <p:sp>
        <p:nvSpPr>
          <p:cNvPr id="569" name="Google Shape;569;g3e0832b152f_9_56"/>
          <p:cNvSpPr/>
          <p:nvPr/>
        </p:nvSpPr>
        <p:spPr>
          <a:xfrm>
            <a:off x="1737360" y="5282135"/>
            <a:ext cx="4316100" cy="292500"/>
          </a:xfrm>
          <a:prstGeom prst="rect">
            <a:avLst/>
          </a:prstGeom>
          <a:solidFill>
            <a:srgbClr val="E8F2FB"/>
          </a:solidFill>
          <a:ln cap="flat" cmpd="sng" w="12700">
            <a:solidFill>
              <a:srgbClr val="E8F2F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70" name="Google Shape;570;g3e0832b152f_9_56"/>
          <p:cNvSpPr/>
          <p:nvPr/>
        </p:nvSpPr>
        <p:spPr>
          <a:xfrm>
            <a:off x="1737360" y="5263847"/>
            <a:ext cx="43161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700"/>
              <a:buFont typeface="Calibri"/>
              <a:buNone/>
            </a:pPr>
            <a:r>
              <a:rPr b="1" i="0" lang="en-US" sz="1700" u="none" cap="none" strike="noStrike">
                <a:solidFill>
                  <a:srgbClr val="185FA5"/>
                </a:solidFill>
                <a:latin typeface="Calibri"/>
                <a:ea typeface="Calibri"/>
                <a:cs typeface="Calibri"/>
                <a:sym typeface="Calibri"/>
              </a:rPr>
              <a:t>→ Add bucket policy on S3 side</a:t>
            </a:r>
            <a:endParaRPr b="0" i="0" sz="1700" u="none" cap="none" strike="noStrike">
              <a:solidFill>
                <a:schemeClr val="dk1"/>
              </a:solidFill>
              <a:latin typeface="Calibri"/>
              <a:ea typeface="Calibri"/>
              <a:cs typeface="Calibri"/>
              <a:sym typeface="Calibri"/>
            </a:endParaRPr>
          </a:p>
        </p:txBody>
      </p:sp>
      <p:sp>
        <p:nvSpPr>
          <p:cNvPr id="571" name="Google Shape;571;g3e0832b152f_9_56"/>
          <p:cNvSpPr/>
          <p:nvPr/>
        </p:nvSpPr>
        <p:spPr>
          <a:xfrm>
            <a:off x="640080" y="5775911"/>
            <a:ext cx="17007900" cy="1261800"/>
          </a:xfrm>
          <a:prstGeom prst="rect">
            <a:avLst/>
          </a:prstGeom>
          <a:solidFill>
            <a:srgbClr val="FDECEA"/>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72" name="Google Shape;572;g3e0832b152f_9_56"/>
          <p:cNvSpPr/>
          <p:nvPr/>
        </p:nvSpPr>
        <p:spPr>
          <a:xfrm>
            <a:off x="640080" y="5775911"/>
            <a:ext cx="109800" cy="12618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73" name="Google Shape;573;g3e0832b152f_9_56"/>
          <p:cNvSpPr/>
          <p:nvPr/>
        </p:nvSpPr>
        <p:spPr>
          <a:xfrm>
            <a:off x="914400" y="5867351"/>
            <a:ext cx="69480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04</a:t>
            </a:r>
            <a:endParaRPr b="0" i="0" sz="2200" u="none" cap="none" strike="noStrike">
              <a:solidFill>
                <a:schemeClr val="dk1"/>
              </a:solidFill>
              <a:latin typeface="Calibri"/>
              <a:ea typeface="Calibri"/>
              <a:cs typeface="Calibri"/>
              <a:sym typeface="Calibri"/>
            </a:endParaRPr>
          </a:p>
        </p:txBody>
      </p:sp>
      <p:sp>
        <p:nvSpPr>
          <p:cNvPr id="574" name="Google Shape;574;g3e0832b152f_9_56"/>
          <p:cNvSpPr/>
          <p:nvPr/>
        </p:nvSpPr>
        <p:spPr>
          <a:xfrm>
            <a:off x="1737360" y="5849063"/>
            <a:ext cx="15544800" cy="4389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Idle billing  ~$200/month if endpoint left on 24/7</a:t>
            </a:r>
            <a:endParaRPr b="0" i="0" sz="2200" u="none" cap="none" strike="noStrike">
              <a:solidFill>
                <a:schemeClr val="dk1"/>
              </a:solidFill>
              <a:latin typeface="Calibri"/>
              <a:ea typeface="Calibri"/>
              <a:cs typeface="Calibri"/>
              <a:sym typeface="Calibri"/>
            </a:endParaRPr>
          </a:p>
        </p:txBody>
      </p:sp>
      <p:sp>
        <p:nvSpPr>
          <p:cNvPr id="575" name="Google Shape;575;g3e0832b152f_9_56"/>
          <p:cNvSpPr/>
          <p:nvPr/>
        </p:nvSpPr>
        <p:spPr>
          <a:xfrm>
            <a:off x="1737360" y="6269687"/>
            <a:ext cx="153618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555555"/>
              </a:buClr>
              <a:buSzPts val="1900"/>
              <a:buFont typeface="Calibri"/>
              <a:buNone/>
            </a:pPr>
            <a:r>
              <a:rPr b="0" i="0" lang="en-US" sz="1900" u="none" cap="none" strike="noStrike">
                <a:solidFill>
                  <a:srgbClr val="555555"/>
                </a:solidFill>
                <a:latin typeface="Calibri"/>
                <a:ea typeface="Calibri"/>
                <a:cs typeface="Calibri"/>
                <a:sym typeface="Calibri"/>
              </a:rPr>
              <a:t>Canvas keeps billing while idle — always log out. Closing the tab does NOT stop the session.</a:t>
            </a:r>
            <a:endParaRPr b="0" i="0" sz="1900" u="none" cap="none" strike="noStrike">
              <a:solidFill>
                <a:schemeClr val="dk1"/>
              </a:solidFill>
              <a:latin typeface="Calibri"/>
              <a:ea typeface="Calibri"/>
              <a:cs typeface="Calibri"/>
              <a:sym typeface="Calibri"/>
            </a:endParaRPr>
          </a:p>
        </p:txBody>
      </p:sp>
      <p:sp>
        <p:nvSpPr>
          <p:cNvPr id="576" name="Google Shape;576;g3e0832b152f_9_56"/>
          <p:cNvSpPr/>
          <p:nvPr/>
        </p:nvSpPr>
        <p:spPr>
          <a:xfrm>
            <a:off x="1737360" y="6672023"/>
            <a:ext cx="6817800" cy="292500"/>
          </a:xfrm>
          <a:prstGeom prst="rect">
            <a:avLst/>
          </a:prstGeom>
          <a:solidFill>
            <a:srgbClr val="E8F2FB"/>
          </a:solidFill>
          <a:ln cap="flat" cmpd="sng" w="12700">
            <a:solidFill>
              <a:srgbClr val="E8F2F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77" name="Google Shape;577;g3e0832b152f_9_56"/>
          <p:cNvSpPr/>
          <p:nvPr/>
        </p:nvSpPr>
        <p:spPr>
          <a:xfrm>
            <a:off x="1737360" y="6653735"/>
            <a:ext cx="68178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700"/>
              <a:buFont typeface="Calibri"/>
              <a:buNone/>
            </a:pPr>
            <a:r>
              <a:rPr b="1" i="0" lang="en-US" sz="1700" u="none" cap="none" strike="noStrike">
                <a:solidFill>
                  <a:srgbClr val="185FA5"/>
                </a:solidFill>
                <a:latin typeface="Calibri"/>
                <a:ea typeface="Calibri"/>
                <a:cs typeface="Calibri"/>
                <a:sym typeface="Calibri"/>
              </a:rPr>
              <a:t>→ Set a CloudWatch billing alarm before you start</a:t>
            </a:r>
            <a:endParaRPr b="0" i="0" sz="1700" u="none" cap="none" strike="noStrike">
              <a:solidFill>
                <a:schemeClr val="dk1"/>
              </a:solidFill>
              <a:latin typeface="Calibri"/>
              <a:ea typeface="Calibri"/>
              <a:cs typeface="Calibri"/>
              <a:sym typeface="Calibri"/>
            </a:endParaRPr>
          </a:p>
        </p:txBody>
      </p:sp>
      <p:sp>
        <p:nvSpPr>
          <p:cNvPr id="578" name="Google Shape;578;g3e0832b152f_9_56"/>
          <p:cNvSpPr/>
          <p:nvPr/>
        </p:nvSpPr>
        <p:spPr>
          <a:xfrm>
            <a:off x="640080" y="7165799"/>
            <a:ext cx="17007900" cy="126180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79" name="Google Shape;579;g3e0832b152f_9_56"/>
          <p:cNvSpPr/>
          <p:nvPr/>
        </p:nvSpPr>
        <p:spPr>
          <a:xfrm>
            <a:off x="640080" y="7165799"/>
            <a:ext cx="109800" cy="126180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80" name="Google Shape;580;g3e0832b152f_9_56"/>
          <p:cNvSpPr/>
          <p:nvPr/>
        </p:nvSpPr>
        <p:spPr>
          <a:xfrm>
            <a:off x="914400" y="7257239"/>
            <a:ext cx="69480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2200"/>
              <a:buFont typeface="Calibri"/>
              <a:buNone/>
            </a:pPr>
            <a:r>
              <a:rPr b="1" i="0" lang="en-US" sz="2200" u="none" cap="none" strike="noStrike">
                <a:solidFill>
                  <a:srgbClr val="F5A623"/>
                </a:solidFill>
                <a:latin typeface="Calibri"/>
                <a:ea typeface="Calibri"/>
                <a:cs typeface="Calibri"/>
                <a:sym typeface="Calibri"/>
              </a:rPr>
              <a:t>05</a:t>
            </a:r>
            <a:endParaRPr b="0" i="0" sz="2200" u="none" cap="none" strike="noStrike">
              <a:solidFill>
                <a:schemeClr val="dk1"/>
              </a:solidFill>
              <a:latin typeface="Calibri"/>
              <a:ea typeface="Calibri"/>
              <a:cs typeface="Calibri"/>
              <a:sym typeface="Calibri"/>
            </a:endParaRPr>
          </a:p>
        </p:txBody>
      </p:sp>
      <p:sp>
        <p:nvSpPr>
          <p:cNvPr id="581" name="Google Shape;581;g3e0832b152f_9_56"/>
          <p:cNvSpPr/>
          <p:nvPr/>
        </p:nvSpPr>
        <p:spPr>
          <a:xfrm>
            <a:off x="1737360" y="7238951"/>
            <a:ext cx="15544800" cy="4389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Reserved keyword: timestamp</a:t>
            </a:r>
            <a:endParaRPr b="0" i="0" sz="2200" u="none" cap="none" strike="noStrike">
              <a:solidFill>
                <a:schemeClr val="dk1"/>
              </a:solidFill>
              <a:latin typeface="Calibri"/>
              <a:ea typeface="Calibri"/>
              <a:cs typeface="Calibri"/>
              <a:sym typeface="Calibri"/>
            </a:endParaRPr>
          </a:p>
        </p:txBody>
      </p:sp>
      <p:sp>
        <p:nvSpPr>
          <p:cNvPr id="582" name="Google Shape;582;g3e0832b152f_9_56"/>
          <p:cNvSpPr/>
          <p:nvPr/>
        </p:nvSpPr>
        <p:spPr>
          <a:xfrm>
            <a:off x="1737360" y="7659575"/>
            <a:ext cx="153618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555555"/>
              </a:buClr>
              <a:buSzPts val="1900"/>
              <a:buFont typeface="Calibri"/>
              <a:buNone/>
            </a:pPr>
            <a:r>
              <a:rPr b="0" i="0" lang="en-US" sz="1900" u="none" cap="none" strike="noStrike">
                <a:solidFill>
                  <a:srgbClr val="555555"/>
                </a:solidFill>
                <a:latin typeface="Calibri"/>
                <a:ea typeface="Calibri"/>
                <a:cs typeface="Calibri"/>
                <a:sym typeface="Calibri"/>
              </a:rPr>
              <a:t>Reserved in Athena AND Canvas — both reject it silently. We lost 30 min on this.</a:t>
            </a:r>
            <a:endParaRPr b="0" i="0" sz="1900" u="none" cap="none" strike="noStrike">
              <a:solidFill>
                <a:schemeClr val="dk1"/>
              </a:solidFill>
              <a:latin typeface="Calibri"/>
              <a:ea typeface="Calibri"/>
              <a:cs typeface="Calibri"/>
              <a:sym typeface="Calibri"/>
            </a:endParaRPr>
          </a:p>
        </p:txBody>
      </p:sp>
      <p:sp>
        <p:nvSpPr>
          <p:cNvPr id="583" name="Google Shape;583;g3e0832b152f_9_56"/>
          <p:cNvSpPr/>
          <p:nvPr/>
        </p:nvSpPr>
        <p:spPr>
          <a:xfrm>
            <a:off x="1737360" y="8061911"/>
            <a:ext cx="3262500" cy="292500"/>
          </a:xfrm>
          <a:prstGeom prst="rect">
            <a:avLst/>
          </a:prstGeom>
          <a:solidFill>
            <a:srgbClr val="E8F2FB"/>
          </a:solidFill>
          <a:ln cap="flat" cmpd="sng" w="12700">
            <a:solidFill>
              <a:srgbClr val="E8F2F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84" name="Google Shape;584;g3e0832b152f_9_56"/>
          <p:cNvSpPr/>
          <p:nvPr/>
        </p:nvSpPr>
        <p:spPr>
          <a:xfrm>
            <a:off x="1737360" y="8043623"/>
            <a:ext cx="32625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700"/>
              <a:buFont typeface="Calibri"/>
              <a:buNone/>
            </a:pPr>
            <a:r>
              <a:rPr b="1" i="0" lang="en-US" sz="1700" u="none" cap="none" strike="noStrike">
                <a:solidFill>
                  <a:srgbClr val="185FA5"/>
                </a:solidFill>
                <a:latin typeface="Calibri"/>
                <a:ea typeface="Calibri"/>
                <a:cs typeface="Calibri"/>
                <a:sym typeface="Calibri"/>
              </a:rPr>
              <a:t>→ Rename to event_time</a:t>
            </a:r>
            <a:endParaRPr b="0" i="0" sz="1700" u="none" cap="none" strike="noStrike">
              <a:solidFill>
                <a:schemeClr val="dk1"/>
              </a:solidFill>
              <a:latin typeface="Calibri"/>
              <a:ea typeface="Calibri"/>
              <a:cs typeface="Calibri"/>
              <a:sym typeface="Calibri"/>
            </a:endParaRPr>
          </a:p>
        </p:txBody>
      </p:sp>
      <p:sp>
        <p:nvSpPr>
          <p:cNvPr id="585" name="Google Shape;585;g3e0832b152f_9_56"/>
          <p:cNvSpPr/>
          <p:nvPr/>
        </p:nvSpPr>
        <p:spPr>
          <a:xfrm>
            <a:off x="640080" y="8555687"/>
            <a:ext cx="17007900" cy="126180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86" name="Google Shape;586;g3e0832b152f_9_56"/>
          <p:cNvSpPr/>
          <p:nvPr/>
        </p:nvSpPr>
        <p:spPr>
          <a:xfrm>
            <a:off x="640080" y="8555687"/>
            <a:ext cx="109800" cy="1261800"/>
          </a:xfrm>
          <a:prstGeom prst="rect">
            <a:avLst/>
          </a:prstGeom>
          <a:solidFill>
            <a:srgbClr val="888888"/>
          </a:solidFill>
          <a:ln cap="flat" cmpd="sng" w="12700">
            <a:solidFill>
              <a:srgbClr val="888888"/>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87" name="Google Shape;587;g3e0832b152f_9_56"/>
          <p:cNvSpPr/>
          <p:nvPr/>
        </p:nvSpPr>
        <p:spPr>
          <a:xfrm>
            <a:off x="914400" y="8647127"/>
            <a:ext cx="69480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2200"/>
              <a:buFont typeface="Calibri"/>
              <a:buNone/>
            </a:pPr>
            <a:r>
              <a:rPr b="1" i="0" lang="en-US" sz="2200" u="none" cap="none" strike="noStrike">
                <a:solidFill>
                  <a:srgbClr val="888888"/>
                </a:solidFill>
                <a:latin typeface="Calibri"/>
                <a:ea typeface="Calibri"/>
                <a:cs typeface="Calibri"/>
                <a:sym typeface="Calibri"/>
              </a:rPr>
              <a:t>06</a:t>
            </a:r>
            <a:endParaRPr b="0" i="0" sz="2200" u="none" cap="none" strike="noStrike">
              <a:solidFill>
                <a:schemeClr val="dk1"/>
              </a:solidFill>
              <a:latin typeface="Calibri"/>
              <a:ea typeface="Calibri"/>
              <a:cs typeface="Calibri"/>
              <a:sym typeface="Calibri"/>
            </a:endParaRPr>
          </a:p>
        </p:txBody>
      </p:sp>
      <p:sp>
        <p:nvSpPr>
          <p:cNvPr id="588" name="Google Shape;588;g3e0832b152f_9_56"/>
          <p:cNvSpPr/>
          <p:nvPr/>
        </p:nvSpPr>
        <p:spPr>
          <a:xfrm>
            <a:off x="1737360" y="8628839"/>
            <a:ext cx="15544800" cy="4389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2200"/>
              <a:buFont typeface="Calibri"/>
              <a:buNone/>
            </a:pPr>
            <a:r>
              <a:rPr b="1" i="0" lang="en-US" sz="2200" u="none" cap="none" strike="noStrike">
                <a:solidFill>
                  <a:srgbClr val="888888"/>
                </a:solidFill>
                <a:latin typeface="Calibri"/>
                <a:ea typeface="Calibri"/>
                <a:cs typeface="Calibri"/>
                <a:sym typeface="Calibri"/>
              </a:rPr>
              <a:t>AlgorithmError opaque</a:t>
            </a:r>
            <a:endParaRPr b="0" i="0" sz="2200" u="none" cap="none" strike="noStrike">
              <a:solidFill>
                <a:schemeClr val="dk1"/>
              </a:solidFill>
              <a:latin typeface="Calibri"/>
              <a:ea typeface="Calibri"/>
              <a:cs typeface="Calibri"/>
              <a:sym typeface="Calibri"/>
            </a:endParaRPr>
          </a:p>
        </p:txBody>
      </p:sp>
      <p:sp>
        <p:nvSpPr>
          <p:cNvPr id="589" name="Google Shape;589;g3e0832b152f_9_56"/>
          <p:cNvSpPr/>
          <p:nvPr/>
        </p:nvSpPr>
        <p:spPr>
          <a:xfrm>
            <a:off x="1737360" y="9049463"/>
            <a:ext cx="15361800" cy="4023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555555"/>
              </a:buClr>
              <a:buSzPts val="1900"/>
              <a:buFont typeface="Calibri"/>
              <a:buNone/>
            </a:pPr>
            <a:r>
              <a:rPr b="0" i="0" lang="en-US" sz="1900" u="none" cap="none" strike="noStrike">
                <a:solidFill>
                  <a:srgbClr val="555555"/>
                </a:solidFill>
                <a:latin typeface="Calibri"/>
                <a:ea typeface="Calibri"/>
                <a:cs typeface="Calibri"/>
                <a:sym typeface="Calibri"/>
              </a:rPr>
              <a:t>When a training job fails, the error message is useless.</a:t>
            </a:r>
            <a:endParaRPr b="0" i="0" sz="1900" u="none" cap="none" strike="noStrike">
              <a:solidFill>
                <a:schemeClr val="dk1"/>
              </a:solidFill>
              <a:latin typeface="Calibri"/>
              <a:ea typeface="Calibri"/>
              <a:cs typeface="Calibri"/>
              <a:sym typeface="Calibri"/>
            </a:endParaRPr>
          </a:p>
        </p:txBody>
      </p:sp>
      <p:sp>
        <p:nvSpPr>
          <p:cNvPr id="590" name="Google Shape;590;g3e0832b152f_9_56"/>
          <p:cNvSpPr/>
          <p:nvPr/>
        </p:nvSpPr>
        <p:spPr>
          <a:xfrm>
            <a:off x="1737360" y="9451799"/>
            <a:ext cx="9582900" cy="292500"/>
          </a:xfrm>
          <a:prstGeom prst="rect">
            <a:avLst/>
          </a:prstGeom>
          <a:solidFill>
            <a:srgbClr val="E8F2FB"/>
          </a:solidFill>
          <a:ln cap="flat" cmpd="sng" w="12700">
            <a:solidFill>
              <a:srgbClr val="E8F2FB"/>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91" name="Google Shape;591;g3e0832b152f_9_56"/>
          <p:cNvSpPr/>
          <p:nvPr/>
        </p:nvSpPr>
        <p:spPr>
          <a:xfrm>
            <a:off x="1737360" y="9433511"/>
            <a:ext cx="95829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700"/>
              <a:buFont typeface="Calibri"/>
              <a:buNone/>
            </a:pPr>
            <a:r>
              <a:rPr b="1" i="0" lang="en-US" sz="1700" u="none" cap="none" strike="noStrike">
                <a:solidFill>
                  <a:srgbClr val="185FA5"/>
                </a:solidFill>
                <a:latin typeface="Calibri"/>
                <a:ea typeface="Calibri"/>
                <a:cs typeface="Calibri"/>
                <a:sym typeface="Calibri"/>
              </a:rPr>
              <a:t>→ Always check CloudWatch container logs — enable debug from the start</a:t>
            </a:r>
            <a:endParaRPr b="0" i="0" sz="1700" u="none" cap="none" strike="noStrike">
              <a:solidFill>
                <a:schemeClr val="dk1"/>
              </a:solidFill>
              <a:latin typeface="Calibri"/>
              <a:ea typeface="Calibri"/>
              <a:cs typeface="Calibri"/>
              <a:sym typeface="Calibri"/>
            </a:endParaRPr>
          </a:p>
        </p:txBody>
      </p:sp>
      <p:cxnSp>
        <p:nvCxnSpPr>
          <p:cNvPr id="592" name="Google Shape;592;g3e0832b152f_9_56"/>
          <p:cNvCxnSpPr/>
          <p:nvPr/>
        </p:nvCxnSpPr>
        <p:spPr>
          <a:xfrm>
            <a:off x="0" y="9543239"/>
            <a:ext cx="18288000" cy="0"/>
          </a:xfrm>
          <a:prstGeom prst="straightConnector1">
            <a:avLst/>
          </a:prstGeom>
          <a:noFill/>
          <a:ln cap="flat" cmpd="sng" w="9525">
            <a:solidFill>
              <a:srgbClr val="E0DDD6"/>
            </a:solidFill>
            <a:prstDash val="solid"/>
            <a:round/>
            <a:headEnd len="sm" w="sm" type="none"/>
            <a:tailEnd len="sm" w="sm" type="none"/>
          </a:ln>
        </p:spPr>
      </p:cxnSp>
      <p:sp>
        <p:nvSpPr>
          <p:cNvPr id="593" name="Google Shape;593;g3e0832b152f_9_56"/>
          <p:cNvSpPr/>
          <p:nvPr/>
        </p:nvSpPr>
        <p:spPr>
          <a:xfrm>
            <a:off x="548640" y="9884992"/>
            <a:ext cx="146304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BBBBBB"/>
              </a:buClr>
              <a:buSzPts val="1400"/>
              <a:buFont typeface="Calibri"/>
              <a:buNone/>
            </a:pPr>
            <a:r>
              <a:rPr b="0" i="0" lang="en-US" sz="1400" u="none" cap="none" strike="noStrike">
                <a:solidFill>
                  <a:srgbClr val="888888"/>
                </a:solidFill>
                <a:latin typeface="Calibri"/>
                <a:ea typeface="Calibri"/>
                <a:cs typeface="Calibri"/>
                <a:sym typeface="Calibri"/>
              </a:rPr>
              <a:t>TEAM 11_02 · AWS SAGEMAKER AI · CCBDA-MIRI 2026</a:t>
            </a:r>
            <a:endParaRPr b="0" i="0" sz="1400" u="none" cap="none" strike="noStrike">
              <a:solidFill>
                <a:srgbClr val="888888"/>
              </a:solidFill>
              <a:latin typeface="Calibri"/>
              <a:ea typeface="Calibri"/>
              <a:cs typeface="Calibri"/>
              <a:sym typeface="Calibri"/>
            </a:endParaRPr>
          </a:p>
        </p:txBody>
      </p:sp>
      <p:sp>
        <p:nvSpPr>
          <p:cNvPr id="594" name="Google Shape;594;g3e0832b152f_9_56"/>
          <p:cNvSpPr/>
          <p:nvPr/>
        </p:nvSpPr>
        <p:spPr>
          <a:xfrm>
            <a:off x="15544800" y="9966960"/>
            <a:ext cx="2194560" cy="329184"/>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BBBBBB"/>
              </a:buClr>
              <a:buSzPts val="1400"/>
              <a:buFont typeface="Calibri"/>
              <a:buNone/>
            </a:pPr>
            <a:r>
              <a:rPr b="0" i="0" lang="en-US" sz="1400" u="none" cap="none" strike="noStrike">
                <a:solidFill>
                  <a:srgbClr val="BBBBBB"/>
                </a:solidFill>
                <a:latin typeface="Calibri"/>
                <a:ea typeface="Calibri"/>
                <a:cs typeface="Calibri"/>
                <a:sym typeface="Calibri"/>
              </a:rPr>
              <a:t>16 / 17</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6"/>
        </a:solidFill>
      </p:bgPr>
    </p:bg>
    <p:spTree>
      <p:nvGrpSpPr>
        <p:cNvPr id="599" name="Shape 599"/>
        <p:cNvGrpSpPr/>
        <p:nvPr/>
      </p:nvGrpSpPr>
      <p:grpSpPr>
        <a:xfrm>
          <a:off x="0" y="0"/>
          <a:ext cx="0" cy="0"/>
          <a:chOff x="0" y="0"/>
          <a:chExt cx="0" cy="0"/>
        </a:xfrm>
      </p:grpSpPr>
      <p:sp>
        <p:nvSpPr>
          <p:cNvPr id="600" name="Google Shape;600;g3e0832b152f_9_108"/>
          <p:cNvSpPr/>
          <p:nvPr/>
        </p:nvSpPr>
        <p:spPr>
          <a:xfrm>
            <a:off x="640080" y="329184"/>
            <a:ext cx="10972800" cy="4023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1600"/>
              <a:buFont typeface="Calibri"/>
              <a:buNone/>
            </a:pPr>
            <a:r>
              <a:rPr b="1" i="0" lang="en-US" sz="1600" u="none" cap="none" strike="noStrike">
                <a:solidFill>
                  <a:srgbClr val="F5A623"/>
                </a:solidFill>
                <a:latin typeface="Calibri"/>
                <a:ea typeface="Calibri"/>
                <a:cs typeface="Calibri"/>
                <a:sym typeface="Calibri"/>
              </a:rPr>
              <a:t>1</a:t>
            </a:r>
            <a:r>
              <a:rPr b="1" lang="en-US" sz="1600">
                <a:solidFill>
                  <a:srgbClr val="F5A623"/>
                </a:solidFill>
                <a:latin typeface="Calibri"/>
                <a:ea typeface="Calibri"/>
                <a:cs typeface="Calibri"/>
                <a:sym typeface="Calibri"/>
              </a:rPr>
              <a:t>7</a:t>
            </a:r>
            <a:r>
              <a:rPr b="1" i="0" lang="en-US" sz="1600" u="none" cap="none" strike="noStrike">
                <a:solidFill>
                  <a:srgbClr val="F5A623"/>
                </a:solidFill>
                <a:latin typeface="Calibri"/>
                <a:ea typeface="Calibri"/>
                <a:cs typeface="Calibri"/>
                <a:sym typeface="Calibri"/>
              </a:rPr>
              <a:t> · PERSPECTIVE &amp; RESOURCES</a:t>
            </a:r>
            <a:endParaRPr b="0" i="0" sz="1600" u="none" cap="none" strike="noStrike">
              <a:solidFill>
                <a:schemeClr val="dk1"/>
              </a:solidFill>
              <a:latin typeface="Calibri"/>
              <a:ea typeface="Calibri"/>
              <a:cs typeface="Calibri"/>
              <a:sym typeface="Calibri"/>
            </a:endParaRPr>
          </a:p>
        </p:txBody>
      </p:sp>
      <p:sp>
        <p:nvSpPr>
          <p:cNvPr id="601" name="Google Shape;601;g3e0832b152f_9_108"/>
          <p:cNvSpPr/>
          <p:nvPr/>
        </p:nvSpPr>
        <p:spPr>
          <a:xfrm>
            <a:off x="12801600" y="329184"/>
            <a:ext cx="4937760" cy="402336"/>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888888"/>
              </a:buClr>
              <a:buSzPts val="1600"/>
              <a:buFont typeface="Calibri"/>
              <a:buNone/>
            </a:pPr>
            <a:r>
              <a:rPr b="0" i="0" lang="en-US" sz="1600" u="none" cap="none" strike="noStrike">
                <a:solidFill>
                  <a:srgbClr val="888888"/>
                </a:solidFill>
                <a:latin typeface="Calibri"/>
                <a:ea typeface="Calibri"/>
                <a:cs typeface="Calibri"/>
                <a:sym typeface="Calibri"/>
              </a:rPr>
              <a:t>SPEAKER · ILIAS</a:t>
            </a:r>
            <a:endParaRPr b="0" i="0" sz="1600" u="none" cap="none" strike="noStrike">
              <a:solidFill>
                <a:schemeClr val="dk1"/>
              </a:solidFill>
              <a:latin typeface="Calibri"/>
              <a:ea typeface="Calibri"/>
              <a:cs typeface="Calibri"/>
              <a:sym typeface="Calibri"/>
            </a:endParaRPr>
          </a:p>
        </p:txBody>
      </p:sp>
      <p:sp>
        <p:nvSpPr>
          <p:cNvPr id="602" name="Google Shape;602;g3e0832b152f_9_108"/>
          <p:cNvSpPr/>
          <p:nvPr/>
        </p:nvSpPr>
        <p:spPr>
          <a:xfrm>
            <a:off x="640080" y="804672"/>
            <a:ext cx="17007840" cy="95097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5200"/>
              <a:buFont typeface="Calibri"/>
              <a:buNone/>
            </a:pPr>
            <a:r>
              <a:rPr b="1" i="0" lang="en-US" sz="5200" u="none" cap="none" strike="noStrike">
                <a:solidFill>
                  <a:srgbClr val="1A1A2E"/>
                </a:solidFill>
                <a:latin typeface="Calibri"/>
                <a:ea typeface="Calibri"/>
                <a:cs typeface="Calibri"/>
                <a:sym typeface="Calibri"/>
              </a:rPr>
              <a:t>Our pivot.  </a:t>
            </a:r>
            <a:r>
              <a:rPr b="1" i="0" lang="en-US" sz="5200" u="none" cap="none" strike="noStrike">
                <a:solidFill>
                  <a:srgbClr val="F5A623"/>
                </a:solidFill>
                <a:latin typeface="Calibri"/>
                <a:ea typeface="Calibri"/>
                <a:cs typeface="Calibri"/>
                <a:sym typeface="Calibri"/>
              </a:rPr>
              <a:t>Where to dig deeper.</a:t>
            </a:r>
            <a:endParaRPr b="0" i="0" sz="5200" u="none" cap="none" strike="noStrike">
              <a:solidFill>
                <a:schemeClr val="dk1"/>
              </a:solidFill>
              <a:latin typeface="Calibri"/>
              <a:ea typeface="Calibri"/>
              <a:cs typeface="Calibri"/>
              <a:sym typeface="Calibri"/>
            </a:endParaRPr>
          </a:p>
        </p:txBody>
      </p:sp>
      <p:sp>
        <p:nvSpPr>
          <p:cNvPr id="603" name="Google Shape;603;g3e0832b152f_9_108"/>
          <p:cNvSpPr/>
          <p:nvPr/>
        </p:nvSpPr>
        <p:spPr>
          <a:xfrm>
            <a:off x="640080" y="1975104"/>
            <a:ext cx="17007840" cy="1737360"/>
          </a:xfrm>
          <a:prstGeom prst="rect">
            <a:avLst/>
          </a:prstGeom>
          <a:solidFill>
            <a:srgbClr val="1A1A2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04" name="Google Shape;604;g3e0832b152f_9_108"/>
          <p:cNvSpPr/>
          <p:nvPr/>
        </p:nvSpPr>
        <p:spPr>
          <a:xfrm>
            <a:off x="914400" y="2048256"/>
            <a:ext cx="3657600" cy="329184"/>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1500"/>
              <a:buFont typeface="Calibri"/>
              <a:buNone/>
            </a:pPr>
            <a:r>
              <a:rPr b="1" i="0" lang="en-US" sz="1500" u="none" cap="none" strike="noStrike">
                <a:solidFill>
                  <a:srgbClr val="F5A623"/>
                </a:solidFill>
                <a:latin typeface="Calibri"/>
                <a:ea typeface="Calibri"/>
                <a:cs typeface="Calibri"/>
                <a:sym typeface="Calibri"/>
              </a:rPr>
              <a:t>OUR PIVOT</a:t>
            </a:r>
            <a:endParaRPr b="0" i="0" sz="1500" u="none" cap="none" strike="noStrike">
              <a:solidFill>
                <a:schemeClr val="dk1"/>
              </a:solidFill>
              <a:latin typeface="Calibri"/>
              <a:ea typeface="Calibri"/>
              <a:cs typeface="Calibri"/>
              <a:sym typeface="Calibri"/>
            </a:endParaRPr>
          </a:p>
        </p:txBody>
      </p:sp>
      <p:sp>
        <p:nvSpPr>
          <p:cNvPr id="605" name="Google Shape;605;g3e0832b152f_9_108"/>
          <p:cNvSpPr/>
          <p:nvPr/>
        </p:nvSpPr>
        <p:spPr>
          <a:xfrm>
            <a:off x="914400" y="2414016"/>
            <a:ext cx="16459200" cy="4572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E8E5DC"/>
              </a:buClr>
              <a:buSzPts val="2100"/>
              <a:buFont typeface="Calibri"/>
              <a:buNone/>
            </a:pPr>
            <a:r>
              <a:rPr b="0" i="0" lang="en-US" sz="2100" u="none" cap="none" strike="noStrike">
                <a:solidFill>
                  <a:srgbClr val="E8E5DC"/>
                </a:solidFill>
                <a:latin typeface="Calibri"/>
                <a:ea typeface="Calibri"/>
                <a:cs typeface="Calibri"/>
                <a:sym typeface="Calibri"/>
              </a:rPr>
              <a:t>AWS Forecast → SageMaker. Forecast was deprecated for new accounts — we hit the wall on day one of week two.</a:t>
            </a:r>
            <a:endParaRPr b="0" i="0" sz="2100" u="none" cap="none" strike="noStrike">
              <a:solidFill>
                <a:schemeClr val="dk1"/>
              </a:solidFill>
              <a:latin typeface="Calibri"/>
              <a:ea typeface="Calibri"/>
              <a:cs typeface="Calibri"/>
              <a:sym typeface="Calibri"/>
            </a:endParaRPr>
          </a:p>
        </p:txBody>
      </p:sp>
      <p:sp>
        <p:nvSpPr>
          <p:cNvPr id="606" name="Google Shape;606;g3e0832b152f_9_108"/>
          <p:cNvSpPr/>
          <p:nvPr/>
        </p:nvSpPr>
        <p:spPr>
          <a:xfrm>
            <a:off x="914400" y="2907792"/>
            <a:ext cx="16459200" cy="658368"/>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F5A623"/>
              </a:buClr>
              <a:buSzPts val="2100"/>
              <a:buFont typeface="Calibri"/>
              <a:buNone/>
            </a:pPr>
            <a:r>
              <a:rPr b="1" i="0" lang="en-US" sz="2100" u="none" cap="none" strike="noStrike">
                <a:solidFill>
                  <a:srgbClr val="F5A623"/>
                </a:solidFill>
                <a:latin typeface="Calibri"/>
                <a:ea typeface="Calibri"/>
                <a:cs typeface="Calibri"/>
                <a:sym typeface="Calibri"/>
              </a:rPr>
              <a:t>DeepAR</a:t>
            </a:r>
            <a:r>
              <a:rPr b="0" i="0" lang="en-US" sz="2100" u="none" cap="none" strike="noStrike">
                <a:solidFill>
                  <a:srgbClr val="E8E5DC"/>
                </a:solidFill>
                <a:latin typeface="Calibri"/>
                <a:ea typeface="Calibri"/>
                <a:cs typeface="Calibri"/>
                <a:sym typeface="Calibri"/>
              </a:rPr>
              <a:t> is the spiritual successor to Forecast — same algorithm, lower level of abstraction.</a:t>
            </a:r>
            <a:endParaRPr b="0" i="0" sz="2100" u="none" cap="none" strike="noStrike">
              <a:solidFill>
                <a:schemeClr val="dk1"/>
              </a:solidFill>
              <a:latin typeface="Calibri"/>
              <a:ea typeface="Calibri"/>
              <a:cs typeface="Calibri"/>
              <a:sym typeface="Calibri"/>
            </a:endParaRPr>
          </a:p>
        </p:txBody>
      </p:sp>
      <p:sp>
        <p:nvSpPr>
          <p:cNvPr id="607" name="Google Shape;607;g3e0832b152f_9_108"/>
          <p:cNvSpPr/>
          <p:nvPr/>
        </p:nvSpPr>
        <p:spPr>
          <a:xfrm>
            <a:off x="640080" y="3931920"/>
            <a:ext cx="8412480" cy="521208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08" name="Google Shape;608;g3e0832b152f_9_108"/>
          <p:cNvSpPr/>
          <p:nvPr/>
        </p:nvSpPr>
        <p:spPr>
          <a:xfrm>
            <a:off x="914400" y="4078224"/>
            <a:ext cx="786384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1600"/>
              <a:buFont typeface="Calibri"/>
              <a:buNone/>
            </a:pPr>
            <a:r>
              <a:rPr b="1" i="0" lang="en-US" sz="1600" u="none" cap="none" strike="noStrike">
                <a:solidFill>
                  <a:srgbClr val="888888"/>
                </a:solidFill>
                <a:latin typeface="Calibri"/>
                <a:ea typeface="Calibri"/>
                <a:cs typeface="Calibri"/>
                <a:sym typeface="Calibri"/>
              </a:rPr>
              <a:t>PERSPECTIVE</a:t>
            </a:r>
            <a:endParaRPr b="0" i="0" sz="1600" u="none" cap="none" strike="noStrike">
              <a:solidFill>
                <a:schemeClr val="dk1"/>
              </a:solidFill>
              <a:latin typeface="Calibri"/>
              <a:ea typeface="Calibri"/>
              <a:cs typeface="Calibri"/>
              <a:sym typeface="Calibri"/>
            </a:endParaRPr>
          </a:p>
        </p:txBody>
      </p:sp>
      <p:sp>
        <p:nvSpPr>
          <p:cNvPr id="609" name="Google Shape;609;g3e0832b152f_9_108"/>
          <p:cNvSpPr/>
          <p:nvPr/>
        </p:nvSpPr>
        <p:spPr>
          <a:xfrm>
            <a:off x="914400" y="4572000"/>
            <a:ext cx="109728" cy="1280160"/>
          </a:xfrm>
          <a:prstGeom prst="rect">
            <a:avLst/>
          </a:prstGeom>
          <a:solidFill>
            <a:srgbClr val="F5A623"/>
          </a:solidFill>
          <a:ln cap="flat" cmpd="sng" w="12700">
            <a:solidFill>
              <a:srgbClr val="F5A623"/>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10" name="Google Shape;610;g3e0832b152f_9_108"/>
          <p:cNvSpPr/>
          <p:nvPr/>
        </p:nvSpPr>
        <p:spPr>
          <a:xfrm>
            <a:off x="1188720" y="4572000"/>
            <a:ext cx="7498080" cy="131673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SageMaker = comfort.</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Open source = </a:t>
            </a:r>
            <a:r>
              <a:rPr b="1" lang="en-US" sz="2200">
                <a:solidFill>
                  <a:srgbClr val="1A1A2E"/>
                </a:solidFill>
                <a:latin typeface="Calibri"/>
                <a:ea typeface="Calibri"/>
                <a:cs typeface="Calibri"/>
                <a:sym typeface="Calibri"/>
              </a:rPr>
              <a:t>freedom</a:t>
            </a:r>
            <a:r>
              <a:rPr b="1" i="0" lang="en-US" sz="2200" u="none" cap="none" strike="noStrike">
                <a:solidFill>
                  <a:srgbClr val="1A1A2E"/>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2200"/>
              <a:buFont typeface="Calibri"/>
              <a:buNone/>
            </a:pPr>
            <a:r>
              <a:rPr b="1" lang="en-US" sz="2200">
                <a:solidFill>
                  <a:srgbClr val="1A1A2E"/>
                </a:solidFill>
                <a:latin typeface="Calibri"/>
                <a:ea typeface="Calibri"/>
                <a:cs typeface="Calibri"/>
                <a:sym typeface="Calibri"/>
              </a:rPr>
              <a:t>The real </a:t>
            </a:r>
            <a:r>
              <a:rPr b="1" i="0" lang="en-US" sz="2200" u="none" cap="none" strike="noStrike">
                <a:solidFill>
                  <a:srgbClr val="1A1A2E"/>
                </a:solidFill>
                <a:latin typeface="Calibri"/>
                <a:ea typeface="Calibri"/>
                <a:cs typeface="Calibri"/>
                <a:sym typeface="Calibri"/>
              </a:rPr>
              <a:t>question:</a:t>
            </a:r>
            <a:r>
              <a:rPr b="1" lang="en-US" sz="2200">
                <a:solidFill>
                  <a:srgbClr val="1A1A2E"/>
                </a:solidFill>
                <a:latin typeface="Calibri"/>
                <a:ea typeface="Calibri"/>
                <a:cs typeface="Calibri"/>
                <a:sym typeface="Calibri"/>
              </a:rPr>
              <a:t> are you ready</a:t>
            </a:r>
            <a:endParaRPr b="1" sz="2200">
              <a:solidFill>
                <a:srgbClr val="1A1A2E"/>
              </a:solidFill>
              <a:latin typeface="Calibri"/>
              <a:ea typeface="Calibri"/>
              <a:cs typeface="Calibri"/>
              <a:sym typeface="Calibri"/>
            </a:endParaRPr>
          </a:p>
          <a:p>
            <a:pPr indent="0" lvl="0" marL="0" marR="0" rtl="0" algn="l">
              <a:spcBef>
                <a:spcPts val="0"/>
              </a:spcBef>
              <a:spcAft>
                <a:spcPts val="0"/>
              </a:spcAft>
              <a:buClr>
                <a:srgbClr val="1A1A2E"/>
              </a:buClr>
              <a:buSzPts val="2200"/>
              <a:buFont typeface="Calibri"/>
              <a:buNone/>
            </a:pPr>
            <a:r>
              <a:rPr b="1" lang="en-US" sz="2200">
                <a:solidFill>
                  <a:srgbClr val="1A1A2E"/>
                </a:solidFill>
                <a:latin typeface="Calibri"/>
                <a:ea typeface="Calibri"/>
                <a:cs typeface="Calibri"/>
                <a:sym typeface="Calibri"/>
              </a:rPr>
              <a:t>to bet on AWS for the next 10 years?</a:t>
            </a:r>
            <a:endParaRPr b="1" sz="2200">
              <a:solidFill>
                <a:srgbClr val="1A1A2E"/>
              </a:solidFill>
              <a:latin typeface="Calibri"/>
              <a:ea typeface="Calibri"/>
              <a:cs typeface="Calibri"/>
              <a:sym typeface="Calibri"/>
            </a:endParaRPr>
          </a:p>
        </p:txBody>
      </p:sp>
      <p:sp>
        <p:nvSpPr>
          <p:cNvPr id="611" name="Google Shape;611;g3e0832b152f_9_108"/>
          <p:cNvSpPr/>
          <p:nvPr/>
        </p:nvSpPr>
        <p:spPr>
          <a:xfrm>
            <a:off x="914400" y="6071616"/>
            <a:ext cx="7863840" cy="76809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444444"/>
              </a:buClr>
              <a:buSzPts val="2000"/>
              <a:buFont typeface="Calibri"/>
              <a:buNone/>
            </a:pPr>
            <a:r>
              <a:rPr b="0" i="0" lang="en-US" sz="2000" u="none" cap="none" strike="noStrike">
                <a:solidFill>
                  <a:srgbClr val="444444"/>
                </a:solidFill>
                <a:latin typeface="Calibri"/>
                <a:ea typeface="Calibri"/>
                <a:cs typeface="Calibri"/>
                <a:sym typeface="Calibri"/>
              </a:rPr>
              <a:t>→  Unified Studio GA — March 2025: analytics + ML + GenAI unified</a:t>
            </a:r>
            <a:endParaRPr b="0" i="0" sz="2000" u="none" cap="none" strike="noStrike">
              <a:solidFill>
                <a:schemeClr val="dk1"/>
              </a:solidFill>
              <a:latin typeface="Calibri"/>
              <a:ea typeface="Calibri"/>
              <a:cs typeface="Calibri"/>
              <a:sym typeface="Calibri"/>
            </a:endParaRPr>
          </a:p>
        </p:txBody>
      </p:sp>
      <p:sp>
        <p:nvSpPr>
          <p:cNvPr id="612" name="Google Shape;612;g3e0832b152f_9_108"/>
          <p:cNvSpPr/>
          <p:nvPr/>
        </p:nvSpPr>
        <p:spPr>
          <a:xfrm>
            <a:off x="914400" y="6931152"/>
            <a:ext cx="7863840" cy="76809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444444"/>
              </a:buClr>
              <a:buSzPts val="2000"/>
              <a:buFont typeface="Calibri"/>
              <a:buNone/>
            </a:pPr>
            <a:r>
              <a:rPr b="0" i="0" lang="en-US" sz="2000" u="none" cap="none" strike="noStrike">
                <a:solidFill>
                  <a:srgbClr val="444444"/>
                </a:solidFill>
                <a:latin typeface="Calibri"/>
                <a:ea typeface="Calibri"/>
                <a:cs typeface="Calibri"/>
                <a:sym typeface="Calibri"/>
              </a:rPr>
              <a:t>→  Challenger: MLflow on K8s, TrueFoundry — cloud-agnostic, zero lock-in</a:t>
            </a:r>
            <a:endParaRPr b="0" i="0" sz="2000" u="none" cap="none" strike="noStrike">
              <a:solidFill>
                <a:schemeClr val="dk1"/>
              </a:solidFill>
              <a:latin typeface="Calibri"/>
              <a:ea typeface="Calibri"/>
              <a:cs typeface="Calibri"/>
              <a:sym typeface="Calibri"/>
            </a:endParaRPr>
          </a:p>
        </p:txBody>
      </p:sp>
      <p:sp>
        <p:nvSpPr>
          <p:cNvPr id="613" name="Google Shape;613;g3e0832b152f_9_108"/>
          <p:cNvSpPr/>
          <p:nvPr/>
        </p:nvSpPr>
        <p:spPr>
          <a:xfrm>
            <a:off x="914400" y="7790688"/>
            <a:ext cx="7863840" cy="768096"/>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444444"/>
              </a:buClr>
              <a:buSzPts val="2000"/>
              <a:buFont typeface="Calibri"/>
              <a:buNone/>
            </a:pPr>
            <a:r>
              <a:rPr b="0" i="0" lang="en-US" sz="2000" u="none" cap="none" strike="noStrike">
                <a:solidFill>
                  <a:srgbClr val="444444"/>
                </a:solidFill>
                <a:latin typeface="Calibri"/>
                <a:ea typeface="Calibri"/>
                <a:cs typeface="Calibri"/>
                <a:sym typeface="Calibri"/>
              </a:rPr>
              <a:t>→  SageMaker Pipeline → full rewrite if migrating to another cloud</a:t>
            </a:r>
            <a:endParaRPr b="0" i="0" sz="2000" u="none" cap="none" strike="noStrike">
              <a:solidFill>
                <a:schemeClr val="dk1"/>
              </a:solidFill>
              <a:latin typeface="Calibri"/>
              <a:ea typeface="Calibri"/>
              <a:cs typeface="Calibri"/>
              <a:sym typeface="Calibri"/>
            </a:endParaRPr>
          </a:p>
        </p:txBody>
      </p:sp>
      <p:sp>
        <p:nvSpPr>
          <p:cNvPr id="614" name="Google Shape;614;g3e0832b152f_9_108"/>
          <p:cNvSpPr/>
          <p:nvPr/>
        </p:nvSpPr>
        <p:spPr>
          <a:xfrm>
            <a:off x="914400" y="8686800"/>
            <a:ext cx="6217920" cy="329184"/>
          </a:xfrm>
          <a:prstGeom prst="rect">
            <a:avLst/>
          </a:prstGeom>
          <a:solidFill>
            <a:srgbClr val="FFF3D6"/>
          </a:solidFill>
          <a:ln cap="flat" cmpd="sng" w="9525">
            <a:solidFill>
              <a:srgbClr val="F5C842"/>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15" name="Google Shape;615;g3e0832b152f_9_108"/>
          <p:cNvSpPr/>
          <p:nvPr/>
        </p:nvSpPr>
        <p:spPr>
          <a:xfrm>
            <a:off x="914400" y="8686800"/>
            <a:ext cx="6217920" cy="329184"/>
          </a:xfrm>
          <a:prstGeom prst="rect">
            <a:avLst/>
          </a:prstGeom>
          <a:noFill/>
          <a:ln>
            <a:noFill/>
          </a:ln>
        </p:spPr>
        <p:txBody>
          <a:bodyPr anchorCtr="0" anchor="ctr" bIns="91400" lIns="182850" spcFirstLastPara="1" rIns="182850" wrap="square" tIns="91400">
            <a:noAutofit/>
          </a:bodyPr>
          <a:lstStyle/>
          <a:p>
            <a:pPr indent="0" lvl="0" marL="0" marR="0" rtl="0" algn="ctr">
              <a:spcBef>
                <a:spcPts val="0"/>
              </a:spcBef>
              <a:spcAft>
                <a:spcPts val="0"/>
              </a:spcAft>
              <a:buClr>
                <a:srgbClr val="B07D00"/>
              </a:buClr>
              <a:buSzPts val="1600"/>
              <a:buFont typeface="Calibri"/>
              <a:buNone/>
            </a:pPr>
            <a:r>
              <a:rPr b="1" i="0" lang="en-US" sz="1600" u="none" cap="none" strike="noStrike">
                <a:solidFill>
                  <a:srgbClr val="B07D00"/>
                </a:solidFill>
                <a:latin typeface="Calibri"/>
                <a:ea typeface="Calibri"/>
                <a:cs typeface="Calibri"/>
                <a:sym typeface="Calibri"/>
              </a:rPr>
              <a:t>SageMaker Unified Studio · GA March 2025</a:t>
            </a:r>
            <a:endParaRPr b="0" i="0" sz="1600" u="none" cap="none" strike="noStrike">
              <a:solidFill>
                <a:schemeClr val="dk1"/>
              </a:solidFill>
              <a:latin typeface="Calibri"/>
              <a:ea typeface="Calibri"/>
              <a:cs typeface="Calibri"/>
              <a:sym typeface="Calibri"/>
            </a:endParaRPr>
          </a:p>
        </p:txBody>
      </p:sp>
      <p:sp>
        <p:nvSpPr>
          <p:cNvPr id="616" name="Google Shape;616;g3e0832b152f_9_108"/>
          <p:cNvSpPr/>
          <p:nvPr/>
        </p:nvSpPr>
        <p:spPr>
          <a:xfrm>
            <a:off x="9418320" y="3931920"/>
            <a:ext cx="8229600" cy="5212080"/>
          </a:xfrm>
          <a:prstGeom prst="rect">
            <a:avLst/>
          </a:prstGeom>
          <a:solidFill>
            <a:srgbClr val="FFFFFF"/>
          </a:solidFill>
          <a:ln cap="flat" cmpd="sng" w="9525">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617" name="Google Shape;617;g3e0832b152f_9_108"/>
          <p:cNvSpPr/>
          <p:nvPr/>
        </p:nvSpPr>
        <p:spPr>
          <a:xfrm>
            <a:off x="9601200" y="4078224"/>
            <a:ext cx="768096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888888"/>
              </a:buClr>
              <a:buSzPts val="1600"/>
              <a:buFont typeface="Calibri"/>
              <a:buNone/>
            </a:pPr>
            <a:r>
              <a:rPr b="1" i="0" lang="en-US" sz="1600" u="none" cap="none" strike="noStrike">
                <a:solidFill>
                  <a:srgbClr val="888888"/>
                </a:solidFill>
                <a:latin typeface="Calibri"/>
                <a:ea typeface="Calibri"/>
                <a:cs typeface="Calibri"/>
                <a:sym typeface="Calibri"/>
              </a:rPr>
              <a:t>RESOURCES · WHERE TO DIG DEEPER</a:t>
            </a:r>
            <a:endParaRPr b="0" i="0" sz="1600" u="none" cap="none" strike="noStrike">
              <a:solidFill>
                <a:schemeClr val="dk1"/>
              </a:solidFill>
              <a:latin typeface="Calibri"/>
              <a:ea typeface="Calibri"/>
              <a:cs typeface="Calibri"/>
              <a:sym typeface="Calibri"/>
            </a:endParaRPr>
          </a:p>
        </p:txBody>
      </p:sp>
      <p:cxnSp>
        <p:nvCxnSpPr>
          <p:cNvPr id="618" name="Google Shape;618;g3e0832b152f_9_108"/>
          <p:cNvCxnSpPr/>
          <p:nvPr/>
        </p:nvCxnSpPr>
        <p:spPr>
          <a:xfrm>
            <a:off x="9601200" y="5596128"/>
            <a:ext cx="7680960" cy="0"/>
          </a:xfrm>
          <a:prstGeom prst="straightConnector1">
            <a:avLst/>
          </a:prstGeom>
          <a:noFill/>
          <a:ln cap="flat" cmpd="sng" w="9525">
            <a:solidFill>
              <a:srgbClr val="F0EDE6"/>
            </a:solidFill>
            <a:prstDash val="solid"/>
            <a:round/>
            <a:headEnd len="sm" w="sm" type="none"/>
            <a:tailEnd len="sm" w="sm" type="none"/>
          </a:ln>
        </p:spPr>
      </p:cxnSp>
      <p:sp>
        <p:nvSpPr>
          <p:cNvPr id="619" name="Google Shape;619;g3e0832b152f_9_108"/>
          <p:cNvSpPr/>
          <p:nvPr/>
        </p:nvSpPr>
        <p:spPr>
          <a:xfrm>
            <a:off x="9601200" y="4645152"/>
            <a:ext cx="7680960" cy="438912"/>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Official docs</a:t>
            </a:r>
            <a:endParaRPr b="0" i="0" sz="2200" u="none" cap="none" strike="noStrike">
              <a:solidFill>
                <a:schemeClr val="dk1"/>
              </a:solidFill>
              <a:latin typeface="Calibri"/>
              <a:ea typeface="Calibri"/>
              <a:cs typeface="Calibri"/>
              <a:sym typeface="Calibri"/>
            </a:endParaRPr>
          </a:p>
        </p:txBody>
      </p:sp>
      <p:sp>
        <p:nvSpPr>
          <p:cNvPr id="620" name="Google Shape;620;g3e0832b152f_9_108"/>
          <p:cNvSpPr/>
          <p:nvPr/>
        </p:nvSpPr>
        <p:spPr>
          <a:xfrm>
            <a:off x="9601200" y="5084064"/>
            <a:ext cx="768096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900"/>
              <a:buFont typeface="Calibri"/>
              <a:buNone/>
            </a:pPr>
            <a:r>
              <a:rPr b="0" i="0" lang="en-US" sz="1900" u="none" cap="none" strike="noStrike">
                <a:solidFill>
                  <a:srgbClr val="185FA5"/>
                </a:solidFill>
                <a:latin typeface="Calibri"/>
                <a:ea typeface="Calibri"/>
                <a:cs typeface="Calibri"/>
                <a:sym typeface="Calibri"/>
              </a:rPr>
              <a:t>aws.amazon.com/sagemaker/ai/</a:t>
            </a:r>
            <a:endParaRPr b="0" i="0" sz="1900" u="none" cap="none" strike="noStrike">
              <a:solidFill>
                <a:schemeClr val="dk1"/>
              </a:solidFill>
              <a:latin typeface="Calibri"/>
              <a:ea typeface="Calibri"/>
              <a:cs typeface="Calibri"/>
              <a:sym typeface="Calibri"/>
            </a:endParaRPr>
          </a:p>
        </p:txBody>
      </p:sp>
      <p:cxnSp>
        <p:nvCxnSpPr>
          <p:cNvPr id="621" name="Google Shape;621;g3e0832b152f_9_108"/>
          <p:cNvCxnSpPr/>
          <p:nvPr/>
        </p:nvCxnSpPr>
        <p:spPr>
          <a:xfrm>
            <a:off x="9601200" y="6693408"/>
            <a:ext cx="7680960" cy="0"/>
          </a:xfrm>
          <a:prstGeom prst="straightConnector1">
            <a:avLst/>
          </a:prstGeom>
          <a:noFill/>
          <a:ln cap="flat" cmpd="sng" w="9525">
            <a:solidFill>
              <a:srgbClr val="F0EDE6"/>
            </a:solidFill>
            <a:prstDash val="solid"/>
            <a:round/>
            <a:headEnd len="sm" w="sm" type="none"/>
            <a:tailEnd len="sm" w="sm" type="none"/>
          </a:ln>
        </p:spPr>
      </p:cxnSp>
      <p:sp>
        <p:nvSpPr>
          <p:cNvPr id="622" name="Google Shape;622;g3e0832b152f_9_108"/>
          <p:cNvSpPr/>
          <p:nvPr/>
        </p:nvSpPr>
        <p:spPr>
          <a:xfrm>
            <a:off x="9601200" y="5742432"/>
            <a:ext cx="7680960" cy="438912"/>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Examples · 10.9K stars</a:t>
            </a:r>
            <a:endParaRPr b="0" i="0" sz="2200" u="none" cap="none" strike="noStrike">
              <a:solidFill>
                <a:schemeClr val="dk1"/>
              </a:solidFill>
              <a:latin typeface="Calibri"/>
              <a:ea typeface="Calibri"/>
              <a:cs typeface="Calibri"/>
              <a:sym typeface="Calibri"/>
            </a:endParaRPr>
          </a:p>
        </p:txBody>
      </p:sp>
      <p:sp>
        <p:nvSpPr>
          <p:cNvPr id="623" name="Google Shape;623;g3e0832b152f_9_108"/>
          <p:cNvSpPr/>
          <p:nvPr/>
        </p:nvSpPr>
        <p:spPr>
          <a:xfrm>
            <a:off x="9601200" y="6181344"/>
            <a:ext cx="768096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900"/>
              <a:buFont typeface="Calibri"/>
              <a:buNone/>
            </a:pPr>
            <a:r>
              <a:rPr b="0" i="0" lang="en-US" sz="1900" u="none" cap="none" strike="noStrike">
                <a:solidFill>
                  <a:srgbClr val="185FA5"/>
                </a:solidFill>
                <a:latin typeface="Calibri"/>
                <a:ea typeface="Calibri"/>
                <a:cs typeface="Calibri"/>
                <a:sym typeface="Calibri"/>
              </a:rPr>
              <a:t>github.com/aws/amazon-sagemaker-examples</a:t>
            </a:r>
            <a:endParaRPr b="0" i="0" sz="1900" u="none" cap="none" strike="noStrike">
              <a:solidFill>
                <a:schemeClr val="dk1"/>
              </a:solidFill>
              <a:latin typeface="Calibri"/>
              <a:ea typeface="Calibri"/>
              <a:cs typeface="Calibri"/>
              <a:sym typeface="Calibri"/>
            </a:endParaRPr>
          </a:p>
        </p:txBody>
      </p:sp>
      <p:cxnSp>
        <p:nvCxnSpPr>
          <p:cNvPr id="624" name="Google Shape;624;g3e0832b152f_9_108"/>
          <p:cNvCxnSpPr/>
          <p:nvPr/>
        </p:nvCxnSpPr>
        <p:spPr>
          <a:xfrm>
            <a:off x="9601200" y="7790688"/>
            <a:ext cx="7680960" cy="0"/>
          </a:xfrm>
          <a:prstGeom prst="straightConnector1">
            <a:avLst/>
          </a:prstGeom>
          <a:noFill/>
          <a:ln cap="flat" cmpd="sng" w="9525">
            <a:solidFill>
              <a:srgbClr val="F0EDE6"/>
            </a:solidFill>
            <a:prstDash val="solid"/>
            <a:round/>
            <a:headEnd len="sm" w="sm" type="none"/>
            <a:tailEnd len="sm" w="sm" type="none"/>
          </a:ln>
        </p:spPr>
      </p:cxnSp>
      <p:sp>
        <p:nvSpPr>
          <p:cNvPr id="625" name="Google Shape;625;g3e0832b152f_9_108"/>
          <p:cNvSpPr/>
          <p:nvPr/>
        </p:nvSpPr>
        <p:spPr>
          <a:xfrm>
            <a:off x="9601200" y="6839712"/>
            <a:ext cx="7680960" cy="438912"/>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Free Studio Lab — no AWS account</a:t>
            </a:r>
            <a:endParaRPr b="0" i="0" sz="2200" u="none" cap="none" strike="noStrike">
              <a:solidFill>
                <a:schemeClr val="dk1"/>
              </a:solidFill>
              <a:latin typeface="Calibri"/>
              <a:ea typeface="Calibri"/>
              <a:cs typeface="Calibri"/>
              <a:sym typeface="Calibri"/>
            </a:endParaRPr>
          </a:p>
        </p:txBody>
      </p:sp>
      <p:sp>
        <p:nvSpPr>
          <p:cNvPr id="626" name="Google Shape;626;g3e0832b152f_9_108"/>
          <p:cNvSpPr/>
          <p:nvPr/>
        </p:nvSpPr>
        <p:spPr>
          <a:xfrm>
            <a:off x="9601200" y="7278624"/>
            <a:ext cx="768096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900"/>
              <a:buFont typeface="Calibri"/>
              <a:buNone/>
            </a:pPr>
            <a:r>
              <a:rPr b="0" i="0" lang="en-US" sz="1900" u="none" cap="none" strike="noStrike">
                <a:solidFill>
                  <a:srgbClr val="185FA5"/>
                </a:solidFill>
                <a:latin typeface="Calibri"/>
                <a:ea typeface="Calibri"/>
                <a:cs typeface="Calibri"/>
                <a:sym typeface="Calibri"/>
              </a:rPr>
              <a:t>studiolab.sagemaker.aws</a:t>
            </a:r>
            <a:endParaRPr b="0" i="0" sz="1900" u="none" cap="none" strike="noStrike">
              <a:solidFill>
                <a:schemeClr val="dk1"/>
              </a:solidFill>
              <a:latin typeface="Calibri"/>
              <a:ea typeface="Calibri"/>
              <a:cs typeface="Calibri"/>
              <a:sym typeface="Calibri"/>
            </a:endParaRPr>
          </a:p>
        </p:txBody>
      </p:sp>
      <p:cxnSp>
        <p:nvCxnSpPr>
          <p:cNvPr id="627" name="Google Shape;627;g3e0832b152f_9_108"/>
          <p:cNvCxnSpPr/>
          <p:nvPr/>
        </p:nvCxnSpPr>
        <p:spPr>
          <a:xfrm>
            <a:off x="9601200" y="8887968"/>
            <a:ext cx="7680960" cy="0"/>
          </a:xfrm>
          <a:prstGeom prst="straightConnector1">
            <a:avLst/>
          </a:prstGeom>
          <a:noFill/>
          <a:ln cap="flat" cmpd="sng" w="9525">
            <a:solidFill>
              <a:srgbClr val="F0EDE6"/>
            </a:solidFill>
            <a:prstDash val="solid"/>
            <a:round/>
            <a:headEnd len="sm" w="sm" type="none"/>
            <a:tailEnd len="sm" w="sm" type="none"/>
          </a:ln>
        </p:spPr>
      </p:cxnSp>
      <p:sp>
        <p:nvSpPr>
          <p:cNvPr id="628" name="Google Shape;628;g3e0832b152f_9_108"/>
          <p:cNvSpPr/>
          <p:nvPr/>
        </p:nvSpPr>
        <p:spPr>
          <a:xfrm>
            <a:off x="9601200" y="7936992"/>
            <a:ext cx="7680960" cy="438912"/>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A1A2E"/>
              </a:buClr>
              <a:buSzPts val="2200"/>
              <a:buFont typeface="Calibri"/>
              <a:buNone/>
            </a:pPr>
            <a:r>
              <a:rPr b="1" i="0" lang="en-US" sz="2200" u="none" cap="none" strike="noStrike">
                <a:solidFill>
                  <a:srgbClr val="1A1A2E"/>
                </a:solidFill>
                <a:latin typeface="Calibri"/>
                <a:ea typeface="Calibri"/>
                <a:cs typeface="Calibri"/>
                <a:sym typeface="Calibri"/>
              </a:rPr>
              <a:t>DeepAR paper</a:t>
            </a:r>
            <a:endParaRPr b="0" i="0" sz="2200" u="none" cap="none" strike="noStrike">
              <a:solidFill>
                <a:schemeClr val="dk1"/>
              </a:solidFill>
              <a:latin typeface="Calibri"/>
              <a:ea typeface="Calibri"/>
              <a:cs typeface="Calibri"/>
              <a:sym typeface="Calibri"/>
            </a:endParaRPr>
          </a:p>
        </p:txBody>
      </p:sp>
      <p:sp>
        <p:nvSpPr>
          <p:cNvPr id="629" name="Google Shape;629;g3e0832b152f_9_108"/>
          <p:cNvSpPr/>
          <p:nvPr/>
        </p:nvSpPr>
        <p:spPr>
          <a:xfrm>
            <a:off x="9601200" y="8375904"/>
            <a:ext cx="7680960" cy="36576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185FA5"/>
              </a:buClr>
              <a:buSzPts val="1900"/>
              <a:buFont typeface="Calibri"/>
              <a:buNone/>
            </a:pPr>
            <a:r>
              <a:rPr b="0" i="0" lang="en-US" sz="1900" u="none" cap="none" strike="noStrike">
                <a:solidFill>
                  <a:srgbClr val="185FA5"/>
                </a:solidFill>
                <a:latin typeface="Calibri"/>
                <a:ea typeface="Calibri"/>
                <a:cs typeface="Calibri"/>
                <a:sym typeface="Calibri"/>
              </a:rPr>
              <a:t>arxiv.org/abs/1704.04110</a:t>
            </a:r>
            <a:endParaRPr b="0" i="0" sz="1900" u="none" cap="none" strike="noStrike">
              <a:solidFill>
                <a:schemeClr val="dk1"/>
              </a:solidFill>
              <a:latin typeface="Calibri"/>
              <a:ea typeface="Calibri"/>
              <a:cs typeface="Calibri"/>
              <a:sym typeface="Calibri"/>
            </a:endParaRPr>
          </a:p>
        </p:txBody>
      </p:sp>
      <p:sp>
        <p:nvSpPr>
          <p:cNvPr id="630" name="Google Shape;630;g3e0832b152f_9_108"/>
          <p:cNvSpPr/>
          <p:nvPr/>
        </p:nvSpPr>
        <p:spPr>
          <a:xfrm>
            <a:off x="640080" y="9290304"/>
            <a:ext cx="17007840" cy="0"/>
          </a:xfrm>
          <a:prstGeom prst="rect">
            <a:avLst/>
          </a:prstGeom>
          <a:solidFill>
            <a:srgbClr val="FAF9F6"/>
          </a:solidFill>
          <a:ln cap="flat" cmpd="sng" w="12700">
            <a:solidFill>
              <a:srgbClr val="E0DDD6"/>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cxnSp>
        <p:nvCxnSpPr>
          <p:cNvPr id="631" name="Google Shape;631;g3e0832b152f_9_108"/>
          <p:cNvCxnSpPr/>
          <p:nvPr/>
        </p:nvCxnSpPr>
        <p:spPr>
          <a:xfrm>
            <a:off x="0" y="9912096"/>
            <a:ext cx="18288000" cy="0"/>
          </a:xfrm>
          <a:prstGeom prst="straightConnector1">
            <a:avLst/>
          </a:prstGeom>
          <a:noFill/>
          <a:ln cap="flat" cmpd="sng" w="9525">
            <a:solidFill>
              <a:srgbClr val="E0DDD6"/>
            </a:solidFill>
            <a:prstDash val="solid"/>
            <a:round/>
            <a:headEnd len="sm" w="sm" type="none"/>
            <a:tailEnd len="sm" w="sm" type="none"/>
          </a:ln>
        </p:spPr>
      </p:cxnSp>
      <p:sp>
        <p:nvSpPr>
          <p:cNvPr id="632" name="Google Shape;632;g3e0832b152f_9_108"/>
          <p:cNvSpPr/>
          <p:nvPr/>
        </p:nvSpPr>
        <p:spPr>
          <a:xfrm>
            <a:off x="548640" y="9618595"/>
            <a:ext cx="14630400" cy="329100"/>
          </a:xfrm>
          <a:prstGeom prst="rect">
            <a:avLst/>
          </a:prstGeom>
          <a:no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BBBBBB"/>
              </a:buClr>
              <a:buSzPts val="1400"/>
              <a:buFont typeface="Calibri"/>
              <a:buNone/>
            </a:pPr>
            <a:r>
              <a:rPr b="0" i="0" lang="en-US" sz="1400" cap="none" strike="noStrike">
                <a:solidFill>
                  <a:srgbClr val="888888"/>
                </a:solidFill>
                <a:latin typeface="Calibri"/>
                <a:ea typeface="Calibri"/>
                <a:cs typeface="Calibri"/>
                <a:sym typeface="Calibri"/>
              </a:rPr>
              <a:t>TEAM 11_02 · AWS SAGEMAKER AI · CCBDA-MIRI 2026</a:t>
            </a:r>
            <a:endParaRPr b="0" i="0" sz="1400" cap="none" strike="noStrike">
              <a:solidFill>
                <a:srgbClr val="888888"/>
              </a:solidFill>
              <a:latin typeface="Calibri"/>
              <a:ea typeface="Calibri"/>
              <a:cs typeface="Calibri"/>
              <a:sym typeface="Calibri"/>
            </a:endParaRPr>
          </a:p>
        </p:txBody>
      </p:sp>
      <p:sp>
        <p:nvSpPr>
          <p:cNvPr id="633" name="Google Shape;633;g3e0832b152f_9_108"/>
          <p:cNvSpPr/>
          <p:nvPr/>
        </p:nvSpPr>
        <p:spPr>
          <a:xfrm>
            <a:off x="15544800" y="9966960"/>
            <a:ext cx="2194560" cy="329184"/>
          </a:xfrm>
          <a:prstGeom prst="rect">
            <a:avLst/>
          </a:prstGeom>
          <a:noFill/>
          <a:ln>
            <a:noFill/>
          </a:ln>
        </p:spPr>
        <p:txBody>
          <a:bodyPr anchorCtr="0" anchor="ctr" bIns="91400" lIns="182850" spcFirstLastPara="1" rIns="182850" wrap="square" tIns="91400">
            <a:noAutofit/>
          </a:bodyPr>
          <a:lstStyle/>
          <a:p>
            <a:pPr indent="0" lvl="0" marL="0" marR="0" rtl="0" algn="r">
              <a:spcBef>
                <a:spcPts val="0"/>
              </a:spcBef>
              <a:spcAft>
                <a:spcPts val="0"/>
              </a:spcAft>
              <a:buClr>
                <a:srgbClr val="BBBBBB"/>
              </a:buClr>
              <a:buSzPts val="1400"/>
              <a:buFont typeface="Calibri"/>
              <a:buNone/>
            </a:pPr>
            <a:r>
              <a:rPr b="0" i="0" lang="en-US" sz="1400" u="none" cap="none" strike="noStrike">
                <a:solidFill>
                  <a:srgbClr val="BBBBBB"/>
                </a:solidFill>
                <a:latin typeface="Calibri"/>
                <a:ea typeface="Calibri"/>
                <a:cs typeface="Calibri"/>
                <a:sym typeface="Calibri"/>
              </a:rPr>
              <a:t>17 / 17</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2026-05-07T14:37:29Z</dcterms:created>
  <dc:creator>PptxGenJS</dc:creator>
</cp:coreProperties>
</file>