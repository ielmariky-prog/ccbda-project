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1.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Lst>
  <p:sldSz cy="10287000" cx="18288000"/>
  <p:notesSz cx="10287000" cy="18288000"/>
  <p:embeddedFontLst>
    <p:embeddedFont>
      <p:font typeface="Roboto"/>
      <p:regular r:id="rId20"/>
      <p:bold r:id="rId21"/>
      <p:italic r:id="rId22"/>
      <p:boldItalic r:id="rId23"/>
    </p:embeddedFont>
    <p:embeddedFont>
      <p:font typeface="Helvetica Neue"/>
      <p:regular r:id="rId24"/>
      <p:bold r:id="rId25"/>
      <p:italic r:id="rId26"/>
      <p:boldItalic r:id="rId2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28" roundtripDataSignature="AMtx7mj0TBOmhNeNt6fkopLBHO1Gkdrg0w=="/>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_rels/presentation.xml.rels><?xml version="1.0" encoding="UTF-8" standalone="yes"?><Relationships xmlns="http://schemas.openxmlformats.org/package/2006/relationships"><Relationship Id="rId20" Type="http://schemas.openxmlformats.org/officeDocument/2006/relationships/font" Target="fonts/Roboto-regular.fntdata"/><Relationship Id="rId22" Type="http://schemas.openxmlformats.org/officeDocument/2006/relationships/font" Target="fonts/Roboto-italic.fntdata"/><Relationship Id="rId21" Type="http://schemas.openxmlformats.org/officeDocument/2006/relationships/font" Target="fonts/Roboto-bold.fntdata"/><Relationship Id="rId24" Type="http://schemas.openxmlformats.org/officeDocument/2006/relationships/font" Target="fonts/HelveticaNeue-regular.fntdata"/><Relationship Id="rId23" Type="http://schemas.openxmlformats.org/officeDocument/2006/relationships/font" Target="fonts/Roboto-boldItalic.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slideMaster" Target="slideMasters/slideMaster1.xml"/><Relationship Id="rId4" Type="http://schemas.openxmlformats.org/officeDocument/2006/relationships/notesMaster" Target="notesMasters/notesMaster1.xml"/><Relationship Id="rId9" Type="http://schemas.openxmlformats.org/officeDocument/2006/relationships/slide" Target="slides/slide5.xml"/><Relationship Id="rId26" Type="http://schemas.openxmlformats.org/officeDocument/2006/relationships/font" Target="fonts/HelveticaNeue-italic.fntdata"/><Relationship Id="rId25" Type="http://schemas.openxmlformats.org/officeDocument/2006/relationships/font" Target="fonts/HelveticaNeue-bold.fntdata"/><Relationship Id="rId28" Type="http://customschemas.google.com/relationships/presentationmetadata" Target="metadata"/><Relationship Id="rId27" Type="http://schemas.openxmlformats.org/officeDocument/2006/relationships/font" Target="fonts/HelveticaNeue-boldItalic.fntdata"/><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11" Type="http://schemas.openxmlformats.org/officeDocument/2006/relationships/slide" Target="slides/slide7.xml"/><Relationship Id="rId10" Type="http://schemas.openxmlformats.org/officeDocument/2006/relationships/slide" Target="slides/slide6.xml"/><Relationship Id="rId13" Type="http://schemas.openxmlformats.org/officeDocument/2006/relationships/slide" Target="slides/slide9.xml"/><Relationship Id="rId12" Type="http://schemas.openxmlformats.org/officeDocument/2006/relationships/slide" Target="slides/slide8.xml"/><Relationship Id="rId15" Type="http://schemas.openxmlformats.org/officeDocument/2006/relationships/slide" Target="slides/slide11.xml"/><Relationship Id="rId14" Type="http://schemas.openxmlformats.org/officeDocument/2006/relationships/slide" Target="slides/slide10.xml"/><Relationship Id="rId17" Type="http://schemas.openxmlformats.org/officeDocument/2006/relationships/slide" Target="slides/slide13.xml"/><Relationship Id="rId16" Type="http://schemas.openxmlformats.org/officeDocument/2006/relationships/slide" Target="slides/slide12.xml"/><Relationship Id="rId19" Type="http://schemas.openxmlformats.org/officeDocument/2006/relationships/slide" Target="slides/slide15.xml"/><Relationship Id="rId18"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8788"/>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4" name="Google Shape;4;n"/>
          <p:cNvSpPr txBox="1"/>
          <p:nvPr>
            <p:ph idx="10" type="dt"/>
          </p:nvPr>
        </p:nvSpPr>
        <p:spPr>
          <a:xfrm>
            <a:off x="3884613" y="0"/>
            <a:ext cx="2971800" cy="458788"/>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5" name="Google Shape;5;n"/>
          <p:cNvSpPr/>
          <p:nvPr>
            <p:ph idx="3"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6" name="Google Shape;6;n"/>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indent="-228600" lvl="1" marL="914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2pPr>
            <a:lvl3pPr indent="-228600" lvl="2" marL="1371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3pPr>
            <a:lvl4pPr indent="-228600" lvl="3" marL="1828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4pPr>
            <a:lvl5pPr indent="-228600" lvl="4" marL="22860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5213"/>
            <a:ext cx="2971800" cy="458787"/>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8" name="Google Shape;8;n"/>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n-US"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 name="Shape 11"/>
        <p:cNvGrpSpPr/>
        <p:nvPr/>
      </p:nvGrpSpPr>
      <p:grpSpPr>
        <a:xfrm>
          <a:off x="0" y="0"/>
          <a:ext cx="0" cy="0"/>
          <a:chOff x="0" y="0"/>
          <a:chExt cx="0" cy="0"/>
        </a:xfrm>
      </p:grpSpPr>
      <p:sp>
        <p:nvSpPr>
          <p:cNvPr id="12" name="Google Shape;12;p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3" name="Google Shape;13;p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Good morning. We're team eleven oh two, and we built a near real time financial forecasting system on AWS. It predicts short term moves of three tickers, Tesla, Microsoft and Nvidia, from market prices and live news. I'll open, then each of us walks you through the part we own.</a:t>
            </a:r>
            <a:endParaRPr/>
          </a:p>
        </p:txBody>
      </p:sp>
      <p:sp>
        <p:nvSpPr>
          <p:cNvPr id="14" name="Google Shape;14;p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 name="Shape 31"/>
        <p:cNvGrpSpPr/>
        <p:nvPr/>
      </p:nvGrpSpPr>
      <p:grpSpPr>
        <a:xfrm>
          <a:off x="0" y="0"/>
          <a:ext cx="0" cy="0"/>
          <a:chOff x="0" y="0"/>
          <a:chExt cx="0" cy="0"/>
        </a:xfrm>
      </p:grpSpPr>
      <p:sp>
        <p:nvSpPr>
          <p:cNvPr id="32" name="Google Shape;32;p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3" name="Google Shape;33;p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goal is simple to state, hard to do well. We forecast three tickers at two horizons. One hour ahead, updated every hour, with news sentiment folded in. And seven days ahead, refreshed once a day from prices alone. We kept the scope tight on purpose, three tickers, two horizons, one dashboard, full automation, and we cut a wider universe and a custom news scraper from the first draft, because the real challenge here is event driven plumbing on AWS, not chasing tickers. Everything runs on managed services, scales to zero when idle, and is rebuilt from code. Once it's deployed, there are no servers and no humans in the loop.</a:t>
            </a:r>
            <a:endParaRPr/>
          </a:p>
        </p:txBody>
      </p:sp>
      <p:sp>
        <p:nvSpPr>
          <p:cNvPr id="34" name="Google Shape;34;p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p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0" name="Google Shape;80;p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This is the full pipeline, color coded by who owns each block. An EventBridge schedule kicks off ingestion. Ilias's Lambda pulls prices and news and publishes them as messages onto two SQS queues. From SQS, two paths run in parallel. On the data path, Dalibor's Glue job drains the price queue, joins in sentiment, and writes partitioned Parquet to S three. On the sentiment path, the news queue triggers a Lambda that scores headlines with Comprehend. Both feed a SageMaker DeepAR serverless endpoint, hourly with sentiment, daily with prices only, and the forecasts land in DynamoDB. A DynamoDB stream triggers Arthur's anomaly Lambda, which emails through SNS when a forecast escapes its band. Athena reads the Parquet and Francesco's QuickSight dashboard queries it. Two Step Functions wrap the hourly and daily flows, and the whole thing spans four AWS accounts. Over to Ilias.</a:t>
            </a:r>
            <a:endParaRPr/>
          </a:p>
        </p:txBody>
      </p:sp>
      <p:sp>
        <p:nvSpPr>
          <p:cNvPr id="81" name="Google Shape;81;p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86" name="Google Shape;86;p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My piece is ingestion. The EventBridge rule on the left fires my Lambda on a schedule, hourly for prices and a slower cadence for news. The Lambda calls Alpha Vantage and publishes the results as messages onto two SQS queues, prices and news. SQS is the decoupling layer that feeds everything downstream, nothing talks to my Lambda directly. The interesting bit is rate limits. Alpha Vantage's free tier blocks us fast, so I rotate across nine API keys, three per ticker by the hour, with retries on a four two nine that roll to the next key. That keeps us under the limit at hourly cadence on a five minute data grid, across three tickers, for free. On the right is a real CloudWatch run, finishing well under timeout, with a log line per ticker confirming the send. Dalibor takes it from here.</a:t>
            </a:r>
            <a:endParaRPr/>
          </a:p>
        </p:txBody>
      </p:sp>
      <p:sp>
        <p:nvSpPr>
          <p:cNvPr id="87" name="Google Shape;87;p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5: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12" name="Google Shape;112;p5: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My Glue Python Shell job drains the price messages off the SQS queue and reads the sentiment scores Ralph writes to S three. I went with Python Shell over Spark because our volume is small and Spark cold starts would dominate. The job does six things in order. Parse the JSON payloads. Drop duplicates on timestamp and ticker. Align everything to a common five minute grid, because the price and news feeds don't agree on minute boundaries. Join price and sentiment so each row carries both. Cast types. And write Parquet, partitioned by date and ticker. That partitioning is exactly why the dashboard's Athena queries are cheap and fast. On the left is the run history with green successes, on the right one run in detail. A CloudWatch alarm catches any failure, but in practice it's been stable. Back to Ralph for sentiment.</a:t>
            </a:r>
            <a:endParaRPr/>
          </a:p>
        </p:txBody>
      </p:sp>
      <p:sp>
        <p:nvSpPr>
          <p:cNvPr id="113" name="Google Shape;113;p5: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p6: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51" name="Google Shape;151;p6: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Whenever ingestion puts a news message on the SQS news queue, an event source mapping triggers a small sentiment Lambda. It hands each headline to Amazon Comprehend, which returns four probabilities, positive, negative, neutral and mixed. I take positive minus negative to get a signed score between minus one and plus one, and write it back as a related time series next to the price. So the hourly model sees not just where the price is, but what the news mood looks like. On the right is the live scored log with labels coming through, on the left the trigger wiring. Sentiment feeds the hourly model only, the daily one is prices only.</a:t>
            </a:r>
            <a:endParaRPr/>
          </a:p>
        </p:txBody>
      </p:sp>
      <p:sp>
        <p:nvSpPr>
          <p:cNvPr id="152" name="Google Shape;152;p6: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6" name="Shape 176"/>
        <p:cNvGrpSpPr/>
        <p:nvPr/>
      </p:nvGrpSpPr>
      <p:grpSpPr>
        <a:xfrm>
          <a:off x="0" y="0"/>
          <a:ext cx="0" cy="0"/>
          <a:chOff x="0" y="0"/>
          <a:chExt cx="0" cy="0"/>
        </a:xfrm>
      </p:grpSpPr>
      <p:sp>
        <p:nvSpPr>
          <p:cNvPr id="177" name="Google Shape;177;p7: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178" name="Google Shape;178;p7: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Forecasting runs on SageMaker DeepAR, on serverless endpoints. DeepAR is a deep auto regressive recurrent network that learns one model jointly across all tickers, instead of one per ticker, and that sharing is why it works well with only three series. It outputs a full distribution at each step, not a single number, so we get a P ten, P fifty and P ninety, and the hourly endpoint also takes sentiment as a related series. We chose serverless because invocations are bursty, hourly and daily, so the endpoint scales to zero between calls and costs almost nothing idle. The trade off is a cold start on the first call, which you can see in the log on the left, after that the warm path responds in well under a second. The console on the right shows the endpoint in service. Two horizons next.</a:t>
            </a:r>
            <a:endParaRPr/>
          </a:p>
        </p:txBody>
      </p:sp>
      <p:sp>
        <p:nvSpPr>
          <p:cNvPr id="179" name="Google Shape;179;p7: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8: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13" name="Google Shape;213;p8: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We run two parallel pipelines on the same components, configured differently. The hourly track runs every hour, predicts one hour ahead, uses prices plus sentiment, that's the one you watch intraday. The daily track runs once a day, predicts seven days ahead, prices only, that's the trend view. Same Lambda code, same Glue, same DeepAR algorithm, just two endpoints and two Step Functions. Splitting them lets each have its own cadence and its own cost profile. Over to Arthur.</a:t>
            </a:r>
            <a:endParaRPr/>
          </a:p>
        </p:txBody>
      </p:sp>
      <p:sp>
        <p:nvSpPr>
          <p:cNvPr id="214" name="Google Shape;214;p8: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9" name="Shape 289"/>
        <p:cNvGrpSpPr/>
        <p:nvPr/>
      </p:nvGrpSpPr>
      <p:grpSpPr>
        <a:xfrm>
          <a:off x="0" y="0"/>
          <a:ext cx="0" cy="0"/>
          <a:chOff x="0" y="0"/>
          <a:chExt cx="0" cy="0"/>
        </a:xfrm>
      </p:grpSpPr>
      <p:sp>
        <p:nvSpPr>
          <p:cNvPr id="290" name="Google Shape;290;p9: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91" name="Google Shape;291;p9: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Once a forecast exists it has to be stored cheaply and watched continuously. We use DynamoDB on demand, so we only pay per write. Each row carries the ticker, the horizon, P ten, P fifty, P ninety, and the timestamp. The key piece is DynamoDB Streams. Every new forecast emits a stream record that triggers my anomaly Lambda. It compares the predicted P fifty against the recent realized band, and if the forecast falls outside the corridor it publishes to SNS, which mails the team. On the left is the real stream trigger in the Lambda console, on the right an actual alert email from one of our runs.</a:t>
            </a:r>
            <a:endParaRPr/>
          </a:p>
        </p:txBody>
      </p:sp>
      <p:sp>
        <p:nvSpPr>
          <p:cNvPr id="292" name="Google Shape;292;p9: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3e45e5cf2c2_0_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12" name="Google Shape;312;g3e45e5cf2c2_0_4:notes"/>
          <p:cNvSpPr txBox="1"/>
          <p:nvPr>
            <p:ph idx="1" type="body"/>
          </p:nvPr>
        </p:nvSpPr>
        <p:spPr>
          <a:xfrm>
            <a:off x="685800" y="4400550"/>
            <a:ext cx="5486400" cy="36006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Once a forecast exists it has to be stored cheaply and watched continuously. We use DynamoDB on demand, so we only pay per write. Each row carries the ticker, the horizon, P ten, P fifty, P ninety, and the timestamp. The key piece is DynamoDB Streams. Every new forecast emits a stream record that triggers my anomaly Lambda. It compares the predicted P fifty against the recent realized band, and if the forecast falls outside the corridor it publishes to SNS, which mails the team. On the left is the real stream trigger in the Lambda console, on the right an actual alert email from one of our runs.</a:t>
            </a:r>
            <a:endParaRPr/>
          </a:p>
        </p:txBody>
      </p:sp>
      <p:sp>
        <p:nvSpPr>
          <p:cNvPr id="313" name="Google Shape;313;g3e45e5cf2c2_0_4:notes"/>
          <p:cNvSpPr txBox="1"/>
          <p:nvPr>
            <p:ph idx="12" type="sldNum"/>
          </p:nvPr>
        </p:nvSpPr>
        <p:spPr>
          <a:xfrm>
            <a:off x="3884613" y="8685213"/>
            <a:ext cx="2971800" cy="4587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p10: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26" name="Google Shape;326;p10: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Orchestration. Each pipeline, hourly and daily, is wrapped in a Step Functions state machine, with retries, error catches, and a clear view of where a run failed. We picked Step Functions over chaining Lambdas because that visibility is worth it. On the right is one of our resource policies, sharing the DynamoDB table and its stream into another account. We split the system across four AWS accounts, and to make them talk we layer three things. S three bucket policies for the data. A DynamoDB resource policy on the table for the writer. And a second policy on the stream itself, because otherwise the cross account consumer can list shards but not read them. That third policy is what cost us the most time, and it's our biggest cross account lesson. Over to Francesco.</a:t>
            </a:r>
            <a:endParaRPr/>
          </a:p>
        </p:txBody>
      </p:sp>
      <p:sp>
        <p:nvSpPr>
          <p:cNvPr id="327" name="Google Shape;327;p10: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0" name="Shape 340"/>
        <p:cNvGrpSpPr/>
        <p:nvPr/>
      </p:nvGrpSpPr>
      <p:grpSpPr>
        <a:xfrm>
          <a:off x="0" y="0"/>
          <a:ext cx="0" cy="0"/>
          <a:chOff x="0" y="0"/>
          <a:chExt cx="0" cy="0"/>
        </a:xfrm>
      </p:grpSpPr>
      <p:sp>
        <p:nvSpPr>
          <p:cNvPr id="341" name="Google Shape;341;p11: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42" name="Google Shape;342;p11: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dashboard is where this becomes usable. Curated Parquet sits in S three, Athena queries it with standard SQL, and QuickSight reads Athena in Direct Query mode, so it's always showing current data, no overnight refresh. There are two sheets. The hourly sheet puts the P fifty forecast on top of actual prices, with the P ten to P ninety band shaded, anomaly markers, and a live MAPE tile. The daily sheet is the same idea, seven days out. On the right is the hourly forecast for Tesla, on the left the rolling MAPE that updates as new ground truth lands. Let me show it live.</a:t>
            </a:r>
            <a:endParaRPr/>
          </a:p>
        </p:txBody>
      </p:sp>
      <p:sp>
        <p:nvSpPr>
          <p:cNvPr id="343" name="Google Shape;343;p11: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1" name="Shape 361"/>
        <p:cNvGrpSpPr/>
        <p:nvPr/>
      </p:nvGrpSpPr>
      <p:grpSpPr>
        <a:xfrm>
          <a:off x="0" y="0"/>
          <a:ext cx="0" cy="0"/>
          <a:chOff x="0" y="0"/>
          <a:chExt cx="0" cy="0"/>
        </a:xfrm>
      </p:grpSpPr>
      <p:sp>
        <p:nvSpPr>
          <p:cNvPr id="362" name="Google Shape;362;p12: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63" name="Google Shape;363;p12: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I'll open the dashboard now. I'll start on the hourly sheet, the P fifty line against actuals with the shaded band, switch ticker between Tesla, Microsoft and Nvidia, and point out an anomaly marker. Then the daily sheet, where you can see the fan widen as we look further out. If the live view is slow, these three captures from this morning are my fallback, daily Tesla, the latest hourly anomalies, and a daily spread comparison. Back to Ralph for the numbers.</a:t>
            </a:r>
            <a:endParaRPr/>
          </a:p>
        </p:txBody>
      </p:sp>
      <p:sp>
        <p:nvSpPr>
          <p:cNvPr id="364" name="Google Shape;364;p12: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6" name="Shape 376"/>
        <p:cNvGrpSpPr/>
        <p:nvPr/>
      </p:nvGrpSpPr>
      <p:grpSpPr>
        <a:xfrm>
          <a:off x="0" y="0"/>
          <a:ext cx="0" cy="0"/>
          <a:chOff x="0" y="0"/>
          <a:chExt cx="0" cy="0"/>
        </a:xfrm>
      </p:grpSpPr>
      <p:sp>
        <p:nvSpPr>
          <p:cNvPr id="377" name="Google Shape;377;p13: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78" name="Google Shape;378;p13: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The results. On the left, the hourly model at one hour ahead is very accurate, MAPE of zero point one nine percent on Tesla, zero point one three on Microsoft, zero point three five on Nvidia. At one hour, with sentiment in the mix, it's essentially tracking the market. On the right is the daily backtest by horizon. Error grows from three percent at day one to about eight percent at day seven, and the P ten to P ninety coverage shrinks from sixty six percent to thirty two percent as we look further out. That widening uncertainty is exactly what we'd expect, and it's why we publish a band, not a single point.</a:t>
            </a:r>
            <a:endParaRPr/>
          </a:p>
        </p:txBody>
      </p:sp>
      <p:sp>
        <p:nvSpPr>
          <p:cNvPr id="379" name="Google Shape;379;p13: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1" name="Shape 391"/>
        <p:cNvGrpSpPr/>
        <p:nvPr/>
      </p:nvGrpSpPr>
      <p:grpSpPr>
        <a:xfrm>
          <a:off x="0" y="0"/>
          <a:ext cx="0" cy="0"/>
          <a:chOff x="0" y="0"/>
          <a:chExt cx="0" cy="0"/>
        </a:xfrm>
      </p:grpSpPr>
      <p:sp>
        <p:nvSpPr>
          <p:cNvPr id="392" name="Google Shape;392;p14:notes"/>
          <p:cNvSpPr/>
          <p:nvPr>
            <p:ph idx="2" type="sldImg"/>
          </p:nvPr>
        </p:nvSpPr>
        <p:spPr>
          <a:xfrm>
            <a:off x="685800" y="1143000"/>
            <a:ext cx="5486400" cy="30861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393" name="Google Shape;393;p14:notes"/>
          <p:cNvSpPr txBox="1"/>
          <p:nvPr>
            <p:ph idx="1" type="body"/>
          </p:nvPr>
        </p:nvSpPr>
        <p:spPr>
          <a:xfrm>
            <a:off x="685800" y="4400550"/>
            <a:ext cx="5486400" cy="360045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n-US"/>
              <a:t>To close, engineering and lessons. The repo runs GitHub Actions on every push, static checks plus fifty pytest tests, a Docker health probe, and a Makefile that wraps every operator action. We meet ten of the twelve factors cleanly, one is not applicable to a serverless design, one is partial. Three lessons. Markets close on weekends, which breaks naive time series assumptions, so we handle the gaps. Cross account IAM was the hardest part, the DynamoDB stream policy especially. And validating probabilistic forecasts only really works on real data, which is why the P ninety story matured late. We also dropped AWS Forecast early, it didn't give us the control DeepAR did. On cost, the whole thing ran for thirty five cents of our hundred dollar credit, and zero per month at idle. That's the system, thank you, we're happy to take questions.</a:t>
            </a:r>
            <a:endParaRPr/>
          </a:p>
        </p:txBody>
      </p:sp>
      <p:sp>
        <p:nvSpPr>
          <p:cNvPr id="394" name="Google Shape;394;p14:notes"/>
          <p:cNvSpPr txBox="1"/>
          <p:nvPr>
            <p:ph idx="12" type="sldNum"/>
          </p:nvPr>
        </p:nvSpPr>
        <p:spPr>
          <a:xfrm>
            <a:off x="3884613" y="8685213"/>
            <a:ext cx="2971800" cy="458787"/>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EFAULT">
  <p:cSld name="DEFAULT">
    <p:bg>
      <p:bgPr>
        <a:solidFill>
          <a:schemeClr val="lt1"/>
        </a:solidFill>
      </p:bgPr>
    </p:bg>
    <p:spTree>
      <p:nvGrpSpPr>
        <p:cNvPr id="10" name="Shape 10"/>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 name="Shape 9"/>
        <p:cNvGrpSpPr/>
        <p:nvPr/>
      </p:nvGrpSpPr>
      <p:grpSpPr>
        <a:xfrm>
          <a:off x="0" y="0"/>
          <a:ext cx="0" cy="0"/>
          <a:chOff x="0" y="0"/>
          <a:chExt cx="0" cy="0"/>
        </a:xfrm>
      </p:grpSpPr>
    </p:spTree>
  </p:cSld>
  <p:clrMap accent1="accent1" accent2="accent2" accent3="accent3" accent4="accent4" accent5="accent5" accent6="accent6" bg1="lt1" bg2="dk2" tx1="dk1" tx2="lt2" folHlink="folHlink" hlink="hlink"/>
  <p:sldLayoutIdLst>
    <p:sldLayoutId id="2147483649" r:id="rId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image" Target="../media/image2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image" Target="../media/image7.png"/><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9.png"/><Relationship Id="rId4" Type="http://schemas.openxmlformats.org/officeDocument/2006/relationships/image" Target="../media/image10.png"/><Relationship Id="rId5" Type="http://schemas.openxmlformats.org/officeDocument/2006/relationships/image" Target="../media/image2.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image" Target="../media/image17.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image" Target="../media/image3.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5.png"/><Relationship Id="rId4"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 Id="rId3" Type="http://schemas.openxmlformats.org/officeDocument/2006/relationships/image" Target="../media/image20.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 Id="rId3" Type="http://schemas.openxmlformats.org/officeDocument/2006/relationships/image" Target="../media/image18.png"/><Relationship Id="rId4" Type="http://schemas.openxmlformats.org/officeDocument/2006/relationships/image" Target="../media/image1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19.png"/><Relationship Id="rId4" Type="http://schemas.openxmlformats.org/officeDocument/2006/relationships/image" Target="../media/image1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 Id="rId3" Type="http://schemas.openxmlformats.org/officeDocument/2006/relationships/image" Target="../media/image16.png"/><Relationship Id="rId4" Type="http://schemas.openxmlformats.org/officeDocument/2006/relationships/image" Target="../media/image14.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2"/>
        </a:solidFill>
      </p:bgPr>
    </p:bg>
    <p:spTree>
      <p:nvGrpSpPr>
        <p:cNvPr id="15" name="Shape 15"/>
        <p:cNvGrpSpPr/>
        <p:nvPr/>
      </p:nvGrpSpPr>
      <p:grpSpPr>
        <a:xfrm>
          <a:off x="0" y="0"/>
          <a:ext cx="0" cy="0"/>
          <a:chOff x="0" y="0"/>
          <a:chExt cx="0" cy="0"/>
        </a:xfrm>
      </p:grpSpPr>
      <p:sp>
        <p:nvSpPr>
          <p:cNvPr id="16" name="Google Shape;16;p1"/>
          <p:cNvSpPr/>
          <p:nvPr/>
        </p:nvSpPr>
        <p:spPr>
          <a:xfrm>
            <a:off x="914400" y="647700"/>
            <a:ext cx="609600" cy="47625"/>
          </a:xfrm>
          <a:prstGeom prst="rect">
            <a:avLst/>
          </a:prstGeom>
          <a:solidFill>
            <a:srgbClr val="F5A6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1"/>
          <p:cNvSpPr/>
          <p:nvPr/>
        </p:nvSpPr>
        <p:spPr>
          <a:xfrm>
            <a:off x="914400" y="828675"/>
            <a:ext cx="3384709" cy="2190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1050"/>
              <a:buFont typeface="Courier New"/>
              <a:buNone/>
            </a:pPr>
            <a:r>
              <a:rPr b="0" i="0" lang="en-US" sz="1050" u="none" cap="none" strike="noStrike">
                <a:solidFill>
                  <a:srgbClr val="8A94A6"/>
                </a:solidFill>
                <a:latin typeface="Courier New"/>
                <a:ea typeface="Courier New"/>
                <a:cs typeface="Courier New"/>
                <a:sym typeface="Courier New"/>
              </a:rPr>
              <a:t>CCBDA · MIRI · UPC BARCELONA</a:t>
            </a:r>
            <a:endParaRPr b="0" i="0" sz="1050" u="none" cap="none" strike="noStrike">
              <a:solidFill>
                <a:schemeClr val="dk1"/>
              </a:solidFill>
              <a:latin typeface="Calibri"/>
              <a:ea typeface="Calibri"/>
              <a:cs typeface="Calibri"/>
              <a:sym typeface="Calibri"/>
            </a:endParaRPr>
          </a:p>
        </p:txBody>
      </p:sp>
      <p:sp>
        <p:nvSpPr>
          <p:cNvPr id="18" name="Google Shape;18;p1"/>
          <p:cNvSpPr/>
          <p:nvPr/>
        </p:nvSpPr>
        <p:spPr>
          <a:xfrm>
            <a:off x="15735300" y="609600"/>
            <a:ext cx="1638300" cy="1638300"/>
          </a:xfrm>
          <a:prstGeom prst="rect">
            <a:avLst/>
          </a:prstGeom>
          <a:solidFill>
            <a:srgbClr val="FFFFFF"/>
          </a:solidFill>
          <a:ln cap="flat" cmpd="sng" w="9525">
            <a:solidFill>
              <a:srgbClr val="1F2A37"/>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 name="Google Shape;19;p1"/>
          <p:cNvSpPr/>
          <p:nvPr/>
        </p:nvSpPr>
        <p:spPr>
          <a:xfrm>
            <a:off x="15963900" y="838200"/>
            <a:ext cx="1181100" cy="1181100"/>
          </a:xfrm>
          <a:prstGeom prst="rect">
            <a:avLst/>
          </a:prstGeom>
          <a:noFill/>
          <a:ln cap="flat" cmpd="sng" w="19050">
            <a:solidFill>
              <a:srgbClr val="F5A623"/>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 name="Google Shape;20;p1"/>
          <p:cNvSpPr/>
          <p:nvPr/>
        </p:nvSpPr>
        <p:spPr>
          <a:xfrm>
            <a:off x="16054387" y="1195388"/>
            <a:ext cx="999976" cy="285750"/>
          </a:xfrm>
          <a:prstGeom prst="rect">
            <a:avLst/>
          </a:prstGeom>
          <a:noFill/>
          <a:ln>
            <a:noFill/>
          </a:ln>
        </p:spPr>
        <p:txBody>
          <a:bodyPr anchorCtr="0" anchor="t" bIns="25400" lIns="25400" spcFirstLastPara="1" rIns="25400" wrap="square" tIns="25400">
            <a:normAutofit/>
          </a:bodyPr>
          <a:lstStyle/>
          <a:p>
            <a:pPr indent="0" lvl="0" marL="0" marR="0" rtl="0" algn="ctr">
              <a:lnSpc>
                <a:spcPct val="100000"/>
              </a:lnSpc>
              <a:spcBef>
                <a:spcPts val="0"/>
              </a:spcBef>
              <a:spcAft>
                <a:spcPts val="0"/>
              </a:spcAft>
              <a:buClr>
                <a:srgbClr val="1F2A37"/>
              </a:buClr>
              <a:buSzPts val="1950"/>
              <a:buFont typeface="Helvetica Neue"/>
              <a:buNone/>
            </a:pPr>
            <a:r>
              <a:rPr b="1" i="0" lang="en-US" sz="1950" u="none" cap="none" strike="noStrike">
                <a:solidFill>
                  <a:srgbClr val="1F2A37"/>
                </a:solidFill>
                <a:latin typeface="Helvetica Neue"/>
                <a:ea typeface="Helvetica Neue"/>
                <a:cs typeface="Helvetica Neue"/>
                <a:sym typeface="Helvetica Neue"/>
              </a:rPr>
              <a:t>NRT‑FF</a:t>
            </a:r>
            <a:endParaRPr b="0" i="0" sz="1950" u="none" cap="none" strike="noStrike">
              <a:solidFill>
                <a:schemeClr val="dk1"/>
              </a:solidFill>
              <a:latin typeface="Calibri"/>
              <a:ea typeface="Calibri"/>
              <a:cs typeface="Calibri"/>
              <a:sym typeface="Calibri"/>
            </a:endParaRPr>
          </a:p>
        </p:txBody>
      </p:sp>
      <p:sp>
        <p:nvSpPr>
          <p:cNvPr id="21" name="Google Shape;21;p1"/>
          <p:cNvSpPr/>
          <p:nvPr/>
        </p:nvSpPr>
        <p:spPr>
          <a:xfrm>
            <a:off x="16038463" y="1519238"/>
            <a:ext cx="1031974" cy="180975"/>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8A94A6"/>
              </a:buClr>
              <a:buSzPts val="825"/>
              <a:buFont typeface="Courier New"/>
              <a:buNone/>
            </a:pPr>
            <a:r>
              <a:rPr b="0" i="0" lang="en-US" sz="825" u="none" cap="none" strike="noStrike">
                <a:solidFill>
                  <a:srgbClr val="8A94A6"/>
                </a:solidFill>
                <a:latin typeface="Courier New"/>
                <a:ea typeface="Courier New"/>
                <a:cs typeface="Courier New"/>
                <a:sym typeface="Courier New"/>
              </a:rPr>
              <a:t>2026 · 11_02</a:t>
            </a:r>
            <a:endParaRPr b="0" i="0" sz="825" u="none" cap="none" strike="noStrike">
              <a:solidFill>
                <a:schemeClr val="dk1"/>
              </a:solidFill>
              <a:latin typeface="Calibri"/>
              <a:ea typeface="Calibri"/>
              <a:cs typeface="Calibri"/>
              <a:sym typeface="Calibri"/>
            </a:endParaRPr>
          </a:p>
        </p:txBody>
      </p:sp>
      <p:sp>
        <p:nvSpPr>
          <p:cNvPr id="22" name="Google Shape;22;p1"/>
          <p:cNvSpPr/>
          <p:nvPr/>
        </p:nvSpPr>
        <p:spPr>
          <a:xfrm>
            <a:off x="914400" y="2857500"/>
            <a:ext cx="16952976" cy="3342084"/>
          </a:xfrm>
          <a:prstGeom prst="rect">
            <a:avLst/>
          </a:prstGeom>
          <a:noFill/>
          <a:ln>
            <a:noFill/>
          </a:ln>
        </p:spPr>
        <p:txBody>
          <a:bodyPr anchorCtr="0" anchor="t" bIns="25400" lIns="25400" spcFirstLastPara="1" rIns="25400" wrap="square" tIns="25400">
            <a:normAutofit/>
          </a:bodyPr>
          <a:lstStyle/>
          <a:p>
            <a:pPr indent="0" lvl="0" marL="0" marR="0" rtl="0" algn="l">
              <a:lnSpc>
                <a:spcPct val="98000"/>
              </a:lnSpc>
              <a:spcBef>
                <a:spcPts val="0"/>
              </a:spcBef>
              <a:spcAft>
                <a:spcPts val="0"/>
              </a:spcAft>
              <a:buClr>
                <a:srgbClr val="1F2A37"/>
              </a:buClr>
              <a:buSzPts val="8850"/>
              <a:buFont typeface="Helvetica Neue"/>
              <a:buNone/>
            </a:pPr>
            <a:r>
              <a:rPr b="1" i="0" lang="en-US" sz="8850" u="none" cap="none" strike="noStrike">
                <a:solidFill>
                  <a:srgbClr val="1F2A37"/>
                </a:solidFill>
                <a:latin typeface="Helvetica Neue"/>
                <a:ea typeface="Helvetica Neue"/>
                <a:cs typeface="Helvetica Neue"/>
                <a:sym typeface="Helvetica Neue"/>
              </a:rPr>
              <a:t>Near‑Real‑Time Financial Forecasting on </a:t>
            </a:r>
            <a:r>
              <a:rPr b="1" i="0" lang="en-US" sz="8850" u="none" cap="none" strike="noStrike">
                <a:solidFill>
                  <a:srgbClr val="F5A623"/>
                </a:solidFill>
                <a:latin typeface="Helvetica Neue"/>
                <a:ea typeface="Helvetica Neue"/>
                <a:cs typeface="Helvetica Neue"/>
                <a:sym typeface="Helvetica Neue"/>
              </a:rPr>
              <a:t>AWS</a:t>
            </a:r>
            <a:r>
              <a:rPr b="1" i="0" lang="en-US" sz="8850" u="none" cap="none" strike="noStrike">
                <a:solidFill>
                  <a:srgbClr val="1F2A37"/>
                </a:solidFill>
                <a:latin typeface="Helvetica Neue"/>
                <a:ea typeface="Helvetica Neue"/>
                <a:cs typeface="Helvetica Neue"/>
                <a:sym typeface="Helvetica Neue"/>
              </a:rPr>
              <a:t>.</a:t>
            </a:r>
            <a:endParaRPr b="0" i="0" sz="8850" u="none" cap="none" strike="noStrike">
              <a:solidFill>
                <a:schemeClr val="dk1"/>
              </a:solidFill>
              <a:latin typeface="Calibri"/>
              <a:ea typeface="Calibri"/>
              <a:cs typeface="Calibri"/>
              <a:sym typeface="Calibri"/>
            </a:endParaRPr>
          </a:p>
        </p:txBody>
      </p:sp>
      <p:sp>
        <p:nvSpPr>
          <p:cNvPr id="23" name="Google Shape;23;p1"/>
          <p:cNvSpPr/>
          <p:nvPr/>
        </p:nvSpPr>
        <p:spPr>
          <a:xfrm>
            <a:off x="914400" y="6561534"/>
            <a:ext cx="16952976" cy="3619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A4A5A"/>
              </a:buClr>
              <a:buSzPts val="2250"/>
              <a:buFont typeface="Helvetica Neue"/>
              <a:buNone/>
            </a:pPr>
            <a:r>
              <a:rPr b="0" i="0" lang="en-US" sz="2250" u="none" cap="none" strike="noStrike">
                <a:solidFill>
                  <a:srgbClr val="3A4A5A"/>
                </a:solidFill>
                <a:latin typeface="Helvetica Neue"/>
                <a:ea typeface="Helvetica Neue"/>
                <a:cs typeface="Helvetica Neue"/>
                <a:sym typeface="Helvetica Neue"/>
              </a:rPr>
              <a:t>Tesla · Microsoft · Nvidia </a:t>
            </a:r>
            <a:r>
              <a:rPr b="0" i="0" lang="en-US" sz="1500" u="none" cap="none" strike="noStrike">
                <a:solidFill>
                  <a:srgbClr val="8A94A6"/>
                </a:solidFill>
                <a:latin typeface="Courier New"/>
                <a:ea typeface="Courier New"/>
                <a:cs typeface="Courier New"/>
                <a:sym typeface="Courier New"/>
              </a:rPr>
              <a:t>Two horizons · fully serverless · eu‑west‑1</a:t>
            </a:r>
            <a:endParaRPr b="0" i="0" sz="2250" u="none" cap="none" strike="noStrike">
              <a:solidFill>
                <a:schemeClr val="dk1"/>
              </a:solidFill>
              <a:latin typeface="Calibri"/>
              <a:ea typeface="Calibri"/>
              <a:cs typeface="Calibri"/>
              <a:sym typeface="Calibri"/>
            </a:endParaRPr>
          </a:p>
        </p:txBody>
      </p:sp>
      <p:sp>
        <p:nvSpPr>
          <p:cNvPr id="24" name="Google Shape;24;p1"/>
          <p:cNvSpPr/>
          <p:nvPr/>
        </p:nvSpPr>
        <p:spPr>
          <a:xfrm>
            <a:off x="914400" y="8153400"/>
            <a:ext cx="16459200" cy="9525"/>
          </a:xfrm>
          <a:prstGeom prst="rect">
            <a:avLst/>
          </a:prstGeom>
          <a:solidFill>
            <a:srgbClr val="E2E5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 name="Google Shape;25;p1"/>
          <p:cNvSpPr/>
          <p:nvPr/>
        </p:nvSpPr>
        <p:spPr>
          <a:xfrm>
            <a:off x="914400" y="8372475"/>
            <a:ext cx="8828602" cy="2095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975"/>
              <a:buFont typeface="Courier New"/>
              <a:buNone/>
            </a:pPr>
            <a:r>
              <a:rPr b="0" i="0" lang="en-US" sz="975" u="none" cap="none" strike="noStrike">
                <a:solidFill>
                  <a:srgbClr val="8A94A6"/>
                </a:solidFill>
                <a:latin typeface="Courier New"/>
                <a:ea typeface="Courier New"/>
                <a:cs typeface="Courier New"/>
                <a:sym typeface="Courier New"/>
              </a:rPr>
              <a:t>TEAM 11_02</a:t>
            </a:r>
            <a:endParaRPr b="0" i="0" sz="975" u="none" cap="none" strike="noStrike">
              <a:solidFill>
                <a:schemeClr val="dk1"/>
              </a:solidFill>
              <a:latin typeface="Calibri"/>
              <a:ea typeface="Calibri"/>
              <a:cs typeface="Calibri"/>
              <a:sym typeface="Calibri"/>
            </a:endParaRPr>
          </a:p>
        </p:txBody>
      </p:sp>
      <p:sp>
        <p:nvSpPr>
          <p:cNvPr id="26" name="Google Shape;26;p1"/>
          <p:cNvSpPr/>
          <p:nvPr/>
        </p:nvSpPr>
        <p:spPr>
          <a:xfrm>
            <a:off x="914400" y="8639175"/>
            <a:ext cx="8828602" cy="352425"/>
          </a:xfrm>
          <a:prstGeom prst="rect">
            <a:avLst/>
          </a:prstGeom>
          <a:noFill/>
          <a:ln>
            <a:noFill/>
          </a:ln>
        </p:spPr>
        <p:txBody>
          <a:bodyPr anchorCtr="0" anchor="t" bIns="25400" lIns="25400" spcFirstLastPara="1" rIns="25400" wrap="square" tIns="25400">
            <a:normAutofit/>
          </a:bodyPr>
          <a:lstStyle/>
          <a:p>
            <a:pPr indent="0" lvl="0" marL="0" marR="0" rtl="0" algn="l">
              <a:lnSpc>
                <a:spcPct val="150000"/>
              </a:lnSpc>
              <a:spcBef>
                <a:spcPts val="0"/>
              </a:spcBef>
              <a:spcAft>
                <a:spcPts val="0"/>
              </a:spcAft>
              <a:buClr>
                <a:srgbClr val="1F2A37"/>
              </a:buClr>
              <a:buSzPts val="1650"/>
              <a:buFont typeface="Helvetica Neue"/>
              <a:buNone/>
            </a:pPr>
            <a:r>
              <a:rPr b="0" i="0" lang="en-US" sz="1650" u="none" cap="none" strike="noStrike">
                <a:solidFill>
                  <a:srgbClr val="1F2A37"/>
                </a:solidFill>
                <a:latin typeface="Helvetica Neue"/>
                <a:ea typeface="Helvetica Neue"/>
                <a:cs typeface="Helvetica Neue"/>
                <a:sym typeface="Helvetica Neue"/>
              </a:rPr>
              <a:t>Ralph Khairallah · Ilias El Mariky · Dalibor Svonavec · Francesco Barillari · Arthur Bohin</a:t>
            </a:r>
            <a:endParaRPr b="0" i="0" sz="1650" u="none" cap="none" strike="noStrike">
              <a:solidFill>
                <a:schemeClr val="dk1"/>
              </a:solidFill>
              <a:latin typeface="Calibri"/>
              <a:ea typeface="Calibri"/>
              <a:cs typeface="Calibri"/>
              <a:sym typeface="Calibri"/>
            </a:endParaRPr>
          </a:p>
        </p:txBody>
      </p:sp>
      <p:sp>
        <p:nvSpPr>
          <p:cNvPr id="27" name="Google Shape;27;p1"/>
          <p:cNvSpPr/>
          <p:nvPr/>
        </p:nvSpPr>
        <p:spPr>
          <a:xfrm>
            <a:off x="14164258" y="8782050"/>
            <a:ext cx="3209342" cy="209550"/>
          </a:xfrm>
          <a:prstGeom prst="rect">
            <a:avLst/>
          </a:prstGeom>
          <a:noFill/>
          <a:ln>
            <a:noFill/>
          </a:ln>
        </p:spPr>
        <p:txBody>
          <a:bodyPr anchorCtr="0" anchor="t" bIns="25400" lIns="25400" spcFirstLastPara="1" rIns="25400" wrap="square" tIns="25400">
            <a:normAutofit/>
          </a:bodyPr>
          <a:lstStyle/>
          <a:p>
            <a:pPr indent="0" lvl="0" marL="0" marR="0" rtl="0" algn="r">
              <a:spcBef>
                <a:spcPts val="0"/>
              </a:spcBef>
              <a:spcAft>
                <a:spcPts val="0"/>
              </a:spcAft>
              <a:buClr>
                <a:srgbClr val="8A94A6"/>
              </a:buClr>
              <a:buSzPts val="975"/>
              <a:buFont typeface="Courier New"/>
              <a:buNone/>
            </a:pPr>
            <a:r>
              <a:rPr b="0" i="0" lang="en-US" sz="975" u="none" cap="none" strike="noStrike">
                <a:solidFill>
                  <a:srgbClr val="8A94A6"/>
                </a:solidFill>
                <a:latin typeface="Courier New"/>
                <a:ea typeface="Courier New"/>
                <a:cs typeface="Courier New"/>
                <a:sym typeface="Courier New"/>
              </a:rPr>
              <a:t>FINAL PROJECT · 14 SLIDES · 12 MIN</a:t>
            </a:r>
            <a:endParaRPr b="0" i="0" sz="975" u="none" cap="none" strike="noStrike">
              <a:solidFill>
                <a:schemeClr val="dk1"/>
              </a:solidFill>
              <a:latin typeface="Calibri"/>
              <a:ea typeface="Calibri"/>
              <a:cs typeface="Calibri"/>
              <a:sym typeface="Calibri"/>
            </a:endParaRPr>
          </a:p>
        </p:txBody>
      </p:sp>
      <p:sp>
        <p:nvSpPr>
          <p:cNvPr id="28" name="Google Shape;28;p1"/>
          <p:cNvSpPr/>
          <p:nvPr/>
        </p:nvSpPr>
        <p:spPr>
          <a:xfrm>
            <a:off x="914400" y="9496425"/>
            <a:ext cx="16459200" cy="9525"/>
          </a:xfrm>
          <a:prstGeom prst="rect">
            <a:avLst/>
          </a:prstGeom>
          <a:solidFill>
            <a:srgbClr val="E2E5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 name="Google Shape;29;p1"/>
          <p:cNvSpPr/>
          <p:nvPr/>
        </p:nvSpPr>
        <p:spPr>
          <a:xfrm>
            <a:off x="914400" y="9658350"/>
            <a:ext cx="6985101" cy="2095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975"/>
              <a:buFont typeface="Courier New"/>
              <a:buNone/>
            </a:pPr>
            <a:r>
              <a:rPr b="0" i="0" lang="en-US" sz="975" u="none" cap="none" strike="noStrike">
                <a:solidFill>
                  <a:srgbClr val="8A94A6"/>
                </a:solidFill>
                <a:latin typeface="Courier New"/>
                <a:ea typeface="Courier New"/>
                <a:cs typeface="Courier New"/>
                <a:sym typeface="Courier New"/>
              </a:rPr>
              <a:t>TEAM 11_02 · NEAR-REAL-TIME FINANCIAL FORECASTING ON AWS · CCBDA-MIRI 2026</a:t>
            </a:r>
            <a:endParaRPr b="0" i="0" sz="975" u="none" cap="none" strike="noStrike">
              <a:solidFill>
                <a:schemeClr val="dk1"/>
              </a:solidFill>
              <a:latin typeface="Calibri"/>
              <a:ea typeface="Calibri"/>
              <a:cs typeface="Calibri"/>
              <a:sym typeface="Calibri"/>
            </a:endParaRPr>
          </a:p>
        </p:txBody>
      </p:sp>
      <p:sp>
        <p:nvSpPr>
          <p:cNvPr id="30" name="Google Shape;30;p1"/>
          <p:cNvSpPr/>
          <p:nvPr/>
        </p:nvSpPr>
        <p:spPr>
          <a:xfrm>
            <a:off x="16732002" y="9658350"/>
            <a:ext cx="717798" cy="2095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975"/>
              <a:buFont typeface="Courier New"/>
              <a:buNone/>
            </a:pPr>
            <a:r>
              <a:rPr b="0" i="0" lang="en-US" sz="975" u="none" cap="none" strike="noStrike">
                <a:solidFill>
                  <a:srgbClr val="8A94A6"/>
                </a:solidFill>
                <a:latin typeface="Courier New"/>
                <a:ea typeface="Courier New"/>
                <a:cs typeface="Courier New"/>
                <a:sym typeface="Courier New"/>
              </a:rPr>
              <a:t>01 / 14</a:t>
            </a:r>
            <a:endParaRPr b="0" i="0" sz="975" u="none" cap="none" strike="noStrike">
              <a:solidFill>
                <a:schemeClr val="dk1"/>
              </a:solidFill>
              <a:latin typeface="Calibri"/>
              <a:ea typeface="Calibri"/>
              <a:cs typeface="Calibri"/>
              <a:sym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2"/>
        </a:solidFill>
      </p:bgPr>
    </p:bg>
    <p:spTree>
      <p:nvGrpSpPr>
        <p:cNvPr id="35" name="Shape 35"/>
        <p:cNvGrpSpPr/>
        <p:nvPr/>
      </p:nvGrpSpPr>
      <p:grpSpPr>
        <a:xfrm>
          <a:off x="0" y="0"/>
          <a:ext cx="0" cy="0"/>
          <a:chOff x="0" y="0"/>
          <a:chExt cx="0" cy="0"/>
        </a:xfrm>
      </p:grpSpPr>
      <p:sp>
        <p:nvSpPr>
          <p:cNvPr id="36" name="Google Shape;36;p2"/>
          <p:cNvSpPr/>
          <p:nvPr/>
        </p:nvSpPr>
        <p:spPr>
          <a:xfrm>
            <a:off x="914400" y="647700"/>
            <a:ext cx="3174851" cy="2571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F2A37"/>
              </a:buClr>
              <a:buSzPts val="1500"/>
              <a:buFont typeface="Helvetica Neue"/>
              <a:buNone/>
            </a:pPr>
            <a:r>
              <a:rPr b="1" i="0" lang="en-US" sz="1500" u="none" cap="none" strike="noStrike">
                <a:solidFill>
                  <a:srgbClr val="1F2A37"/>
                </a:solidFill>
                <a:latin typeface="Helvetica Neue"/>
                <a:ea typeface="Helvetica Neue"/>
                <a:cs typeface="Helvetica Neue"/>
                <a:sym typeface="Helvetica Neue"/>
              </a:rPr>
              <a:t>02 · PROBLEM &amp; SCOPE</a:t>
            </a:r>
            <a:endParaRPr b="0" i="0" sz="1500" u="none" cap="none" strike="noStrike">
              <a:solidFill>
                <a:schemeClr val="dk1"/>
              </a:solidFill>
              <a:latin typeface="Calibri"/>
              <a:ea typeface="Calibri"/>
              <a:cs typeface="Calibri"/>
              <a:sym typeface="Calibri"/>
            </a:endParaRPr>
          </a:p>
        </p:txBody>
      </p:sp>
      <p:sp>
        <p:nvSpPr>
          <p:cNvPr id="37" name="Google Shape;37;p2"/>
          <p:cNvSpPr/>
          <p:nvPr/>
        </p:nvSpPr>
        <p:spPr>
          <a:xfrm>
            <a:off x="15483483" y="647700"/>
            <a:ext cx="1966317" cy="2381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1200"/>
              <a:buFont typeface="Courier New"/>
              <a:buNone/>
            </a:pPr>
            <a:r>
              <a:rPr b="0" i="0" lang="en-US" sz="1200" u="none" cap="none" strike="noStrike">
                <a:solidFill>
                  <a:srgbClr val="8A94A6"/>
                </a:solidFill>
                <a:latin typeface="Courier New"/>
                <a:ea typeface="Courier New"/>
                <a:cs typeface="Courier New"/>
                <a:sym typeface="Courier New"/>
              </a:rPr>
              <a:t>SPEAKER · </a:t>
            </a:r>
            <a:r>
              <a:rPr b="1" lang="en-US" sz="1200">
                <a:solidFill>
                  <a:srgbClr val="1F2A37"/>
                </a:solidFill>
                <a:latin typeface="Courier New"/>
                <a:ea typeface="Courier New"/>
                <a:cs typeface="Courier New"/>
                <a:sym typeface="Courier New"/>
              </a:rPr>
              <a:t>DALIBOR</a:t>
            </a:r>
            <a:endParaRPr b="0" i="0" sz="1200" u="none" cap="none" strike="noStrike">
              <a:solidFill>
                <a:schemeClr val="dk1"/>
              </a:solidFill>
              <a:latin typeface="Calibri"/>
              <a:ea typeface="Calibri"/>
              <a:cs typeface="Calibri"/>
              <a:sym typeface="Calibri"/>
            </a:endParaRPr>
          </a:p>
        </p:txBody>
      </p:sp>
      <p:sp>
        <p:nvSpPr>
          <p:cNvPr id="38" name="Google Shape;38;p2"/>
          <p:cNvSpPr/>
          <p:nvPr/>
        </p:nvSpPr>
        <p:spPr>
          <a:xfrm>
            <a:off x="914400" y="1143000"/>
            <a:ext cx="16953000" cy="1147500"/>
          </a:xfrm>
          <a:prstGeom prst="rect">
            <a:avLst/>
          </a:prstGeom>
          <a:noFill/>
          <a:ln>
            <a:noFill/>
          </a:ln>
        </p:spPr>
        <p:txBody>
          <a:bodyPr anchorCtr="0" anchor="t" bIns="25400" lIns="25400" spcFirstLastPara="1" rIns="25400" wrap="square" tIns="25400">
            <a:normAutofit/>
          </a:bodyPr>
          <a:lstStyle/>
          <a:p>
            <a:pPr indent="0" lvl="0" marL="0" marR="0" rtl="0" algn="l">
              <a:lnSpc>
                <a:spcPct val="104000"/>
              </a:lnSpc>
              <a:spcBef>
                <a:spcPts val="0"/>
              </a:spcBef>
              <a:spcAft>
                <a:spcPts val="0"/>
              </a:spcAft>
              <a:buClr>
                <a:srgbClr val="1F2A37"/>
              </a:buClr>
              <a:buSzPts val="4200"/>
              <a:buFont typeface="Helvetica Neue"/>
              <a:buNone/>
            </a:pPr>
            <a:r>
              <a:rPr b="1" i="0" lang="en-US" sz="4200" u="none" cap="none" strike="noStrike">
                <a:solidFill>
                  <a:srgbClr val="1F2A37"/>
                </a:solidFill>
                <a:latin typeface="Helvetica Neue"/>
                <a:ea typeface="Helvetica Neue"/>
                <a:cs typeface="Helvetica Neue"/>
                <a:sym typeface="Helvetica Neue"/>
              </a:rPr>
              <a:t>Forecast three tickers, two horizons, fully automated.</a:t>
            </a:r>
            <a:endParaRPr b="0" i="0" sz="4200" u="none" cap="none" strike="noStrike">
              <a:solidFill>
                <a:schemeClr val="dk1"/>
              </a:solidFill>
              <a:latin typeface="Calibri"/>
              <a:ea typeface="Calibri"/>
              <a:cs typeface="Calibri"/>
              <a:sym typeface="Calibri"/>
            </a:endParaRPr>
          </a:p>
        </p:txBody>
      </p:sp>
      <p:sp>
        <p:nvSpPr>
          <p:cNvPr id="39" name="Google Shape;39;p2"/>
          <p:cNvSpPr/>
          <p:nvPr/>
        </p:nvSpPr>
        <p:spPr>
          <a:xfrm>
            <a:off x="1257300" y="2857500"/>
            <a:ext cx="8248404" cy="384721"/>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1F2A37"/>
              </a:buClr>
              <a:buSzPts val="1950"/>
              <a:buFont typeface="Helvetica Neue"/>
              <a:buNone/>
            </a:pPr>
            <a:r>
              <a:rPr b="1" i="0" lang="en-US" sz="1950" u="none" cap="none" strike="noStrike">
                <a:solidFill>
                  <a:srgbClr val="1F2A37"/>
                </a:solidFill>
                <a:latin typeface="Helvetica Neue"/>
                <a:ea typeface="Helvetica Neue"/>
                <a:cs typeface="Helvetica Neue"/>
                <a:sym typeface="Helvetica Neue"/>
              </a:rPr>
              <a:t>TSLA, MSFT, NVDA </a:t>
            </a:r>
            <a:r>
              <a:rPr b="0" i="0" lang="en-US" sz="1950" u="none" cap="none" strike="noStrike">
                <a:solidFill>
                  <a:srgbClr val="3A4A5A"/>
                </a:solidFill>
                <a:latin typeface="Helvetica Neue"/>
                <a:ea typeface="Helvetica Neue"/>
                <a:cs typeface="Helvetica Neue"/>
                <a:sym typeface="Helvetica Neue"/>
              </a:rPr>
              <a:t>· equity prices and live news, eu‑west‑1.</a:t>
            </a:r>
            <a:endParaRPr b="0" i="0" sz="1950" u="none" cap="none" strike="noStrike">
              <a:solidFill>
                <a:schemeClr val="dk1"/>
              </a:solidFill>
              <a:latin typeface="Calibri"/>
              <a:ea typeface="Calibri"/>
              <a:cs typeface="Calibri"/>
              <a:sym typeface="Calibri"/>
            </a:endParaRPr>
          </a:p>
        </p:txBody>
      </p:sp>
      <p:sp>
        <p:nvSpPr>
          <p:cNvPr id="40" name="Google Shape;40;p2"/>
          <p:cNvSpPr/>
          <p:nvPr/>
        </p:nvSpPr>
        <p:spPr>
          <a:xfrm>
            <a:off x="1257300" y="3375571"/>
            <a:ext cx="8248404" cy="384721"/>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1F2A37"/>
              </a:buClr>
              <a:buSzPts val="1950"/>
              <a:buFont typeface="Helvetica Neue"/>
              <a:buNone/>
            </a:pPr>
            <a:r>
              <a:rPr b="1" i="0" lang="en-US" sz="1950" u="none" cap="none" strike="noStrike">
                <a:solidFill>
                  <a:srgbClr val="1F2A37"/>
                </a:solidFill>
                <a:latin typeface="Helvetica Neue"/>
                <a:ea typeface="Helvetica Neue"/>
                <a:cs typeface="Helvetica Neue"/>
                <a:sym typeface="Helvetica Neue"/>
              </a:rPr>
              <a:t>Hourly </a:t>
            </a:r>
            <a:r>
              <a:rPr b="0" i="0" lang="en-US" sz="1950" u="none" cap="none" strike="noStrike">
                <a:solidFill>
                  <a:srgbClr val="3A4A5A"/>
                </a:solidFill>
                <a:latin typeface="Helvetica Neue"/>
                <a:ea typeface="Helvetica Neue"/>
                <a:cs typeface="Helvetica Neue"/>
                <a:sym typeface="Helvetica Neue"/>
              </a:rPr>
              <a:t>1 h ahead, refreshed hourly, sentiment-aware.</a:t>
            </a:r>
            <a:endParaRPr b="0" i="0" sz="1950" u="none" cap="none" strike="noStrike">
              <a:solidFill>
                <a:schemeClr val="dk1"/>
              </a:solidFill>
              <a:latin typeface="Calibri"/>
              <a:ea typeface="Calibri"/>
              <a:cs typeface="Calibri"/>
              <a:sym typeface="Calibri"/>
            </a:endParaRPr>
          </a:p>
        </p:txBody>
      </p:sp>
      <p:sp>
        <p:nvSpPr>
          <p:cNvPr id="41" name="Google Shape;41;p2"/>
          <p:cNvSpPr/>
          <p:nvPr/>
        </p:nvSpPr>
        <p:spPr>
          <a:xfrm>
            <a:off x="1257300" y="3893641"/>
            <a:ext cx="8248404" cy="384721"/>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1F2A37"/>
              </a:buClr>
              <a:buSzPts val="1950"/>
              <a:buFont typeface="Helvetica Neue"/>
              <a:buNone/>
            </a:pPr>
            <a:r>
              <a:rPr b="1" i="0" lang="en-US" sz="1950" u="none" cap="none" strike="noStrike">
                <a:solidFill>
                  <a:srgbClr val="1F2A37"/>
                </a:solidFill>
                <a:latin typeface="Helvetica Neue"/>
                <a:ea typeface="Helvetica Neue"/>
                <a:cs typeface="Helvetica Neue"/>
                <a:sym typeface="Helvetica Neue"/>
              </a:rPr>
              <a:t>Daily </a:t>
            </a:r>
            <a:r>
              <a:rPr lang="en-US" sz="1950">
                <a:solidFill>
                  <a:srgbClr val="3A4A5A"/>
                </a:solidFill>
                <a:latin typeface="Helvetica Neue"/>
                <a:ea typeface="Helvetica Neue"/>
                <a:cs typeface="Helvetica Neue"/>
                <a:sym typeface="Helvetica Neue"/>
              </a:rPr>
              <a:t>7d</a:t>
            </a:r>
            <a:r>
              <a:rPr b="0" i="0" lang="en-US" sz="1950" u="none" cap="none" strike="noStrike">
                <a:solidFill>
                  <a:srgbClr val="3A4A5A"/>
                </a:solidFill>
                <a:latin typeface="Helvetica Neue"/>
                <a:ea typeface="Helvetica Neue"/>
                <a:cs typeface="Helvetica Neue"/>
                <a:sym typeface="Helvetica Neue"/>
              </a:rPr>
              <a:t> ahead, refreshed once a day, prices only.</a:t>
            </a:r>
            <a:endParaRPr b="0" i="0" sz="1950" u="none" cap="none" strike="noStrike">
              <a:solidFill>
                <a:schemeClr val="dk1"/>
              </a:solidFill>
              <a:latin typeface="Calibri"/>
              <a:ea typeface="Calibri"/>
              <a:cs typeface="Calibri"/>
              <a:sym typeface="Calibri"/>
            </a:endParaRPr>
          </a:p>
        </p:txBody>
      </p:sp>
      <p:sp>
        <p:nvSpPr>
          <p:cNvPr id="42" name="Google Shape;42;p2"/>
          <p:cNvSpPr/>
          <p:nvPr/>
        </p:nvSpPr>
        <p:spPr>
          <a:xfrm>
            <a:off x="1257300" y="4411712"/>
            <a:ext cx="8248404" cy="384721"/>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3A4A5A"/>
              </a:buClr>
              <a:buSzPts val="1950"/>
              <a:buFont typeface="Helvetica Neue"/>
              <a:buNone/>
            </a:pPr>
            <a:r>
              <a:rPr b="0" i="0" lang="en-US" sz="1950" u="none" cap="none" strike="noStrike">
                <a:solidFill>
                  <a:srgbClr val="3A4A5A"/>
                </a:solidFill>
                <a:latin typeface="Helvetica Neue"/>
                <a:ea typeface="Helvetica Neue"/>
                <a:cs typeface="Helvetica Neue"/>
                <a:sym typeface="Helvetica Neue"/>
              </a:rPr>
              <a:t>Event-driven and fully serverless · no servers to manage, scales to zero.</a:t>
            </a:r>
            <a:endParaRPr b="0" i="0" sz="1950" u="none" cap="none" strike="noStrike">
              <a:solidFill>
                <a:schemeClr val="dk1"/>
              </a:solidFill>
              <a:latin typeface="Calibri"/>
              <a:ea typeface="Calibri"/>
              <a:cs typeface="Calibri"/>
              <a:sym typeface="Calibri"/>
            </a:endParaRPr>
          </a:p>
        </p:txBody>
      </p:sp>
      <p:sp>
        <p:nvSpPr>
          <p:cNvPr id="43" name="Google Shape;43;p2"/>
          <p:cNvSpPr/>
          <p:nvPr/>
        </p:nvSpPr>
        <p:spPr>
          <a:xfrm>
            <a:off x="1257300" y="4929783"/>
            <a:ext cx="8248404" cy="384721"/>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3A4A5A"/>
              </a:buClr>
              <a:buSzPts val="1950"/>
              <a:buFont typeface="Helvetica Neue"/>
              <a:buNone/>
            </a:pPr>
            <a:r>
              <a:rPr b="0" i="0" lang="en-US" sz="1950" u="none" cap="none" strike="noStrike">
                <a:solidFill>
                  <a:srgbClr val="3A4A5A"/>
                </a:solidFill>
                <a:latin typeface="Helvetica Neue"/>
                <a:ea typeface="Helvetica Neue"/>
                <a:cs typeface="Helvetica Neue"/>
                <a:sym typeface="Helvetica Neue"/>
              </a:rPr>
              <a:t>In scope: 3 tickers · 2 horizons · 1 dashboard · automation end-to-end.</a:t>
            </a:r>
            <a:endParaRPr b="0" i="0" sz="1950" u="none" cap="none" strike="noStrike">
              <a:solidFill>
                <a:schemeClr val="dk1"/>
              </a:solidFill>
              <a:latin typeface="Calibri"/>
              <a:ea typeface="Calibri"/>
              <a:cs typeface="Calibri"/>
              <a:sym typeface="Calibri"/>
            </a:endParaRPr>
          </a:p>
        </p:txBody>
      </p:sp>
      <p:sp>
        <p:nvSpPr>
          <p:cNvPr id="44" name="Google Shape;44;p2"/>
          <p:cNvSpPr/>
          <p:nvPr/>
        </p:nvSpPr>
        <p:spPr>
          <a:xfrm>
            <a:off x="1257300" y="5447854"/>
            <a:ext cx="8248404" cy="384721"/>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3A4A5A"/>
              </a:buClr>
              <a:buSzPts val="1950"/>
              <a:buFont typeface="Helvetica Neue"/>
              <a:buNone/>
            </a:pPr>
            <a:r>
              <a:rPr b="0" i="0" lang="en-US" sz="1950" u="none" cap="none" strike="noStrike">
                <a:solidFill>
                  <a:srgbClr val="3A4A5A"/>
                </a:solidFill>
                <a:latin typeface="Helvetica Neue"/>
                <a:ea typeface="Helvetica Neue"/>
                <a:cs typeface="Helvetica Neue"/>
                <a:sym typeface="Helvetica Neue"/>
              </a:rPr>
              <a:t>Cut from first draft: wider ticker universe, custom news scraper.</a:t>
            </a:r>
            <a:endParaRPr b="0" i="0" sz="1950" u="none" cap="none" strike="noStrike">
              <a:solidFill>
                <a:schemeClr val="dk1"/>
              </a:solidFill>
              <a:latin typeface="Calibri"/>
              <a:ea typeface="Calibri"/>
              <a:cs typeface="Calibri"/>
              <a:sym typeface="Calibri"/>
            </a:endParaRPr>
          </a:p>
        </p:txBody>
      </p:sp>
      <p:sp>
        <p:nvSpPr>
          <p:cNvPr id="45" name="Google Shape;45;p2"/>
          <p:cNvSpPr/>
          <p:nvPr/>
        </p:nvSpPr>
        <p:spPr>
          <a:xfrm>
            <a:off x="1131225" y="5887175"/>
            <a:ext cx="11356800" cy="3036600"/>
          </a:xfrm>
          <a:prstGeom prst="roundRect">
            <a:avLst>
              <a:gd fmla="val 2222" name="adj"/>
            </a:avLst>
          </a:prstGeom>
          <a:solidFill>
            <a:srgbClr val="FFFFFF"/>
          </a:solidFill>
          <a:ln cap="flat" cmpd="sng" w="9525">
            <a:solidFill>
              <a:srgbClr val="E2E5EA"/>
            </a:solidFill>
            <a:prstDash val="solid"/>
            <a:round/>
            <a:headEnd len="sm" w="sm" type="none"/>
            <a:tailEnd len="sm" w="sm" type="none"/>
          </a:ln>
          <a:effectLst>
            <a:outerShdw blurRad="133350" rotWithShape="0" algn="bl" dir="5400000" dist="38100">
              <a:srgbClr val="0B2540">
                <a:alpha val="5098"/>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2"/>
          <p:cNvSpPr/>
          <p:nvPr/>
        </p:nvSpPr>
        <p:spPr>
          <a:xfrm>
            <a:off x="1533676" y="6111725"/>
            <a:ext cx="9135000" cy="4002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975"/>
              <a:buFont typeface="Courier New"/>
              <a:buNone/>
            </a:pPr>
            <a:r>
              <a:rPr b="0" i="0" lang="en-US" sz="1675" u="none" cap="none" strike="noStrike">
                <a:solidFill>
                  <a:srgbClr val="8A94A6"/>
                </a:solidFill>
                <a:latin typeface="Courier New"/>
                <a:ea typeface="Courier New"/>
                <a:cs typeface="Courier New"/>
                <a:sym typeface="Courier New"/>
              </a:rPr>
              <a:t>END-TO-END FLOW</a:t>
            </a:r>
            <a:endParaRPr b="0" i="0" sz="1675" u="none" cap="none" strike="noStrike">
              <a:solidFill>
                <a:schemeClr val="dk1"/>
              </a:solidFill>
              <a:latin typeface="Calibri"/>
              <a:ea typeface="Calibri"/>
              <a:cs typeface="Calibri"/>
              <a:sym typeface="Calibri"/>
            </a:endParaRPr>
          </a:p>
        </p:txBody>
      </p:sp>
      <p:sp>
        <p:nvSpPr>
          <p:cNvPr id="47" name="Google Shape;47;p2"/>
          <p:cNvSpPr/>
          <p:nvPr/>
        </p:nvSpPr>
        <p:spPr>
          <a:xfrm>
            <a:off x="1976050" y="6764250"/>
            <a:ext cx="2113200" cy="1397100"/>
          </a:xfrm>
          <a:prstGeom prst="roundRect">
            <a:avLst>
              <a:gd fmla="val 3200" name="adj"/>
            </a:avLst>
          </a:prstGeom>
          <a:noFill/>
          <a:ln cap="flat" cmpd="sng" w="9525">
            <a:solidFill>
              <a:srgbClr val="E2E5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 name="Google Shape;48;p2"/>
          <p:cNvSpPr/>
          <p:nvPr/>
        </p:nvSpPr>
        <p:spPr>
          <a:xfrm>
            <a:off x="2145847" y="7038975"/>
            <a:ext cx="1773600" cy="20970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3A4A5A"/>
              </a:buClr>
              <a:buSzPts val="975"/>
              <a:buFont typeface="Courier New"/>
              <a:buNone/>
            </a:pPr>
            <a:r>
              <a:rPr b="0" i="0" lang="en-US" sz="1375" u="none" cap="none" strike="noStrike">
                <a:solidFill>
                  <a:srgbClr val="3A4A5A"/>
                </a:solidFill>
                <a:latin typeface="Courier New"/>
                <a:ea typeface="Courier New"/>
                <a:cs typeface="Courier New"/>
                <a:sym typeface="Courier New"/>
              </a:rPr>
              <a:t>INPUTS</a:t>
            </a:r>
            <a:endParaRPr b="0" i="0" sz="1375" u="none" cap="none" strike="noStrike">
              <a:solidFill>
                <a:schemeClr val="dk1"/>
              </a:solidFill>
              <a:latin typeface="Calibri"/>
              <a:ea typeface="Calibri"/>
              <a:cs typeface="Calibri"/>
              <a:sym typeface="Calibri"/>
            </a:endParaRPr>
          </a:p>
        </p:txBody>
      </p:sp>
      <p:sp>
        <p:nvSpPr>
          <p:cNvPr id="49" name="Google Shape;49;p2"/>
          <p:cNvSpPr/>
          <p:nvPr/>
        </p:nvSpPr>
        <p:spPr>
          <a:xfrm>
            <a:off x="2145847" y="7327925"/>
            <a:ext cx="1773600" cy="28590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1F2A37"/>
              </a:buClr>
              <a:buSzPts val="1650"/>
              <a:buFont typeface="Helvetica Neue"/>
              <a:buNone/>
            </a:pPr>
            <a:r>
              <a:rPr b="1" i="0" lang="en-US" sz="1950" u="none" cap="none" strike="noStrike">
                <a:solidFill>
                  <a:srgbClr val="1F2A37"/>
                </a:solidFill>
                <a:latin typeface="Helvetica Neue"/>
                <a:ea typeface="Helvetica Neue"/>
                <a:cs typeface="Helvetica Neue"/>
                <a:sym typeface="Helvetica Neue"/>
              </a:rPr>
              <a:t>Prices</a:t>
            </a:r>
            <a:endParaRPr b="0" i="0" sz="1950" u="none" cap="none" strike="noStrike">
              <a:solidFill>
                <a:schemeClr val="dk1"/>
              </a:solidFill>
              <a:latin typeface="Calibri"/>
              <a:ea typeface="Calibri"/>
              <a:cs typeface="Calibri"/>
              <a:sym typeface="Calibri"/>
            </a:endParaRPr>
          </a:p>
        </p:txBody>
      </p:sp>
      <p:sp>
        <p:nvSpPr>
          <p:cNvPr id="50" name="Google Shape;50;p2"/>
          <p:cNvSpPr/>
          <p:nvPr/>
        </p:nvSpPr>
        <p:spPr>
          <a:xfrm>
            <a:off x="2145847" y="7602513"/>
            <a:ext cx="1773600" cy="28590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1F2A37"/>
              </a:buClr>
              <a:buSzPts val="1650"/>
              <a:buFont typeface="Helvetica Neue"/>
              <a:buNone/>
            </a:pPr>
            <a:r>
              <a:rPr b="1" i="0" lang="en-US" sz="1950" u="none" cap="none" strike="noStrike">
                <a:solidFill>
                  <a:srgbClr val="1F2A37"/>
                </a:solidFill>
                <a:latin typeface="Helvetica Neue"/>
                <a:ea typeface="Helvetica Neue"/>
                <a:cs typeface="Helvetica Neue"/>
                <a:sym typeface="Helvetica Neue"/>
              </a:rPr>
              <a:t>News</a:t>
            </a:r>
            <a:endParaRPr b="0" i="0" sz="1950" u="none" cap="none" strike="noStrike">
              <a:solidFill>
                <a:schemeClr val="dk1"/>
              </a:solidFill>
              <a:latin typeface="Calibri"/>
              <a:ea typeface="Calibri"/>
              <a:cs typeface="Calibri"/>
              <a:sym typeface="Calibri"/>
            </a:endParaRPr>
          </a:p>
        </p:txBody>
      </p:sp>
      <p:sp>
        <p:nvSpPr>
          <p:cNvPr id="51" name="Google Shape;51;p2"/>
          <p:cNvSpPr/>
          <p:nvPr/>
        </p:nvSpPr>
        <p:spPr>
          <a:xfrm>
            <a:off x="4723131" y="6869100"/>
            <a:ext cx="171600" cy="122880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3A4A5A"/>
              </a:buClr>
              <a:buSzPts val="2250"/>
              <a:buFont typeface="Helvetica Neue"/>
              <a:buNone/>
            </a:pPr>
            <a:r>
              <a:rPr b="1" i="0" lang="en-US" sz="2250" u="none" cap="none" strike="noStrike">
                <a:solidFill>
                  <a:srgbClr val="3A4A5A"/>
                </a:solidFill>
                <a:latin typeface="Helvetica Neue"/>
                <a:ea typeface="Helvetica Neue"/>
                <a:cs typeface="Helvetica Neue"/>
                <a:sym typeface="Helvetica Neue"/>
              </a:rPr>
              <a:t>›</a:t>
            </a:r>
            <a:endParaRPr b="0" i="0" sz="2250" u="none" cap="none" strike="noStrike">
              <a:solidFill>
                <a:schemeClr val="dk1"/>
              </a:solidFill>
              <a:latin typeface="Calibri"/>
              <a:ea typeface="Calibri"/>
              <a:cs typeface="Calibri"/>
              <a:sym typeface="Calibri"/>
            </a:endParaRPr>
          </a:p>
        </p:txBody>
      </p:sp>
      <p:sp>
        <p:nvSpPr>
          <p:cNvPr id="52" name="Google Shape;52;p2"/>
          <p:cNvSpPr/>
          <p:nvPr/>
        </p:nvSpPr>
        <p:spPr>
          <a:xfrm>
            <a:off x="5951375" y="6746175"/>
            <a:ext cx="2166600" cy="1480500"/>
          </a:xfrm>
          <a:prstGeom prst="roundRect">
            <a:avLst>
              <a:gd fmla="val 3200" name="adj"/>
            </a:avLst>
          </a:prstGeom>
          <a:solidFill>
            <a:srgbClr val="F1FAFE"/>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2"/>
          <p:cNvSpPr/>
          <p:nvPr/>
        </p:nvSpPr>
        <p:spPr>
          <a:xfrm>
            <a:off x="5978081" y="7022775"/>
            <a:ext cx="2113200" cy="20970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3A4A5A"/>
              </a:buClr>
              <a:buSzPts val="975"/>
              <a:buFont typeface="Courier New"/>
              <a:buNone/>
            </a:pPr>
            <a:r>
              <a:rPr b="0" i="0" lang="en-US" sz="1375" u="none" cap="none" strike="noStrike">
                <a:solidFill>
                  <a:srgbClr val="3A4A5A"/>
                </a:solidFill>
                <a:latin typeface="Courier New"/>
                <a:ea typeface="Courier New"/>
                <a:cs typeface="Courier New"/>
                <a:sym typeface="Courier New"/>
              </a:rPr>
              <a:t>PIPELINE</a:t>
            </a:r>
            <a:endParaRPr b="0" i="0" sz="1375" u="none" cap="none" strike="noStrike">
              <a:solidFill>
                <a:schemeClr val="dk1"/>
              </a:solidFill>
              <a:latin typeface="Calibri"/>
              <a:ea typeface="Calibri"/>
              <a:cs typeface="Calibri"/>
              <a:sym typeface="Calibri"/>
            </a:endParaRPr>
          </a:p>
        </p:txBody>
      </p:sp>
      <p:sp>
        <p:nvSpPr>
          <p:cNvPr id="54" name="Google Shape;54;p2"/>
          <p:cNvSpPr/>
          <p:nvPr/>
        </p:nvSpPr>
        <p:spPr>
          <a:xfrm>
            <a:off x="5978081" y="7315450"/>
            <a:ext cx="2113200" cy="25710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1F2A37"/>
              </a:buClr>
              <a:buSzPts val="1500"/>
              <a:buFont typeface="Helvetica Neue"/>
              <a:buNone/>
            </a:pPr>
            <a:r>
              <a:rPr b="1" i="0" lang="en-US" sz="1950" u="none" cap="none" strike="noStrike">
                <a:solidFill>
                  <a:srgbClr val="1F2A37"/>
                </a:solidFill>
                <a:latin typeface="Helvetica Neue"/>
                <a:ea typeface="Helvetica Neue"/>
                <a:cs typeface="Helvetica Neue"/>
                <a:sym typeface="Helvetica Neue"/>
              </a:rPr>
              <a:t>Serverless AWS</a:t>
            </a:r>
            <a:endParaRPr b="0" i="0" sz="1950" u="none" cap="none" strike="noStrike">
              <a:solidFill>
                <a:schemeClr val="dk1"/>
              </a:solidFill>
              <a:latin typeface="Calibri"/>
              <a:ea typeface="Calibri"/>
              <a:cs typeface="Calibri"/>
              <a:sym typeface="Calibri"/>
            </a:endParaRPr>
          </a:p>
        </p:txBody>
      </p:sp>
      <p:sp>
        <p:nvSpPr>
          <p:cNvPr id="55" name="Google Shape;55;p2"/>
          <p:cNvSpPr/>
          <p:nvPr/>
        </p:nvSpPr>
        <p:spPr>
          <a:xfrm>
            <a:off x="5978081" y="7764575"/>
            <a:ext cx="2113200" cy="40020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8A94A6"/>
              </a:buClr>
              <a:buSzPts val="1050"/>
              <a:buFont typeface="Courier New"/>
              <a:buNone/>
            </a:pPr>
            <a:r>
              <a:rPr b="0" i="0" lang="en-US" sz="1250" u="none" cap="none" strike="noStrike">
                <a:solidFill>
                  <a:srgbClr val="8A94A6"/>
                </a:solidFill>
                <a:latin typeface="Courier New"/>
                <a:ea typeface="Courier New"/>
                <a:cs typeface="Courier New"/>
                <a:sym typeface="Courier New"/>
              </a:rPr>
              <a:t>11 Lambdas · Glue · DeepAR</a:t>
            </a:r>
            <a:endParaRPr b="0" i="0" sz="1250" u="none" cap="none" strike="noStrike">
              <a:solidFill>
                <a:schemeClr val="dk1"/>
              </a:solidFill>
              <a:latin typeface="Calibri"/>
              <a:ea typeface="Calibri"/>
              <a:cs typeface="Calibri"/>
              <a:sym typeface="Calibri"/>
            </a:endParaRPr>
          </a:p>
        </p:txBody>
      </p:sp>
      <p:sp>
        <p:nvSpPr>
          <p:cNvPr id="56" name="Google Shape;56;p2"/>
          <p:cNvSpPr/>
          <p:nvPr/>
        </p:nvSpPr>
        <p:spPr>
          <a:xfrm>
            <a:off x="8862341" y="6791050"/>
            <a:ext cx="171600" cy="1228800"/>
          </a:xfrm>
          <a:prstGeom prst="rect">
            <a:avLst/>
          </a:prstGeom>
          <a:noFill/>
          <a:ln>
            <a:noFill/>
          </a:ln>
        </p:spPr>
        <p:txBody>
          <a:bodyPr anchorCtr="0" anchor="ctr" bIns="25400" lIns="25400" spcFirstLastPara="1" rIns="25400" wrap="square" tIns="25400">
            <a:normAutofit/>
          </a:bodyPr>
          <a:lstStyle/>
          <a:p>
            <a:pPr indent="0" lvl="0" marL="0" marR="0" rtl="0" algn="l">
              <a:spcBef>
                <a:spcPts val="0"/>
              </a:spcBef>
              <a:spcAft>
                <a:spcPts val="0"/>
              </a:spcAft>
              <a:buClr>
                <a:srgbClr val="3A4A5A"/>
              </a:buClr>
              <a:buSzPts val="2250"/>
              <a:buFont typeface="Helvetica Neue"/>
              <a:buNone/>
            </a:pPr>
            <a:r>
              <a:rPr b="1" i="0" lang="en-US" sz="2250" u="none" cap="none" strike="noStrike">
                <a:solidFill>
                  <a:srgbClr val="3A4A5A"/>
                </a:solidFill>
                <a:latin typeface="Helvetica Neue"/>
                <a:ea typeface="Helvetica Neue"/>
                <a:cs typeface="Helvetica Neue"/>
                <a:sym typeface="Helvetica Neue"/>
              </a:rPr>
              <a:t>›</a:t>
            </a:r>
            <a:endParaRPr b="0" i="0" sz="2250" u="none" cap="none" strike="noStrike">
              <a:solidFill>
                <a:schemeClr val="dk1"/>
              </a:solidFill>
              <a:latin typeface="Calibri"/>
              <a:ea typeface="Calibri"/>
              <a:cs typeface="Calibri"/>
              <a:sym typeface="Calibri"/>
            </a:endParaRPr>
          </a:p>
        </p:txBody>
      </p:sp>
      <p:sp>
        <p:nvSpPr>
          <p:cNvPr id="57" name="Google Shape;57;p2"/>
          <p:cNvSpPr/>
          <p:nvPr/>
        </p:nvSpPr>
        <p:spPr>
          <a:xfrm>
            <a:off x="9980100" y="6746175"/>
            <a:ext cx="2166600" cy="1480500"/>
          </a:xfrm>
          <a:prstGeom prst="roundRect">
            <a:avLst>
              <a:gd fmla="val 0" name="adj"/>
            </a:avLst>
          </a:prstGeom>
          <a:noFill/>
          <a:ln cap="flat" cmpd="sng" w="9525">
            <a:solidFill>
              <a:srgbClr val="E2E5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2"/>
          <p:cNvSpPr/>
          <p:nvPr/>
        </p:nvSpPr>
        <p:spPr>
          <a:xfrm>
            <a:off x="10176591" y="6958150"/>
            <a:ext cx="1773600" cy="20970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3A4A5A"/>
              </a:buClr>
              <a:buSzPts val="975"/>
              <a:buFont typeface="Courier New"/>
              <a:buNone/>
            </a:pPr>
            <a:r>
              <a:rPr b="0" i="0" lang="en-US" sz="1375" u="none" cap="none" strike="noStrike">
                <a:solidFill>
                  <a:srgbClr val="3A4A5A"/>
                </a:solidFill>
                <a:latin typeface="Courier New"/>
                <a:ea typeface="Courier New"/>
                <a:cs typeface="Courier New"/>
                <a:sym typeface="Courier New"/>
              </a:rPr>
              <a:t>OUTPUTS</a:t>
            </a:r>
            <a:endParaRPr b="0" i="0" sz="1375" u="none" cap="none" strike="noStrike">
              <a:solidFill>
                <a:schemeClr val="dk1"/>
              </a:solidFill>
              <a:latin typeface="Calibri"/>
              <a:ea typeface="Calibri"/>
              <a:cs typeface="Calibri"/>
              <a:sym typeface="Calibri"/>
            </a:endParaRPr>
          </a:p>
        </p:txBody>
      </p:sp>
      <p:sp>
        <p:nvSpPr>
          <p:cNvPr id="59" name="Google Shape;59;p2"/>
          <p:cNvSpPr/>
          <p:nvPr/>
        </p:nvSpPr>
        <p:spPr>
          <a:xfrm>
            <a:off x="10176591" y="7243725"/>
            <a:ext cx="1773600" cy="28590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1F2A37"/>
              </a:buClr>
              <a:buSzPts val="1650"/>
              <a:buFont typeface="Helvetica Neue"/>
              <a:buNone/>
            </a:pPr>
            <a:r>
              <a:rPr b="1" i="0" lang="en-US" sz="1950" u="none" cap="none" strike="noStrike">
                <a:solidFill>
                  <a:srgbClr val="1F2A37"/>
                </a:solidFill>
                <a:latin typeface="Helvetica Neue"/>
                <a:ea typeface="Helvetica Neue"/>
                <a:cs typeface="Helvetica Neue"/>
                <a:sym typeface="Helvetica Neue"/>
              </a:rPr>
              <a:t>Forecasts</a:t>
            </a:r>
            <a:endParaRPr b="0" i="0" sz="1950" u="none" cap="none" strike="noStrike">
              <a:solidFill>
                <a:schemeClr val="dk1"/>
              </a:solidFill>
              <a:latin typeface="Calibri"/>
              <a:ea typeface="Calibri"/>
              <a:cs typeface="Calibri"/>
              <a:sym typeface="Calibri"/>
            </a:endParaRPr>
          </a:p>
        </p:txBody>
      </p:sp>
      <p:sp>
        <p:nvSpPr>
          <p:cNvPr id="60" name="Google Shape;60;p2"/>
          <p:cNvSpPr/>
          <p:nvPr/>
        </p:nvSpPr>
        <p:spPr>
          <a:xfrm>
            <a:off x="10176591" y="7605500"/>
            <a:ext cx="1773600" cy="28590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1F2A37"/>
              </a:buClr>
              <a:buSzPts val="1650"/>
              <a:buFont typeface="Helvetica Neue"/>
              <a:buNone/>
            </a:pPr>
            <a:r>
              <a:rPr b="1" i="0" lang="en-US" sz="1950" u="none" cap="none" strike="noStrike">
                <a:solidFill>
                  <a:srgbClr val="1F2A37"/>
                </a:solidFill>
                <a:latin typeface="Helvetica Neue"/>
                <a:ea typeface="Helvetica Neue"/>
                <a:cs typeface="Helvetica Neue"/>
                <a:sym typeface="Helvetica Neue"/>
              </a:rPr>
              <a:t>+ Alerts</a:t>
            </a:r>
            <a:endParaRPr b="0" i="0" sz="1950" u="none" cap="none" strike="noStrike">
              <a:solidFill>
                <a:schemeClr val="dk1"/>
              </a:solidFill>
              <a:latin typeface="Calibri"/>
              <a:ea typeface="Calibri"/>
              <a:cs typeface="Calibri"/>
              <a:sym typeface="Calibri"/>
            </a:endParaRPr>
          </a:p>
        </p:txBody>
      </p:sp>
      <p:sp>
        <p:nvSpPr>
          <p:cNvPr id="61" name="Google Shape;61;p2"/>
          <p:cNvSpPr/>
          <p:nvPr/>
        </p:nvSpPr>
        <p:spPr>
          <a:xfrm>
            <a:off x="3432735" y="8445625"/>
            <a:ext cx="7203900" cy="219000"/>
          </a:xfrm>
          <a:prstGeom prst="rect">
            <a:avLst/>
          </a:prstGeom>
          <a:noFill/>
          <a:ln>
            <a:noFill/>
          </a:ln>
        </p:spPr>
        <p:txBody>
          <a:bodyPr anchorCtr="0" anchor="t" bIns="25400" lIns="25400" spcFirstLastPara="1" rIns="25400" wrap="square" tIns="25400">
            <a:normAutofit/>
          </a:bodyPr>
          <a:lstStyle/>
          <a:p>
            <a:pPr indent="0" lvl="0" marL="0" marR="0" rtl="0" algn="ctr">
              <a:spcBef>
                <a:spcPts val="0"/>
              </a:spcBef>
              <a:spcAft>
                <a:spcPts val="0"/>
              </a:spcAft>
              <a:buClr>
                <a:srgbClr val="8A94A6"/>
              </a:buClr>
              <a:buSzPts val="1050"/>
              <a:buFont typeface="Courier New"/>
              <a:buNone/>
            </a:pPr>
            <a:r>
              <a:rPr b="0" i="0" lang="en-US" sz="1350" u="none" cap="none" strike="noStrike">
                <a:solidFill>
                  <a:srgbClr val="8A94A6"/>
                </a:solidFill>
                <a:latin typeface="Courier New"/>
                <a:ea typeface="Courier New"/>
                <a:cs typeface="Courier New"/>
                <a:sym typeface="Courier New"/>
              </a:rPr>
              <a:t>→ QuickSight dashboard (hourly + daily)</a:t>
            </a:r>
            <a:endParaRPr b="0" i="0" sz="1350" u="none" cap="none" strike="noStrike">
              <a:solidFill>
                <a:schemeClr val="dk1"/>
              </a:solidFill>
              <a:latin typeface="Calibri"/>
              <a:ea typeface="Calibri"/>
              <a:cs typeface="Calibri"/>
              <a:sym typeface="Calibri"/>
            </a:endParaRPr>
          </a:p>
        </p:txBody>
      </p:sp>
      <p:sp>
        <p:nvSpPr>
          <p:cNvPr id="62" name="Google Shape;62;p2"/>
          <p:cNvSpPr/>
          <p:nvPr/>
        </p:nvSpPr>
        <p:spPr>
          <a:xfrm>
            <a:off x="10604600" y="2535525"/>
            <a:ext cx="2166600" cy="1143000"/>
          </a:xfrm>
          <a:prstGeom prst="roundRect">
            <a:avLst>
              <a:gd fmla="val 3333" name="adj"/>
            </a:avLst>
          </a:prstGeom>
          <a:solidFill>
            <a:srgbClr val="FFFFFF"/>
          </a:solidFill>
          <a:ln cap="flat" cmpd="sng" w="9525">
            <a:solidFill>
              <a:srgbClr val="E2E5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 name="Google Shape;63;p2"/>
          <p:cNvSpPr/>
          <p:nvPr/>
        </p:nvSpPr>
        <p:spPr>
          <a:xfrm>
            <a:off x="10846484" y="2716500"/>
            <a:ext cx="1766700" cy="1905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900"/>
              <a:buFont typeface="Courier New"/>
              <a:buNone/>
            </a:pPr>
            <a:r>
              <a:rPr b="0" i="0" lang="en-US" sz="1300" u="none" cap="none" strike="noStrike">
                <a:solidFill>
                  <a:srgbClr val="8A94A6"/>
                </a:solidFill>
                <a:latin typeface="Courier New"/>
                <a:ea typeface="Courier New"/>
                <a:cs typeface="Courier New"/>
                <a:sym typeface="Courier New"/>
              </a:rPr>
              <a:t>REGION</a:t>
            </a:r>
            <a:endParaRPr b="0" i="0" sz="1300" u="none" cap="none" strike="noStrike">
              <a:solidFill>
                <a:schemeClr val="dk1"/>
              </a:solidFill>
              <a:latin typeface="Calibri"/>
              <a:ea typeface="Calibri"/>
              <a:cs typeface="Calibri"/>
              <a:sym typeface="Calibri"/>
            </a:endParaRPr>
          </a:p>
        </p:txBody>
      </p:sp>
      <p:sp>
        <p:nvSpPr>
          <p:cNvPr id="64" name="Google Shape;64;p2"/>
          <p:cNvSpPr/>
          <p:nvPr/>
        </p:nvSpPr>
        <p:spPr>
          <a:xfrm>
            <a:off x="10846484" y="2945100"/>
            <a:ext cx="1766700" cy="3240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F5A623"/>
              </a:buClr>
              <a:buSzPts val="2250"/>
              <a:buFont typeface="Helvetica Neue"/>
              <a:buNone/>
            </a:pPr>
            <a:r>
              <a:rPr b="1" i="0" lang="en-US" sz="2250" u="none" cap="none" strike="noStrike">
                <a:solidFill>
                  <a:srgbClr val="F5A623"/>
                </a:solidFill>
                <a:latin typeface="Helvetica Neue"/>
                <a:ea typeface="Helvetica Neue"/>
                <a:cs typeface="Helvetica Neue"/>
                <a:sym typeface="Helvetica Neue"/>
              </a:rPr>
              <a:t>eu‑west‑1</a:t>
            </a:r>
            <a:endParaRPr b="0" i="0" sz="2250" u="none" cap="none" strike="noStrike">
              <a:solidFill>
                <a:schemeClr val="dk1"/>
              </a:solidFill>
              <a:latin typeface="Calibri"/>
              <a:ea typeface="Calibri"/>
              <a:cs typeface="Calibri"/>
              <a:sym typeface="Calibri"/>
            </a:endParaRPr>
          </a:p>
        </p:txBody>
      </p:sp>
      <p:sp>
        <p:nvSpPr>
          <p:cNvPr id="65" name="Google Shape;65;p2"/>
          <p:cNvSpPr/>
          <p:nvPr/>
        </p:nvSpPr>
        <p:spPr>
          <a:xfrm>
            <a:off x="13506475" y="2564150"/>
            <a:ext cx="2166600" cy="1143000"/>
          </a:xfrm>
          <a:prstGeom prst="roundRect">
            <a:avLst>
              <a:gd fmla="val 3333" name="adj"/>
            </a:avLst>
          </a:prstGeom>
          <a:solidFill>
            <a:srgbClr val="FFFFFF"/>
          </a:solidFill>
          <a:ln cap="flat" cmpd="sng" w="9525">
            <a:solidFill>
              <a:srgbClr val="E2E5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 name="Google Shape;66;p2"/>
          <p:cNvSpPr/>
          <p:nvPr/>
        </p:nvSpPr>
        <p:spPr>
          <a:xfrm>
            <a:off x="13725547" y="2659325"/>
            <a:ext cx="1804800" cy="1905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900"/>
              <a:buFont typeface="Courier New"/>
              <a:buNone/>
            </a:pPr>
            <a:r>
              <a:rPr b="0" i="0" lang="en-US" sz="1300" u="none" cap="none" strike="noStrike">
                <a:solidFill>
                  <a:srgbClr val="8A94A6"/>
                </a:solidFill>
                <a:latin typeface="Courier New"/>
                <a:ea typeface="Courier New"/>
                <a:cs typeface="Courier New"/>
                <a:sym typeface="Courier New"/>
              </a:rPr>
              <a:t>ACCOUNTS</a:t>
            </a:r>
            <a:endParaRPr b="0" i="0" sz="1300" u="none" cap="none" strike="noStrike">
              <a:solidFill>
                <a:schemeClr val="dk1"/>
              </a:solidFill>
              <a:latin typeface="Calibri"/>
              <a:ea typeface="Calibri"/>
              <a:cs typeface="Calibri"/>
              <a:sym typeface="Calibri"/>
            </a:endParaRPr>
          </a:p>
        </p:txBody>
      </p:sp>
      <p:sp>
        <p:nvSpPr>
          <p:cNvPr id="67" name="Google Shape;67;p2"/>
          <p:cNvSpPr/>
          <p:nvPr/>
        </p:nvSpPr>
        <p:spPr>
          <a:xfrm>
            <a:off x="13725547" y="2887925"/>
            <a:ext cx="1804800" cy="3810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F5A623"/>
              </a:buClr>
              <a:buSzPts val="2700"/>
              <a:buFont typeface="Helvetica Neue"/>
              <a:buNone/>
            </a:pPr>
            <a:r>
              <a:rPr b="1" i="0" lang="en-US" sz="2700" u="none" cap="none" strike="noStrike">
                <a:solidFill>
                  <a:srgbClr val="F5A623"/>
                </a:solidFill>
                <a:latin typeface="Helvetica Neue"/>
                <a:ea typeface="Helvetica Neue"/>
                <a:cs typeface="Helvetica Neue"/>
                <a:sym typeface="Helvetica Neue"/>
              </a:rPr>
              <a:t>4</a:t>
            </a:r>
            <a:endParaRPr b="0" i="0" sz="2700" u="none" cap="none" strike="noStrike">
              <a:solidFill>
                <a:schemeClr val="dk1"/>
              </a:solidFill>
              <a:latin typeface="Calibri"/>
              <a:ea typeface="Calibri"/>
              <a:cs typeface="Calibri"/>
              <a:sym typeface="Calibri"/>
            </a:endParaRPr>
          </a:p>
        </p:txBody>
      </p:sp>
      <p:sp>
        <p:nvSpPr>
          <p:cNvPr id="68" name="Google Shape;68;p2"/>
          <p:cNvSpPr/>
          <p:nvPr/>
        </p:nvSpPr>
        <p:spPr>
          <a:xfrm>
            <a:off x="13725547" y="3287975"/>
            <a:ext cx="1804800" cy="1905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900"/>
              <a:buFont typeface="Courier New"/>
              <a:buNone/>
            </a:pPr>
            <a:r>
              <a:rPr b="0" i="0" lang="en-US" sz="900" u="none" cap="none" strike="noStrike">
                <a:solidFill>
                  <a:srgbClr val="8A94A6"/>
                </a:solidFill>
                <a:latin typeface="Courier New"/>
                <a:ea typeface="Courier New"/>
                <a:cs typeface="Courier New"/>
                <a:sym typeface="Courier New"/>
              </a:rPr>
              <a:t>SEPARATE AWS ACCOUNTS</a:t>
            </a:r>
            <a:endParaRPr b="0" i="0" sz="900" u="none" cap="none" strike="noStrike">
              <a:solidFill>
                <a:schemeClr val="dk1"/>
              </a:solidFill>
              <a:latin typeface="Calibri"/>
              <a:ea typeface="Calibri"/>
              <a:cs typeface="Calibri"/>
              <a:sym typeface="Calibri"/>
            </a:endParaRPr>
          </a:p>
        </p:txBody>
      </p:sp>
      <p:sp>
        <p:nvSpPr>
          <p:cNvPr id="69" name="Google Shape;69;p2"/>
          <p:cNvSpPr/>
          <p:nvPr/>
        </p:nvSpPr>
        <p:spPr>
          <a:xfrm>
            <a:off x="10604600" y="4012638"/>
            <a:ext cx="2166600" cy="1131000"/>
          </a:xfrm>
          <a:prstGeom prst="roundRect">
            <a:avLst>
              <a:gd fmla="val 3333" name="adj"/>
            </a:avLst>
          </a:prstGeom>
          <a:solidFill>
            <a:srgbClr val="FFFFFF"/>
          </a:solidFill>
          <a:ln cap="flat" cmpd="sng" w="9525">
            <a:solidFill>
              <a:srgbClr val="E2E5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2"/>
          <p:cNvSpPr/>
          <p:nvPr/>
        </p:nvSpPr>
        <p:spPr>
          <a:xfrm>
            <a:off x="10846483" y="4191693"/>
            <a:ext cx="1766700" cy="1884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900"/>
              <a:buFont typeface="Courier New"/>
              <a:buNone/>
            </a:pPr>
            <a:r>
              <a:rPr b="0" i="0" lang="en-US" sz="1300" u="none" cap="none" strike="noStrike">
                <a:solidFill>
                  <a:srgbClr val="8A94A6"/>
                </a:solidFill>
                <a:latin typeface="Courier New"/>
                <a:ea typeface="Courier New"/>
                <a:cs typeface="Courier New"/>
                <a:sym typeface="Courier New"/>
              </a:rPr>
              <a:t>LAMBDAS</a:t>
            </a:r>
            <a:endParaRPr b="0" i="0" sz="1300" u="none" cap="none" strike="noStrike">
              <a:solidFill>
                <a:schemeClr val="dk1"/>
              </a:solidFill>
              <a:latin typeface="Calibri"/>
              <a:ea typeface="Calibri"/>
              <a:cs typeface="Calibri"/>
              <a:sym typeface="Calibri"/>
            </a:endParaRPr>
          </a:p>
        </p:txBody>
      </p:sp>
      <p:sp>
        <p:nvSpPr>
          <p:cNvPr id="71" name="Google Shape;71;p2"/>
          <p:cNvSpPr/>
          <p:nvPr/>
        </p:nvSpPr>
        <p:spPr>
          <a:xfrm>
            <a:off x="10846483" y="4417868"/>
            <a:ext cx="1766700" cy="3771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F5A623"/>
              </a:buClr>
              <a:buSzPts val="2700"/>
              <a:buFont typeface="Helvetica Neue"/>
              <a:buNone/>
            </a:pPr>
            <a:r>
              <a:rPr b="1" i="0" lang="en-US" sz="2700" u="none" cap="none" strike="noStrike">
                <a:solidFill>
                  <a:srgbClr val="F5A623"/>
                </a:solidFill>
                <a:latin typeface="Helvetica Neue"/>
                <a:ea typeface="Helvetica Neue"/>
                <a:cs typeface="Helvetica Neue"/>
                <a:sym typeface="Helvetica Neue"/>
              </a:rPr>
              <a:t>11</a:t>
            </a:r>
            <a:endParaRPr b="0" i="0" sz="2700" u="none" cap="none" strike="noStrike">
              <a:solidFill>
                <a:schemeClr val="dk1"/>
              </a:solidFill>
              <a:latin typeface="Calibri"/>
              <a:ea typeface="Calibri"/>
              <a:cs typeface="Calibri"/>
              <a:sym typeface="Calibri"/>
            </a:endParaRPr>
          </a:p>
        </p:txBody>
      </p:sp>
      <p:sp>
        <p:nvSpPr>
          <p:cNvPr id="72" name="Google Shape;72;p2"/>
          <p:cNvSpPr/>
          <p:nvPr/>
        </p:nvSpPr>
        <p:spPr>
          <a:xfrm>
            <a:off x="914400" y="9496425"/>
            <a:ext cx="16459200" cy="9525"/>
          </a:xfrm>
          <a:prstGeom prst="rect">
            <a:avLst/>
          </a:prstGeom>
          <a:solidFill>
            <a:srgbClr val="E2E5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2"/>
          <p:cNvSpPr/>
          <p:nvPr/>
        </p:nvSpPr>
        <p:spPr>
          <a:xfrm>
            <a:off x="914400" y="9658350"/>
            <a:ext cx="6985101" cy="2095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975"/>
              <a:buFont typeface="Courier New"/>
              <a:buNone/>
            </a:pPr>
            <a:r>
              <a:rPr b="0" i="0" lang="en-US" sz="975" u="none" cap="none" strike="noStrike">
                <a:solidFill>
                  <a:srgbClr val="8A94A6"/>
                </a:solidFill>
                <a:latin typeface="Courier New"/>
                <a:ea typeface="Courier New"/>
                <a:cs typeface="Courier New"/>
                <a:sym typeface="Courier New"/>
              </a:rPr>
              <a:t>TEAM 11_02 · NEAR-REAL-TIME FINANCIAL FORECASTING ON AWS · CCBDA-MIRI 2026</a:t>
            </a:r>
            <a:endParaRPr b="0" i="0" sz="975" u="none" cap="none" strike="noStrike">
              <a:solidFill>
                <a:schemeClr val="dk1"/>
              </a:solidFill>
              <a:latin typeface="Calibri"/>
              <a:ea typeface="Calibri"/>
              <a:cs typeface="Calibri"/>
              <a:sym typeface="Calibri"/>
            </a:endParaRPr>
          </a:p>
        </p:txBody>
      </p:sp>
      <p:sp>
        <p:nvSpPr>
          <p:cNvPr id="74" name="Google Shape;74;p2"/>
          <p:cNvSpPr/>
          <p:nvPr/>
        </p:nvSpPr>
        <p:spPr>
          <a:xfrm>
            <a:off x="16732002" y="9658350"/>
            <a:ext cx="717798" cy="2095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975"/>
              <a:buFont typeface="Courier New"/>
              <a:buNone/>
            </a:pPr>
            <a:r>
              <a:rPr b="0" i="0" lang="en-US" sz="975" u="none" cap="none" strike="noStrike">
                <a:solidFill>
                  <a:srgbClr val="8A94A6"/>
                </a:solidFill>
                <a:latin typeface="Courier New"/>
                <a:ea typeface="Courier New"/>
                <a:cs typeface="Courier New"/>
                <a:sym typeface="Courier New"/>
              </a:rPr>
              <a:t>02 / 14</a:t>
            </a:r>
            <a:endParaRPr b="0" i="0" sz="975" u="none" cap="none" strike="noStrike">
              <a:solidFill>
                <a:schemeClr val="dk1"/>
              </a:solidFill>
              <a:latin typeface="Calibri"/>
              <a:ea typeface="Calibri"/>
              <a:cs typeface="Calibri"/>
              <a:sym typeface="Calibri"/>
            </a:endParaRPr>
          </a:p>
        </p:txBody>
      </p:sp>
      <p:sp>
        <p:nvSpPr>
          <p:cNvPr id="75" name="Google Shape;75;p2"/>
          <p:cNvSpPr/>
          <p:nvPr/>
        </p:nvSpPr>
        <p:spPr>
          <a:xfrm>
            <a:off x="13506475" y="4040913"/>
            <a:ext cx="2166600" cy="1131000"/>
          </a:xfrm>
          <a:prstGeom prst="roundRect">
            <a:avLst>
              <a:gd fmla="val 3333" name="adj"/>
            </a:avLst>
          </a:prstGeom>
          <a:solidFill>
            <a:srgbClr val="FFFFFF"/>
          </a:solidFill>
          <a:ln cap="flat" cmpd="sng" w="9525">
            <a:solidFill>
              <a:srgbClr val="E2E5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2"/>
          <p:cNvSpPr/>
          <p:nvPr/>
        </p:nvSpPr>
        <p:spPr>
          <a:xfrm>
            <a:off x="13748358" y="4219968"/>
            <a:ext cx="1766700" cy="1884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8A94A6"/>
              </a:buClr>
              <a:buSzPts val="900"/>
              <a:buFont typeface="Courier New"/>
              <a:buNone/>
            </a:pPr>
            <a:r>
              <a:rPr lang="en-US" sz="1300">
                <a:solidFill>
                  <a:srgbClr val="8A94A6"/>
                </a:solidFill>
                <a:latin typeface="Courier New"/>
                <a:ea typeface="Courier New"/>
                <a:cs typeface="Courier New"/>
                <a:sym typeface="Courier New"/>
              </a:rPr>
              <a:t>AWS SERVICES</a:t>
            </a:r>
            <a:endParaRPr b="0" i="0" sz="1300" u="none" cap="none" strike="noStrike">
              <a:solidFill>
                <a:schemeClr val="dk1"/>
              </a:solidFill>
              <a:latin typeface="Calibri"/>
              <a:ea typeface="Calibri"/>
              <a:cs typeface="Calibri"/>
              <a:sym typeface="Calibri"/>
            </a:endParaRPr>
          </a:p>
        </p:txBody>
      </p:sp>
      <p:sp>
        <p:nvSpPr>
          <p:cNvPr id="77" name="Google Shape;77;p2"/>
          <p:cNvSpPr/>
          <p:nvPr/>
        </p:nvSpPr>
        <p:spPr>
          <a:xfrm>
            <a:off x="13748358" y="4446143"/>
            <a:ext cx="1766700" cy="377100"/>
          </a:xfrm>
          <a:prstGeom prst="rect">
            <a:avLst/>
          </a:prstGeom>
          <a:noFill/>
          <a:ln>
            <a:noFill/>
          </a:ln>
        </p:spPr>
        <p:txBody>
          <a:bodyPr anchorCtr="0" anchor="t" bIns="25400" lIns="25400" spcFirstLastPara="1" rIns="25400" wrap="square" tIns="25400">
            <a:noAutofit/>
          </a:bodyPr>
          <a:lstStyle/>
          <a:p>
            <a:pPr indent="0" lvl="0" marL="0" marR="0" rtl="0" algn="l">
              <a:lnSpc>
                <a:spcPct val="100000"/>
              </a:lnSpc>
              <a:spcBef>
                <a:spcPts val="0"/>
              </a:spcBef>
              <a:spcAft>
                <a:spcPts val="0"/>
              </a:spcAft>
              <a:buClr>
                <a:srgbClr val="F5A623"/>
              </a:buClr>
              <a:buSzPts val="2700"/>
              <a:buFont typeface="Helvetica Neue"/>
              <a:buNone/>
            </a:pPr>
            <a:r>
              <a:rPr b="1" i="0" lang="en-US" sz="2700" u="none" cap="none" strike="noStrike">
                <a:solidFill>
                  <a:srgbClr val="F5A623"/>
                </a:solidFill>
                <a:latin typeface="Helvetica Neue"/>
                <a:ea typeface="Helvetica Neue"/>
                <a:cs typeface="Helvetica Neue"/>
                <a:sym typeface="Helvetica Neue"/>
              </a:rPr>
              <a:t>1</a:t>
            </a:r>
            <a:r>
              <a:rPr b="1" lang="en-US" sz="2700">
                <a:solidFill>
                  <a:srgbClr val="F5A623"/>
                </a:solidFill>
                <a:latin typeface="Helvetica Neue"/>
                <a:ea typeface="Helvetica Neue"/>
                <a:cs typeface="Helvetica Neue"/>
                <a:sym typeface="Helvetica Neue"/>
              </a:rPr>
              <a:t>2</a:t>
            </a:r>
            <a:endParaRPr b="0" i="0" sz="2700" u="none" cap="none" strike="noStrike">
              <a:solidFill>
                <a:schemeClr val="dk1"/>
              </a:solidFill>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2"/>
        </a:solidFill>
      </p:bgPr>
    </p:bg>
    <p:spTree>
      <p:nvGrpSpPr>
        <p:cNvPr id="82" name="Shape 82"/>
        <p:cNvGrpSpPr/>
        <p:nvPr/>
      </p:nvGrpSpPr>
      <p:grpSpPr>
        <a:xfrm>
          <a:off x="0" y="0"/>
          <a:ext cx="0" cy="0"/>
          <a:chOff x="0" y="0"/>
          <a:chExt cx="0" cy="0"/>
        </a:xfrm>
      </p:grpSpPr>
      <p:pic>
        <p:nvPicPr>
          <p:cNvPr descr="claudep3-03.png" id="83" name="Google Shape;83;p3"/>
          <p:cNvPicPr preferRelativeResize="0"/>
          <p:nvPr/>
        </p:nvPicPr>
        <p:blipFill rotWithShape="1">
          <a:blip r:embed="rId3">
            <a:alphaModFix/>
          </a:blip>
          <a:srcRect b="0" l="0" r="0" t="0"/>
          <a:stretch/>
        </p:blipFill>
        <p:spPr>
          <a:xfrm>
            <a:off x="0" y="0"/>
            <a:ext cx="18288000" cy="102870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2"/>
        </a:solidFill>
      </p:bgPr>
    </p:bg>
    <p:spTree>
      <p:nvGrpSpPr>
        <p:cNvPr id="88" name="Shape 88"/>
        <p:cNvGrpSpPr/>
        <p:nvPr/>
      </p:nvGrpSpPr>
      <p:grpSpPr>
        <a:xfrm>
          <a:off x="0" y="0"/>
          <a:ext cx="0" cy="0"/>
          <a:chOff x="0" y="0"/>
          <a:chExt cx="0" cy="0"/>
        </a:xfrm>
      </p:grpSpPr>
      <p:sp>
        <p:nvSpPr>
          <p:cNvPr id="89" name="Google Shape;89;p4"/>
          <p:cNvSpPr/>
          <p:nvPr/>
        </p:nvSpPr>
        <p:spPr>
          <a:xfrm>
            <a:off x="914400" y="647700"/>
            <a:ext cx="2855235" cy="2571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F2A37"/>
              </a:buClr>
              <a:buSzPts val="1500"/>
              <a:buFont typeface="Helvetica Neue"/>
              <a:buNone/>
            </a:pPr>
            <a:r>
              <a:rPr b="1" i="0" lang="en-US" sz="1500" u="none" cap="none" strike="noStrike">
                <a:solidFill>
                  <a:srgbClr val="1F2A37"/>
                </a:solidFill>
                <a:latin typeface="Helvetica Neue"/>
                <a:ea typeface="Helvetica Neue"/>
                <a:cs typeface="Helvetica Neue"/>
                <a:sym typeface="Helvetica Neue"/>
              </a:rPr>
              <a:t>04 · DATA INGESTION</a:t>
            </a:r>
            <a:endParaRPr b="0" i="0" sz="1500" u="none" cap="none" strike="noStrike">
              <a:solidFill>
                <a:schemeClr val="dk1"/>
              </a:solidFill>
              <a:latin typeface="Calibri"/>
              <a:ea typeface="Calibri"/>
              <a:cs typeface="Calibri"/>
              <a:sym typeface="Calibri"/>
            </a:endParaRPr>
          </a:p>
        </p:txBody>
      </p:sp>
      <p:sp>
        <p:nvSpPr>
          <p:cNvPr id="90" name="Google Shape;90;p4"/>
          <p:cNvSpPr/>
          <p:nvPr/>
        </p:nvSpPr>
        <p:spPr>
          <a:xfrm>
            <a:off x="15483483" y="647700"/>
            <a:ext cx="1966317" cy="2381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1200"/>
              <a:buFont typeface="Courier New"/>
              <a:buNone/>
            </a:pPr>
            <a:r>
              <a:rPr b="0" i="0" lang="en-US" sz="1200" u="none" cap="none" strike="noStrike">
                <a:solidFill>
                  <a:srgbClr val="8A94A6"/>
                </a:solidFill>
                <a:latin typeface="Courier New"/>
                <a:ea typeface="Courier New"/>
                <a:cs typeface="Courier New"/>
                <a:sym typeface="Courier New"/>
              </a:rPr>
              <a:t>SPEAKER · </a:t>
            </a:r>
            <a:r>
              <a:rPr b="1" i="0" lang="en-US" sz="1200" u="none" cap="none" strike="noStrike">
                <a:solidFill>
                  <a:srgbClr val="1F2A37"/>
                </a:solidFill>
                <a:latin typeface="Courier New"/>
                <a:ea typeface="Courier New"/>
                <a:cs typeface="Courier New"/>
                <a:sym typeface="Courier New"/>
              </a:rPr>
              <a:t>ILIAS</a:t>
            </a:r>
            <a:endParaRPr b="0" i="0" sz="1200" u="none" cap="none" strike="noStrike">
              <a:solidFill>
                <a:schemeClr val="dk1"/>
              </a:solidFill>
              <a:latin typeface="Calibri"/>
              <a:ea typeface="Calibri"/>
              <a:cs typeface="Calibri"/>
              <a:sym typeface="Calibri"/>
            </a:endParaRPr>
          </a:p>
        </p:txBody>
      </p:sp>
      <p:sp>
        <p:nvSpPr>
          <p:cNvPr id="91" name="Google Shape;91;p4"/>
          <p:cNvSpPr/>
          <p:nvPr/>
        </p:nvSpPr>
        <p:spPr>
          <a:xfrm>
            <a:off x="914400" y="1143000"/>
            <a:ext cx="16952976" cy="592782"/>
          </a:xfrm>
          <a:prstGeom prst="rect">
            <a:avLst/>
          </a:prstGeom>
          <a:noFill/>
          <a:ln>
            <a:noFill/>
          </a:ln>
        </p:spPr>
        <p:txBody>
          <a:bodyPr anchorCtr="0" anchor="t" bIns="25400" lIns="25400" spcFirstLastPara="1" rIns="25400" wrap="square" tIns="25400">
            <a:normAutofit/>
          </a:bodyPr>
          <a:lstStyle/>
          <a:p>
            <a:pPr indent="0" lvl="0" marL="0" marR="0" rtl="0" algn="l">
              <a:lnSpc>
                <a:spcPct val="104000"/>
              </a:lnSpc>
              <a:spcBef>
                <a:spcPts val="0"/>
              </a:spcBef>
              <a:spcAft>
                <a:spcPts val="0"/>
              </a:spcAft>
              <a:buClr>
                <a:srgbClr val="1F2A37"/>
              </a:buClr>
              <a:buSzPts val="4200"/>
              <a:buFont typeface="Helvetica Neue"/>
              <a:buNone/>
            </a:pPr>
            <a:r>
              <a:rPr b="1" i="0" lang="en-US" sz="4200" u="none" cap="none" strike="noStrike">
                <a:solidFill>
                  <a:srgbClr val="1F2A37"/>
                </a:solidFill>
                <a:latin typeface="Helvetica Neue"/>
                <a:ea typeface="Helvetica Neue"/>
                <a:cs typeface="Helvetica Neue"/>
                <a:sym typeface="Helvetica Neue"/>
              </a:rPr>
              <a:t>EventBridge → Lambda → SQS, with 9 rotating API keys.</a:t>
            </a:r>
            <a:endParaRPr b="0" i="0" sz="4200" u="none" cap="none" strike="noStrike">
              <a:solidFill>
                <a:schemeClr val="dk1"/>
              </a:solidFill>
              <a:latin typeface="Calibri"/>
              <a:ea typeface="Calibri"/>
              <a:cs typeface="Calibri"/>
              <a:sym typeface="Calibri"/>
            </a:endParaRPr>
          </a:p>
        </p:txBody>
      </p:sp>
      <p:sp>
        <p:nvSpPr>
          <p:cNvPr id="92" name="Google Shape;92;p4"/>
          <p:cNvSpPr/>
          <p:nvPr/>
        </p:nvSpPr>
        <p:spPr>
          <a:xfrm>
            <a:off x="9720323" y="5803232"/>
            <a:ext cx="8733600" cy="914100"/>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1F2A37"/>
              </a:buClr>
              <a:buSzPts val="1950"/>
              <a:buFont typeface="Helvetica Neue"/>
              <a:buNone/>
            </a:pPr>
            <a:r>
              <a:rPr b="1" i="0" lang="en-US" sz="1550" u="none" cap="none" strike="noStrike">
                <a:solidFill>
                  <a:srgbClr val="1F2A37"/>
                </a:solidFill>
                <a:latin typeface="Helvetica Neue"/>
                <a:ea typeface="Helvetica Neue"/>
                <a:cs typeface="Helvetica Neue"/>
                <a:sym typeface="Helvetica Neue"/>
              </a:rPr>
              <a:t>EventBridge schedule </a:t>
            </a:r>
            <a:r>
              <a:rPr b="0" i="0" lang="en-US" sz="1550" u="none" cap="none" strike="noStrike">
                <a:solidFill>
                  <a:srgbClr val="3A4A5A"/>
                </a:solidFill>
                <a:latin typeface="Helvetica Neue"/>
                <a:ea typeface="Helvetica Neue"/>
                <a:cs typeface="Helvetica Neue"/>
                <a:sym typeface="Helvetica Neue"/>
              </a:rPr>
              <a:t>fires </a:t>
            </a:r>
            <a:r>
              <a:rPr b="1" i="0" lang="en-US" sz="1550" u="none" cap="none" strike="noStrike">
                <a:solidFill>
                  <a:srgbClr val="1F2A37"/>
                </a:solidFill>
                <a:latin typeface="Helvetica Neue"/>
                <a:ea typeface="Helvetica Neue"/>
                <a:cs typeface="Helvetica Neue"/>
                <a:sym typeface="Helvetica Neue"/>
              </a:rPr>
              <a:t>hourly </a:t>
            </a:r>
            <a:r>
              <a:rPr b="0" i="0" lang="en-US" sz="1550" u="none" cap="none" strike="noStrike">
                <a:solidFill>
                  <a:srgbClr val="3A4A5A"/>
                </a:solidFill>
                <a:latin typeface="Helvetica Neue"/>
                <a:ea typeface="Helvetica Neue"/>
                <a:cs typeface="Helvetica Neue"/>
                <a:sym typeface="Helvetica Neue"/>
              </a:rPr>
              <a:t>for prices and news (offset crons).</a:t>
            </a:r>
            <a:endParaRPr b="0" i="0" sz="1550" u="none" cap="none" strike="noStrike">
              <a:solidFill>
                <a:schemeClr val="dk1"/>
              </a:solidFill>
              <a:latin typeface="Calibri"/>
              <a:ea typeface="Calibri"/>
              <a:cs typeface="Calibri"/>
              <a:sym typeface="Calibri"/>
            </a:endParaRPr>
          </a:p>
        </p:txBody>
      </p:sp>
      <p:sp>
        <p:nvSpPr>
          <p:cNvPr id="93" name="Google Shape;93;p4"/>
          <p:cNvSpPr/>
          <p:nvPr/>
        </p:nvSpPr>
        <p:spPr>
          <a:xfrm>
            <a:off x="9720323" y="6257413"/>
            <a:ext cx="8733600" cy="914100"/>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1F2A37"/>
              </a:buClr>
              <a:buSzPts val="1950"/>
              <a:buFont typeface="Helvetica Neue"/>
              <a:buNone/>
            </a:pPr>
            <a:r>
              <a:rPr b="1" i="0" lang="en-US" sz="1550" u="none" cap="none" strike="noStrike">
                <a:solidFill>
                  <a:srgbClr val="1F2A37"/>
                </a:solidFill>
                <a:latin typeface="Helvetica Neue"/>
                <a:ea typeface="Helvetica Neue"/>
                <a:cs typeface="Helvetica Neue"/>
                <a:sym typeface="Helvetica Neue"/>
              </a:rPr>
              <a:t>One Lambda </a:t>
            </a:r>
            <a:r>
              <a:rPr b="0" i="0" lang="en-US" sz="1550" u="none" cap="none" strike="noStrike">
                <a:solidFill>
                  <a:srgbClr val="3A4A5A"/>
                </a:solidFill>
                <a:latin typeface="Helvetica Neue"/>
                <a:ea typeface="Helvetica Neue"/>
                <a:cs typeface="Helvetica Neue"/>
                <a:sym typeface="Helvetica Neue"/>
              </a:rPr>
              <a:t>calls </a:t>
            </a:r>
            <a:r>
              <a:rPr b="1" i="0" lang="en-US" sz="1550" u="none" cap="none" strike="noStrike">
                <a:solidFill>
                  <a:srgbClr val="1F2A37"/>
                </a:solidFill>
                <a:latin typeface="Helvetica Neue"/>
                <a:ea typeface="Helvetica Neue"/>
                <a:cs typeface="Helvetica Neue"/>
                <a:sym typeface="Helvetica Neue"/>
              </a:rPr>
              <a:t>Alpha Vantage </a:t>
            </a:r>
            <a:r>
              <a:rPr b="0" i="0" lang="en-US" sz="1550" u="none" cap="none" strike="noStrike">
                <a:solidFill>
                  <a:srgbClr val="3A4A5A"/>
                </a:solidFill>
                <a:latin typeface="Helvetica Neue"/>
                <a:ea typeface="Helvetica Neue"/>
                <a:cs typeface="Helvetica Neue"/>
                <a:sym typeface="Helvetica Neue"/>
              </a:rPr>
              <a:t>(prices + news) and publishes to two SQS queues.</a:t>
            </a:r>
            <a:endParaRPr b="0" i="0" sz="1550" u="none" cap="none" strike="noStrike">
              <a:solidFill>
                <a:schemeClr val="dk1"/>
              </a:solidFill>
              <a:latin typeface="Calibri"/>
              <a:ea typeface="Calibri"/>
              <a:cs typeface="Calibri"/>
              <a:sym typeface="Calibri"/>
            </a:endParaRPr>
          </a:p>
        </p:txBody>
      </p:sp>
      <p:sp>
        <p:nvSpPr>
          <p:cNvPr id="94" name="Google Shape;94;p4"/>
          <p:cNvSpPr/>
          <p:nvPr/>
        </p:nvSpPr>
        <p:spPr>
          <a:xfrm>
            <a:off x="9716198" y="6802283"/>
            <a:ext cx="8733600" cy="914100"/>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1F2A37"/>
              </a:buClr>
              <a:buSzPts val="1950"/>
              <a:buFont typeface="Helvetica Neue"/>
              <a:buNone/>
            </a:pPr>
            <a:r>
              <a:rPr b="1" i="0" lang="en-US" sz="1550" u="none" cap="none" strike="noStrike">
                <a:solidFill>
                  <a:srgbClr val="1F2A37"/>
                </a:solidFill>
                <a:latin typeface="Helvetica Neue"/>
                <a:ea typeface="Helvetica Neue"/>
                <a:cs typeface="Helvetica Neue"/>
                <a:sym typeface="Helvetica Neue"/>
              </a:rPr>
              <a:t>9 API keys rotated </a:t>
            </a:r>
            <a:r>
              <a:rPr b="0" i="0" lang="en-US" sz="1550" u="none" cap="none" strike="noStrike">
                <a:solidFill>
                  <a:srgbClr val="3A4A5A"/>
                </a:solidFill>
                <a:latin typeface="Helvetica Neue"/>
                <a:ea typeface="Helvetica Neue"/>
                <a:cs typeface="Helvetica Neue"/>
                <a:sym typeface="Helvetica Neue"/>
              </a:rPr>
              <a:t>in-flight · Alpha Vantage free tier is 25 req/day/key.</a:t>
            </a:r>
            <a:endParaRPr b="0" i="0" sz="1550" u="none" cap="none" strike="noStrike">
              <a:solidFill>
                <a:schemeClr val="dk1"/>
              </a:solidFill>
              <a:latin typeface="Calibri"/>
              <a:ea typeface="Calibri"/>
              <a:cs typeface="Calibri"/>
              <a:sym typeface="Calibri"/>
            </a:endParaRPr>
          </a:p>
        </p:txBody>
      </p:sp>
      <p:sp>
        <p:nvSpPr>
          <p:cNvPr id="95" name="Google Shape;95;p4"/>
          <p:cNvSpPr/>
          <p:nvPr/>
        </p:nvSpPr>
        <p:spPr>
          <a:xfrm>
            <a:off x="9720323" y="7285259"/>
            <a:ext cx="8733600" cy="480600"/>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1F2A37"/>
              </a:buClr>
              <a:buSzPts val="1950"/>
              <a:buFont typeface="Helvetica Neue"/>
              <a:buNone/>
            </a:pPr>
            <a:r>
              <a:rPr b="1" lang="en-US" sz="1550">
                <a:solidFill>
                  <a:srgbClr val="1F2A37"/>
                </a:solidFill>
                <a:latin typeface="Helvetica Neue"/>
                <a:ea typeface="Helvetica Neue"/>
                <a:cs typeface="Helvetica Neue"/>
                <a:sym typeface="Helvetica Neue"/>
              </a:rPr>
              <a:t>Messages</a:t>
            </a:r>
            <a:r>
              <a:rPr lang="en-US" sz="1550">
                <a:solidFill>
                  <a:srgbClr val="3A4A5A"/>
                </a:solidFill>
                <a:latin typeface="Helvetica Neue"/>
                <a:ea typeface="Helvetica Neue"/>
                <a:cs typeface="Helvetica Neue"/>
                <a:sym typeface="Helvetica Neue"/>
              </a:rPr>
              <a:t> go to 2 SQS queues (one for prices, one for news)</a:t>
            </a:r>
            <a:endParaRPr sz="1550">
              <a:solidFill>
                <a:srgbClr val="3A4A5A"/>
              </a:solidFill>
              <a:latin typeface="Helvetica Neue"/>
              <a:ea typeface="Helvetica Neue"/>
              <a:cs typeface="Helvetica Neue"/>
              <a:sym typeface="Helvetica Neue"/>
            </a:endParaRPr>
          </a:p>
          <a:p>
            <a:pPr indent="0" lvl="0" marL="0" marR="0" rtl="0" algn="l">
              <a:lnSpc>
                <a:spcPct val="140000"/>
              </a:lnSpc>
              <a:spcBef>
                <a:spcPts val="0"/>
              </a:spcBef>
              <a:spcAft>
                <a:spcPts val="0"/>
              </a:spcAft>
              <a:buClr>
                <a:srgbClr val="1F2A37"/>
              </a:buClr>
              <a:buSzPts val="1950"/>
              <a:buFont typeface="Helvetica Neue"/>
              <a:buNone/>
            </a:pPr>
            <a:r>
              <a:t/>
            </a:r>
            <a:endParaRPr sz="1550">
              <a:solidFill>
                <a:srgbClr val="3A4A5A"/>
              </a:solidFill>
              <a:latin typeface="Helvetica Neue"/>
              <a:ea typeface="Helvetica Neue"/>
              <a:cs typeface="Helvetica Neue"/>
              <a:sym typeface="Helvetica Neue"/>
            </a:endParaRPr>
          </a:p>
        </p:txBody>
      </p:sp>
      <p:sp>
        <p:nvSpPr>
          <p:cNvPr id="96" name="Google Shape;96;p4"/>
          <p:cNvSpPr/>
          <p:nvPr/>
        </p:nvSpPr>
        <p:spPr>
          <a:xfrm>
            <a:off x="1335505" y="8545116"/>
            <a:ext cx="1962300" cy="933600"/>
          </a:xfrm>
          <a:prstGeom prst="roundRect">
            <a:avLst>
              <a:gd fmla="val 4082" name="adj"/>
            </a:avLst>
          </a:prstGeom>
          <a:solidFill>
            <a:srgbClr val="FFFFFF"/>
          </a:solidFill>
          <a:ln cap="flat" cmpd="sng" w="9525">
            <a:solidFill>
              <a:srgbClr val="E2E5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4"/>
          <p:cNvSpPr/>
          <p:nvPr/>
        </p:nvSpPr>
        <p:spPr>
          <a:xfrm>
            <a:off x="1335505" y="8511791"/>
            <a:ext cx="1600200" cy="1905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900"/>
              <a:buFont typeface="Courier New"/>
              <a:buNone/>
            </a:pPr>
            <a:r>
              <a:rPr b="0" i="0" lang="en-US" u="none" cap="none" strike="noStrike">
                <a:solidFill>
                  <a:srgbClr val="8A94A6"/>
                </a:solidFill>
                <a:latin typeface="Courier New"/>
                <a:ea typeface="Courier New"/>
                <a:cs typeface="Courier New"/>
                <a:sym typeface="Courier New"/>
              </a:rPr>
              <a:t>CADENCE</a:t>
            </a:r>
            <a:endParaRPr b="0" i="0" u="none" cap="none" strike="noStrike">
              <a:solidFill>
                <a:schemeClr val="dk1"/>
              </a:solidFill>
              <a:latin typeface="Calibri"/>
              <a:ea typeface="Calibri"/>
              <a:cs typeface="Calibri"/>
              <a:sym typeface="Calibri"/>
            </a:endParaRPr>
          </a:p>
        </p:txBody>
      </p:sp>
      <p:sp>
        <p:nvSpPr>
          <p:cNvPr id="98" name="Google Shape;98;p4"/>
          <p:cNvSpPr/>
          <p:nvPr/>
        </p:nvSpPr>
        <p:spPr>
          <a:xfrm>
            <a:off x="1554580" y="8954691"/>
            <a:ext cx="1600200" cy="3048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F5A623"/>
              </a:buClr>
              <a:buSzPts val="2100"/>
              <a:buFont typeface="Helvetica Neue"/>
              <a:buNone/>
            </a:pPr>
            <a:r>
              <a:rPr b="1" i="0" lang="en-US" sz="2100" u="none" cap="none" strike="noStrike">
                <a:solidFill>
                  <a:srgbClr val="F5A623"/>
                </a:solidFill>
                <a:latin typeface="Helvetica Neue"/>
                <a:ea typeface="Helvetica Neue"/>
                <a:cs typeface="Helvetica Neue"/>
                <a:sym typeface="Helvetica Neue"/>
              </a:rPr>
              <a:t>Hourly</a:t>
            </a:r>
            <a:endParaRPr b="0" i="0" sz="2100" u="none" cap="none" strike="noStrike">
              <a:solidFill>
                <a:schemeClr val="dk1"/>
              </a:solidFill>
              <a:latin typeface="Calibri"/>
              <a:ea typeface="Calibri"/>
              <a:cs typeface="Calibri"/>
              <a:sym typeface="Calibri"/>
            </a:endParaRPr>
          </a:p>
        </p:txBody>
      </p:sp>
      <p:sp>
        <p:nvSpPr>
          <p:cNvPr id="99" name="Google Shape;99;p4"/>
          <p:cNvSpPr/>
          <p:nvPr/>
        </p:nvSpPr>
        <p:spPr>
          <a:xfrm>
            <a:off x="3481062" y="8558105"/>
            <a:ext cx="1962300" cy="933600"/>
          </a:xfrm>
          <a:prstGeom prst="roundRect">
            <a:avLst>
              <a:gd fmla="val 4082" name="adj"/>
            </a:avLst>
          </a:prstGeom>
          <a:solidFill>
            <a:srgbClr val="FFFFFF"/>
          </a:solidFill>
          <a:ln cap="flat" cmpd="sng" w="9525">
            <a:solidFill>
              <a:srgbClr val="E2E5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4"/>
          <p:cNvSpPr/>
          <p:nvPr/>
        </p:nvSpPr>
        <p:spPr>
          <a:xfrm>
            <a:off x="3481049" y="8524767"/>
            <a:ext cx="1600200" cy="1905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900"/>
              <a:buFont typeface="Courier New"/>
              <a:buNone/>
            </a:pPr>
            <a:r>
              <a:rPr b="0" i="0" lang="en-US" u="none" cap="none" strike="noStrike">
                <a:solidFill>
                  <a:srgbClr val="8A94A6"/>
                </a:solidFill>
                <a:latin typeface="Courier New"/>
                <a:ea typeface="Courier New"/>
                <a:cs typeface="Courier New"/>
                <a:sym typeface="Courier New"/>
              </a:rPr>
              <a:t>API KEYS</a:t>
            </a:r>
            <a:endParaRPr b="0" i="0" u="none" cap="none" strike="noStrike">
              <a:solidFill>
                <a:schemeClr val="dk1"/>
              </a:solidFill>
              <a:latin typeface="Calibri"/>
              <a:ea typeface="Calibri"/>
              <a:cs typeface="Calibri"/>
              <a:sym typeface="Calibri"/>
            </a:endParaRPr>
          </a:p>
        </p:txBody>
      </p:sp>
      <p:sp>
        <p:nvSpPr>
          <p:cNvPr id="101" name="Google Shape;101;p4"/>
          <p:cNvSpPr/>
          <p:nvPr/>
        </p:nvSpPr>
        <p:spPr>
          <a:xfrm>
            <a:off x="3700137" y="8967680"/>
            <a:ext cx="1600200" cy="3810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F5A623"/>
              </a:buClr>
              <a:buSzPts val="2700"/>
              <a:buFont typeface="Helvetica Neue"/>
              <a:buNone/>
            </a:pPr>
            <a:r>
              <a:rPr b="1" i="0" lang="en-US" sz="2700" u="none" cap="none" strike="noStrike">
                <a:solidFill>
                  <a:srgbClr val="F5A623"/>
                </a:solidFill>
                <a:latin typeface="Helvetica Neue"/>
                <a:ea typeface="Helvetica Neue"/>
                <a:cs typeface="Helvetica Neue"/>
                <a:sym typeface="Helvetica Neue"/>
              </a:rPr>
              <a:t>9</a:t>
            </a:r>
            <a:endParaRPr b="0" i="0" sz="2700" u="none" cap="none" strike="noStrike">
              <a:solidFill>
                <a:schemeClr val="dk1"/>
              </a:solidFill>
              <a:latin typeface="Calibri"/>
              <a:ea typeface="Calibri"/>
              <a:cs typeface="Calibri"/>
              <a:sym typeface="Calibri"/>
            </a:endParaRPr>
          </a:p>
        </p:txBody>
      </p:sp>
      <p:sp>
        <p:nvSpPr>
          <p:cNvPr id="102" name="Google Shape;102;p4"/>
          <p:cNvSpPr/>
          <p:nvPr/>
        </p:nvSpPr>
        <p:spPr>
          <a:xfrm>
            <a:off x="5706904" y="8539968"/>
            <a:ext cx="1962300" cy="933600"/>
          </a:xfrm>
          <a:prstGeom prst="roundRect">
            <a:avLst>
              <a:gd fmla="val 4082" name="adj"/>
            </a:avLst>
          </a:prstGeom>
          <a:solidFill>
            <a:srgbClr val="FFFFFF"/>
          </a:solidFill>
          <a:ln cap="flat" cmpd="sng" w="9525">
            <a:solidFill>
              <a:srgbClr val="E2E5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3" name="Google Shape;103;p4"/>
          <p:cNvSpPr/>
          <p:nvPr/>
        </p:nvSpPr>
        <p:spPr>
          <a:xfrm>
            <a:off x="5706892" y="8521332"/>
            <a:ext cx="1600200" cy="1905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900"/>
              <a:buFont typeface="Courier New"/>
              <a:buNone/>
            </a:pPr>
            <a:r>
              <a:rPr b="0" i="0" lang="en-US" u="none" cap="none" strike="noStrike">
                <a:solidFill>
                  <a:srgbClr val="8A94A6"/>
                </a:solidFill>
                <a:latin typeface="Courier New"/>
                <a:ea typeface="Courier New"/>
                <a:cs typeface="Courier New"/>
                <a:sym typeface="Courier New"/>
              </a:rPr>
              <a:t>TICKERS</a:t>
            </a:r>
            <a:endParaRPr b="0" i="0" u="none" cap="none" strike="noStrike">
              <a:solidFill>
                <a:schemeClr val="dk1"/>
              </a:solidFill>
              <a:latin typeface="Calibri"/>
              <a:ea typeface="Calibri"/>
              <a:cs typeface="Calibri"/>
              <a:sym typeface="Calibri"/>
            </a:endParaRPr>
          </a:p>
        </p:txBody>
      </p:sp>
      <p:sp>
        <p:nvSpPr>
          <p:cNvPr id="104" name="Google Shape;104;p4"/>
          <p:cNvSpPr/>
          <p:nvPr/>
        </p:nvSpPr>
        <p:spPr>
          <a:xfrm>
            <a:off x="5925979" y="8949543"/>
            <a:ext cx="1600200" cy="3810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F5A623"/>
              </a:buClr>
              <a:buSzPts val="2700"/>
              <a:buFont typeface="Helvetica Neue"/>
              <a:buNone/>
            </a:pPr>
            <a:r>
              <a:rPr b="1" i="0" lang="en-US" sz="2700" u="none" cap="none" strike="noStrike">
                <a:solidFill>
                  <a:srgbClr val="F5A623"/>
                </a:solidFill>
                <a:latin typeface="Helvetica Neue"/>
                <a:ea typeface="Helvetica Neue"/>
                <a:cs typeface="Helvetica Neue"/>
                <a:sym typeface="Helvetica Neue"/>
              </a:rPr>
              <a:t>3</a:t>
            </a:r>
            <a:endParaRPr b="0" i="0" sz="2700" u="none" cap="none" strike="noStrike">
              <a:solidFill>
                <a:schemeClr val="dk1"/>
              </a:solidFill>
              <a:latin typeface="Calibri"/>
              <a:ea typeface="Calibri"/>
              <a:cs typeface="Calibri"/>
              <a:sym typeface="Calibri"/>
            </a:endParaRPr>
          </a:p>
        </p:txBody>
      </p:sp>
      <p:sp>
        <p:nvSpPr>
          <p:cNvPr id="105" name="Google Shape;105;p4"/>
          <p:cNvSpPr/>
          <p:nvPr/>
        </p:nvSpPr>
        <p:spPr>
          <a:xfrm>
            <a:off x="914400" y="9496425"/>
            <a:ext cx="16459200" cy="9600"/>
          </a:xfrm>
          <a:prstGeom prst="rect">
            <a:avLst/>
          </a:prstGeom>
          <a:solidFill>
            <a:srgbClr val="E2E5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4"/>
          <p:cNvSpPr/>
          <p:nvPr/>
        </p:nvSpPr>
        <p:spPr>
          <a:xfrm>
            <a:off x="914400" y="9658350"/>
            <a:ext cx="6985101" cy="2095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975"/>
              <a:buFont typeface="Courier New"/>
              <a:buNone/>
            </a:pPr>
            <a:r>
              <a:rPr b="0" i="0" lang="en-US" sz="975" u="none" cap="none" strike="noStrike">
                <a:solidFill>
                  <a:srgbClr val="8A94A6"/>
                </a:solidFill>
                <a:latin typeface="Courier New"/>
                <a:ea typeface="Courier New"/>
                <a:cs typeface="Courier New"/>
                <a:sym typeface="Courier New"/>
              </a:rPr>
              <a:t>TEAM 11_02 · NEAR-REAL-TIME FINANCIAL FORECASTING ON AWS · CCBDA-MIRI 2026</a:t>
            </a:r>
            <a:endParaRPr b="0" i="0" sz="975" u="none" cap="none" strike="noStrike">
              <a:solidFill>
                <a:schemeClr val="dk1"/>
              </a:solidFill>
              <a:latin typeface="Calibri"/>
              <a:ea typeface="Calibri"/>
              <a:cs typeface="Calibri"/>
              <a:sym typeface="Calibri"/>
            </a:endParaRPr>
          </a:p>
        </p:txBody>
      </p:sp>
      <p:sp>
        <p:nvSpPr>
          <p:cNvPr id="107" name="Google Shape;107;p4"/>
          <p:cNvSpPr/>
          <p:nvPr/>
        </p:nvSpPr>
        <p:spPr>
          <a:xfrm>
            <a:off x="16732002" y="9658350"/>
            <a:ext cx="717798" cy="2095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975"/>
              <a:buFont typeface="Courier New"/>
              <a:buNone/>
            </a:pPr>
            <a:r>
              <a:rPr b="0" i="0" lang="en-US" sz="975" u="none" cap="none" strike="noStrike">
                <a:solidFill>
                  <a:srgbClr val="8A94A6"/>
                </a:solidFill>
                <a:latin typeface="Courier New"/>
                <a:ea typeface="Courier New"/>
                <a:cs typeface="Courier New"/>
                <a:sym typeface="Courier New"/>
              </a:rPr>
              <a:t>04 / 14</a:t>
            </a:r>
            <a:endParaRPr b="0" i="0" sz="975" u="none" cap="none" strike="noStrike">
              <a:solidFill>
                <a:schemeClr val="dk1"/>
              </a:solidFill>
              <a:latin typeface="Calibri"/>
              <a:ea typeface="Calibri"/>
              <a:cs typeface="Calibri"/>
              <a:sym typeface="Calibri"/>
            </a:endParaRPr>
          </a:p>
        </p:txBody>
      </p:sp>
      <p:pic>
        <p:nvPicPr>
          <p:cNvPr id="108" name="Google Shape;108;p4"/>
          <p:cNvPicPr preferRelativeResize="0"/>
          <p:nvPr/>
        </p:nvPicPr>
        <p:blipFill>
          <a:blip r:embed="rId3">
            <a:alphaModFix/>
          </a:blip>
          <a:stretch>
            <a:fillRect/>
          </a:stretch>
        </p:blipFill>
        <p:spPr>
          <a:xfrm>
            <a:off x="932863" y="1973900"/>
            <a:ext cx="14554200" cy="3390900"/>
          </a:xfrm>
          <a:prstGeom prst="rect">
            <a:avLst/>
          </a:prstGeom>
          <a:noFill/>
          <a:ln>
            <a:noFill/>
          </a:ln>
        </p:spPr>
      </p:pic>
      <p:pic>
        <p:nvPicPr>
          <p:cNvPr id="109" name="Google Shape;109;p4"/>
          <p:cNvPicPr preferRelativeResize="0"/>
          <p:nvPr/>
        </p:nvPicPr>
        <p:blipFill>
          <a:blip r:embed="rId4">
            <a:alphaModFix/>
          </a:blip>
          <a:stretch>
            <a:fillRect/>
          </a:stretch>
        </p:blipFill>
        <p:spPr>
          <a:xfrm>
            <a:off x="914400" y="5365325"/>
            <a:ext cx="7892724" cy="28580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2"/>
        </a:solidFill>
      </p:bgPr>
    </p:bg>
    <p:spTree>
      <p:nvGrpSpPr>
        <p:cNvPr id="114" name="Shape 114"/>
        <p:cNvGrpSpPr/>
        <p:nvPr/>
      </p:nvGrpSpPr>
      <p:grpSpPr>
        <a:xfrm>
          <a:off x="0" y="0"/>
          <a:ext cx="0" cy="0"/>
          <a:chOff x="0" y="0"/>
          <a:chExt cx="0" cy="0"/>
        </a:xfrm>
      </p:grpSpPr>
      <p:sp>
        <p:nvSpPr>
          <p:cNvPr id="115" name="Google Shape;115;p5"/>
          <p:cNvSpPr/>
          <p:nvPr/>
        </p:nvSpPr>
        <p:spPr>
          <a:xfrm>
            <a:off x="914400" y="647700"/>
            <a:ext cx="2692131" cy="2571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F2A37"/>
              </a:buClr>
              <a:buSzPts val="1500"/>
              <a:buFont typeface="Helvetica Neue"/>
              <a:buNone/>
            </a:pPr>
            <a:r>
              <a:rPr b="1" i="0" lang="en-US" sz="1500" u="none" cap="none" strike="noStrike">
                <a:solidFill>
                  <a:srgbClr val="1F2A37"/>
                </a:solidFill>
                <a:latin typeface="Helvetica Neue"/>
                <a:ea typeface="Helvetica Neue"/>
                <a:cs typeface="Helvetica Neue"/>
                <a:sym typeface="Helvetica Neue"/>
              </a:rPr>
              <a:t>05 · ETL WITH GLUE</a:t>
            </a:r>
            <a:endParaRPr b="0" i="0" sz="1500" u="none" cap="none" strike="noStrike">
              <a:solidFill>
                <a:schemeClr val="dk1"/>
              </a:solidFill>
              <a:latin typeface="Calibri"/>
              <a:ea typeface="Calibri"/>
              <a:cs typeface="Calibri"/>
              <a:sym typeface="Calibri"/>
            </a:endParaRPr>
          </a:p>
        </p:txBody>
      </p:sp>
      <p:sp>
        <p:nvSpPr>
          <p:cNvPr id="116" name="Google Shape;116;p5"/>
          <p:cNvSpPr/>
          <p:nvPr/>
        </p:nvSpPr>
        <p:spPr>
          <a:xfrm>
            <a:off x="15239554" y="647700"/>
            <a:ext cx="2210246" cy="2381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1200"/>
              <a:buFont typeface="Courier New"/>
              <a:buNone/>
            </a:pPr>
            <a:r>
              <a:rPr b="0" i="0" lang="en-US" sz="1200" u="none" cap="none" strike="noStrike">
                <a:solidFill>
                  <a:srgbClr val="8A94A6"/>
                </a:solidFill>
                <a:latin typeface="Courier New"/>
                <a:ea typeface="Courier New"/>
                <a:cs typeface="Courier New"/>
                <a:sym typeface="Courier New"/>
              </a:rPr>
              <a:t>SPEAKER · </a:t>
            </a:r>
            <a:r>
              <a:rPr b="1" i="0" lang="en-US" sz="1200" u="none" cap="none" strike="noStrike">
                <a:solidFill>
                  <a:srgbClr val="1F2A37"/>
                </a:solidFill>
                <a:latin typeface="Courier New"/>
                <a:ea typeface="Courier New"/>
                <a:cs typeface="Courier New"/>
                <a:sym typeface="Courier New"/>
              </a:rPr>
              <a:t>DALIBOR</a:t>
            </a:r>
            <a:endParaRPr b="0" i="0" sz="1200" u="none" cap="none" strike="noStrike">
              <a:solidFill>
                <a:schemeClr val="dk1"/>
              </a:solidFill>
              <a:latin typeface="Calibri"/>
              <a:ea typeface="Calibri"/>
              <a:cs typeface="Calibri"/>
              <a:sym typeface="Calibri"/>
            </a:endParaRPr>
          </a:p>
        </p:txBody>
      </p:sp>
      <p:sp>
        <p:nvSpPr>
          <p:cNvPr id="117" name="Google Shape;117;p5"/>
          <p:cNvSpPr/>
          <p:nvPr/>
        </p:nvSpPr>
        <p:spPr>
          <a:xfrm>
            <a:off x="914400" y="1143000"/>
            <a:ext cx="16952976" cy="592782"/>
          </a:xfrm>
          <a:prstGeom prst="rect">
            <a:avLst/>
          </a:prstGeom>
          <a:noFill/>
          <a:ln>
            <a:noFill/>
          </a:ln>
        </p:spPr>
        <p:txBody>
          <a:bodyPr anchorCtr="0" anchor="t" bIns="25400" lIns="25400" spcFirstLastPara="1" rIns="25400" wrap="square" tIns="25400">
            <a:normAutofit/>
          </a:bodyPr>
          <a:lstStyle/>
          <a:p>
            <a:pPr indent="0" lvl="0" marL="0" marR="0" rtl="0" algn="l">
              <a:lnSpc>
                <a:spcPct val="104000"/>
              </a:lnSpc>
              <a:spcBef>
                <a:spcPts val="0"/>
              </a:spcBef>
              <a:spcAft>
                <a:spcPts val="0"/>
              </a:spcAft>
              <a:buClr>
                <a:srgbClr val="1F2A37"/>
              </a:buClr>
              <a:buSzPts val="4200"/>
              <a:buFont typeface="Helvetica Neue"/>
              <a:buNone/>
            </a:pPr>
            <a:r>
              <a:rPr b="1" i="0" lang="en-US" sz="4200" u="none" cap="none" strike="noStrike">
                <a:solidFill>
                  <a:srgbClr val="1F2A37"/>
                </a:solidFill>
                <a:latin typeface="Helvetica Neue"/>
                <a:ea typeface="Helvetica Neue"/>
                <a:cs typeface="Helvetica Neue"/>
                <a:sym typeface="Helvetica Neue"/>
              </a:rPr>
              <a:t>Glue Python </a:t>
            </a:r>
            <a:r>
              <a:rPr b="1" lang="en-US" sz="4200">
                <a:solidFill>
                  <a:srgbClr val="1F2A37"/>
                </a:solidFill>
                <a:latin typeface="Helvetica Neue"/>
                <a:ea typeface="Helvetica Neue"/>
                <a:cs typeface="Helvetica Neue"/>
                <a:sym typeface="Helvetica Neue"/>
              </a:rPr>
              <a:t>Shell </a:t>
            </a:r>
            <a:r>
              <a:rPr b="1" i="0" lang="en-US" sz="4200" u="none" cap="none" strike="noStrike">
                <a:solidFill>
                  <a:srgbClr val="1F2A37"/>
                </a:solidFill>
                <a:latin typeface="Helvetica Neue"/>
                <a:ea typeface="Helvetica Neue"/>
                <a:cs typeface="Helvetica Neue"/>
                <a:sym typeface="Helvetica Neue"/>
              </a:rPr>
              <a:t>· SQS messages → partitioned Parquet.</a:t>
            </a:r>
            <a:endParaRPr b="0" i="0" sz="4200" u="none" cap="none" strike="noStrike">
              <a:solidFill>
                <a:schemeClr val="dk1"/>
              </a:solidFill>
              <a:latin typeface="Calibri"/>
              <a:ea typeface="Calibri"/>
              <a:cs typeface="Calibri"/>
              <a:sym typeface="Calibri"/>
            </a:endParaRPr>
          </a:p>
        </p:txBody>
      </p:sp>
      <p:sp>
        <p:nvSpPr>
          <p:cNvPr id="118" name="Google Shape;118;p5"/>
          <p:cNvSpPr/>
          <p:nvPr/>
        </p:nvSpPr>
        <p:spPr>
          <a:xfrm>
            <a:off x="914400" y="2476500"/>
            <a:ext cx="7773027" cy="2190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1050"/>
              <a:buFont typeface="Courier New"/>
              <a:buNone/>
            </a:pPr>
            <a:r>
              <a:rPr b="0" i="0" lang="en-US" sz="1050" u="none" cap="none" strike="noStrike">
                <a:solidFill>
                  <a:srgbClr val="8A94A6"/>
                </a:solidFill>
                <a:latin typeface="Courier New"/>
                <a:ea typeface="Courier New"/>
                <a:cs typeface="Courier New"/>
                <a:sym typeface="Courier New"/>
              </a:rPr>
              <a:t>SIX-STEP TRANSFORM</a:t>
            </a:r>
            <a:endParaRPr b="0" i="0" sz="1050" u="none" cap="none" strike="noStrike">
              <a:solidFill>
                <a:schemeClr val="dk1"/>
              </a:solidFill>
              <a:latin typeface="Calibri"/>
              <a:ea typeface="Calibri"/>
              <a:cs typeface="Calibri"/>
              <a:sym typeface="Calibri"/>
            </a:endParaRPr>
          </a:p>
        </p:txBody>
      </p:sp>
      <p:sp>
        <p:nvSpPr>
          <p:cNvPr id="119" name="Google Shape;119;p5"/>
          <p:cNvSpPr/>
          <p:nvPr/>
        </p:nvSpPr>
        <p:spPr>
          <a:xfrm>
            <a:off x="914400" y="2867025"/>
            <a:ext cx="400050" cy="358080"/>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1F2A37"/>
              </a:buClr>
              <a:buSzPts val="1200"/>
              <a:buFont typeface="Courier New"/>
              <a:buNone/>
            </a:pPr>
            <a:r>
              <a:rPr b="0" i="0" lang="en-US" sz="1200" u="none" cap="none" strike="noStrike">
                <a:solidFill>
                  <a:srgbClr val="1F2A37"/>
                </a:solidFill>
                <a:latin typeface="Courier New"/>
                <a:ea typeface="Courier New"/>
                <a:cs typeface="Courier New"/>
                <a:sym typeface="Courier New"/>
              </a:rPr>
              <a:t>01</a:t>
            </a:r>
            <a:endParaRPr b="0" i="0" sz="1200" u="none" cap="none" strike="noStrike">
              <a:solidFill>
                <a:schemeClr val="dk1"/>
              </a:solidFill>
              <a:latin typeface="Calibri"/>
              <a:ea typeface="Calibri"/>
              <a:cs typeface="Calibri"/>
              <a:sym typeface="Calibri"/>
            </a:endParaRPr>
          </a:p>
        </p:txBody>
      </p:sp>
      <p:sp>
        <p:nvSpPr>
          <p:cNvPr id="120" name="Google Shape;120;p5"/>
          <p:cNvSpPr/>
          <p:nvPr/>
        </p:nvSpPr>
        <p:spPr>
          <a:xfrm>
            <a:off x="1371600" y="2895600"/>
            <a:ext cx="3689915" cy="295275"/>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A37"/>
              </a:buClr>
              <a:buSzPts val="1800"/>
              <a:buFont typeface="Helvetica Neue"/>
              <a:buNone/>
            </a:pPr>
            <a:r>
              <a:rPr b="0" i="0" lang="en-US" sz="1800" u="none" cap="none" strike="noStrike">
                <a:solidFill>
                  <a:srgbClr val="1F2A37"/>
                </a:solidFill>
                <a:latin typeface="Helvetica Neue"/>
                <a:ea typeface="Helvetica Neue"/>
                <a:cs typeface="Helvetica Neue"/>
                <a:sym typeface="Helvetica Neue"/>
              </a:rPr>
              <a:t>Drain SQS price messages (JSON)</a:t>
            </a:r>
            <a:endParaRPr b="0" i="0" sz="1800" u="none" cap="none" strike="noStrike">
              <a:solidFill>
                <a:schemeClr val="dk1"/>
              </a:solidFill>
              <a:latin typeface="Calibri"/>
              <a:ea typeface="Calibri"/>
              <a:cs typeface="Calibri"/>
              <a:sym typeface="Calibri"/>
            </a:endParaRPr>
          </a:p>
        </p:txBody>
      </p:sp>
      <p:sp>
        <p:nvSpPr>
          <p:cNvPr id="121" name="Google Shape;121;p5"/>
          <p:cNvSpPr/>
          <p:nvPr/>
        </p:nvSpPr>
        <p:spPr>
          <a:xfrm>
            <a:off x="914400" y="3320355"/>
            <a:ext cx="400050" cy="358080"/>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1F2A37"/>
              </a:buClr>
              <a:buSzPts val="1200"/>
              <a:buFont typeface="Courier New"/>
              <a:buNone/>
            </a:pPr>
            <a:r>
              <a:rPr b="0" i="0" lang="en-US" sz="1200" u="none" cap="none" strike="noStrike">
                <a:solidFill>
                  <a:srgbClr val="1F2A37"/>
                </a:solidFill>
                <a:latin typeface="Courier New"/>
                <a:ea typeface="Courier New"/>
                <a:cs typeface="Courier New"/>
                <a:sym typeface="Courier New"/>
              </a:rPr>
              <a:t>02</a:t>
            </a:r>
            <a:endParaRPr b="0" i="0" sz="1200" u="none" cap="none" strike="noStrike">
              <a:solidFill>
                <a:schemeClr val="dk1"/>
              </a:solidFill>
              <a:latin typeface="Calibri"/>
              <a:ea typeface="Calibri"/>
              <a:cs typeface="Calibri"/>
              <a:sym typeface="Calibri"/>
            </a:endParaRPr>
          </a:p>
        </p:txBody>
      </p:sp>
      <p:sp>
        <p:nvSpPr>
          <p:cNvPr id="122" name="Google Shape;122;p5"/>
          <p:cNvSpPr/>
          <p:nvPr/>
        </p:nvSpPr>
        <p:spPr>
          <a:xfrm>
            <a:off x="1371600" y="3348925"/>
            <a:ext cx="6528000" cy="295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A37"/>
              </a:buClr>
              <a:buSzPts val="1800"/>
              <a:buFont typeface="Helvetica Neue"/>
              <a:buNone/>
            </a:pPr>
            <a:r>
              <a:rPr b="0" i="0" lang="en-US" sz="1800" u="none" cap="none" strike="noStrike">
                <a:solidFill>
                  <a:srgbClr val="1F2A37"/>
                </a:solidFill>
                <a:latin typeface="Helvetica Neue"/>
                <a:ea typeface="Helvetica Neue"/>
                <a:cs typeface="Helvetica Neue"/>
                <a:sym typeface="Helvetica Neue"/>
              </a:rPr>
              <a:t>Drop duplicates on (ticker, timestamp) and round </a:t>
            </a:r>
            <a:r>
              <a:rPr lang="en-US" sz="1800">
                <a:solidFill>
                  <a:srgbClr val="1F2A37"/>
                </a:solidFill>
                <a:latin typeface="Helvetica Neue"/>
                <a:ea typeface="Helvetica Neue"/>
                <a:cs typeface="Helvetica Neue"/>
                <a:sym typeface="Helvetica Neue"/>
              </a:rPr>
              <a:t>timestamps</a:t>
            </a:r>
            <a:endParaRPr b="0" i="0" sz="1800" u="none" cap="none" strike="noStrike">
              <a:solidFill>
                <a:schemeClr val="dk1"/>
              </a:solidFill>
              <a:latin typeface="Calibri"/>
              <a:ea typeface="Calibri"/>
              <a:cs typeface="Calibri"/>
              <a:sym typeface="Calibri"/>
            </a:endParaRPr>
          </a:p>
        </p:txBody>
      </p:sp>
      <p:sp>
        <p:nvSpPr>
          <p:cNvPr id="123" name="Google Shape;123;p5"/>
          <p:cNvSpPr/>
          <p:nvPr/>
        </p:nvSpPr>
        <p:spPr>
          <a:xfrm>
            <a:off x="914400" y="3773686"/>
            <a:ext cx="400050" cy="358080"/>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1F2A37"/>
              </a:buClr>
              <a:buSzPts val="1200"/>
              <a:buFont typeface="Courier New"/>
              <a:buNone/>
            </a:pPr>
            <a:r>
              <a:rPr b="0" i="0" lang="en-US" sz="1200" u="none" cap="none" strike="noStrike">
                <a:solidFill>
                  <a:srgbClr val="1F2A37"/>
                </a:solidFill>
                <a:latin typeface="Courier New"/>
                <a:ea typeface="Courier New"/>
                <a:cs typeface="Courier New"/>
                <a:sym typeface="Courier New"/>
              </a:rPr>
              <a:t>03</a:t>
            </a:r>
            <a:endParaRPr b="0" i="0" sz="1200" u="none" cap="none" strike="noStrike">
              <a:solidFill>
                <a:schemeClr val="dk1"/>
              </a:solidFill>
              <a:latin typeface="Calibri"/>
              <a:ea typeface="Calibri"/>
              <a:cs typeface="Calibri"/>
              <a:sym typeface="Calibri"/>
            </a:endParaRPr>
          </a:p>
        </p:txBody>
      </p:sp>
      <p:sp>
        <p:nvSpPr>
          <p:cNvPr id="124" name="Google Shape;124;p5"/>
          <p:cNvSpPr/>
          <p:nvPr/>
        </p:nvSpPr>
        <p:spPr>
          <a:xfrm>
            <a:off x="1371600" y="3802250"/>
            <a:ext cx="6664800" cy="295200"/>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A37"/>
              </a:buClr>
              <a:buSzPts val="1800"/>
              <a:buFont typeface="Helvetica Neue"/>
              <a:buNone/>
            </a:pPr>
            <a:r>
              <a:rPr b="0" i="0" lang="en-US" sz="1800" u="none" cap="none" strike="noStrike">
                <a:solidFill>
                  <a:srgbClr val="1F2A37"/>
                </a:solidFill>
                <a:latin typeface="Helvetica Neue"/>
                <a:ea typeface="Helvetica Neue"/>
                <a:cs typeface="Helvetica Neue"/>
                <a:sym typeface="Helvetica Neue"/>
              </a:rPr>
              <a:t>Align to a common 5-min time grid and gap fill</a:t>
            </a:r>
            <a:endParaRPr b="0" i="0" sz="1800" u="none" cap="none" strike="noStrike">
              <a:solidFill>
                <a:schemeClr val="dk1"/>
              </a:solidFill>
              <a:latin typeface="Calibri"/>
              <a:ea typeface="Calibri"/>
              <a:cs typeface="Calibri"/>
              <a:sym typeface="Calibri"/>
            </a:endParaRPr>
          </a:p>
        </p:txBody>
      </p:sp>
      <p:sp>
        <p:nvSpPr>
          <p:cNvPr id="125" name="Google Shape;125;p5"/>
          <p:cNvSpPr/>
          <p:nvPr/>
        </p:nvSpPr>
        <p:spPr>
          <a:xfrm>
            <a:off x="914400" y="4227016"/>
            <a:ext cx="400050" cy="358080"/>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1F2A37"/>
              </a:buClr>
              <a:buSzPts val="1200"/>
              <a:buFont typeface="Courier New"/>
              <a:buNone/>
            </a:pPr>
            <a:r>
              <a:rPr b="0" i="0" lang="en-US" sz="1200" u="none" cap="none" strike="noStrike">
                <a:solidFill>
                  <a:srgbClr val="1F2A37"/>
                </a:solidFill>
                <a:latin typeface="Courier New"/>
                <a:ea typeface="Courier New"/>
                <a:cs typeface="Courier New"/>
                <a:sym typeface="Courier New"/>
              </a:rPr>
              <a:t>04</a:t>
            </a:r>
            <a:endParaRPr b="0" i="0" sz="1200" u="none" cap="none" strike="noStrike">
              <a:solidFill>
                <a:schemeClr val="dk1"/>
              </a:solidFill>
              <a:latin typeface="Calibri"/>
              <a:ea typeface="Calibri"/>
              <a:cs typeface="Calibri"/>
              <a:sym typeface="Calibri"/>
            </a:endParaRPr>
          </a:p>
        </p:txBody>
      </p:sp>
      <p:sp>
        <p:nvSpPr>
          <p:cNvPr id="126" name="Google Shape;126;p5"/>
          <p:cNvSpPr/>
          <p:nvPr/>
        </p:nvSpPr>
        <p:spPr>
          <a:xfrm>
            <a:off x="1371600" y="4255591"/>
            <a:ext cx="3330596" cy="295275"/>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A37"/>
              </a:buClr>
              <a:buSzPts val="1800"/>
              <a:buFont typeface="Helvetica Neue"/>
              <a:buNone/>
            </a:pPr>
            <a:r>
              <a:rPr b="0" i="0" lang="en-US" sz="1800" u="none" cap="none" strike="noStrike">
                <a:solidFill>
                  <a:srgbClr val="1F2A37"/>
                </a:solidFill>
                <a:latin typeface="Helvetica Neue"/>
                <a:ea typeface="Helvetica Neue"/>
                <a:cs typeface="Helvetica Neue"/>
                <a:sym typeface="Helvetica Neue"/>
              </a:rPr>
              <a:t>Join price + sentiment per ticker</a:t>
            </a:r>
            <a:endParaRPr b="0" i="0" sz="1800" u="none" cap="none" strike="noStrike">
              <a:solidFill>
                <a:schemeClr val="dk1"/>
              </a:solidFill>
              <a:latin typeface="Calibri"/>
              <a:ea typeface="Calibri"/>
              <a:cs typeface="Calibri"/>
              <a:sym typeface="Calibri"/>
            </a:endParaRPr>
          </a:p>
        </p:txBody>
      </p:sp>
      <p:sp>
        <p:nvSpPr>
          <p:cNvPr id="127" name="Google Shape;127;p5"/>
          <p:cNvSpPr/>
          <p:nvPr/>
        </p:nvSpPr>
        <p:spPr>
          <a:xfrm>
            <a:off x="914400" y="4680347"/>
            <a:ext cx="400050" cy="358080"/>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1F2A37"/>
              </a:buClr>
              <a:buSzPts val="1200"/>
              <a:buFont typeface="Courier New"/>
              <a:buNone/>
            </a:pPr>
            <a:r>
              <a:rPr b="0" i="0" lang="en-US" sz="1200" u="none" cap="none" strike="noStrike">
                <a:solidFill>
                  <a:srgbClr val="1F2A37"/>
                </a:solidFill>
                <a:latin typeface="Courier New"/>
                <a:ea typeface="Courier New"/>
                <a:cs typeface="Courier New"/>
                <a:sym typeface="Courier New"/>
              </a:rPr>
              <a:t>05</a:t>
            </a:r>
            <a:endParaRPr b="0" i="0" sz="1200" u="none" cap="none" strike="noStrike">
              <a:solidFill>
                <a:schemeClr val="dk1"/>
              </a:solidFill>
              <a:latin typeface="Calibri"/>
              <a:ea typeface="Calibri"/>
              <a:cs typeface="Calibri"/>
              <a:sym typeface="Calibri"/>
            </a:endParaRPr>
          </a:p>
        </p:txBody>
      </p:sp>
      <p:sp>
        <p:nvSpPr>
          <p:cNvPr id="128" name="Google Shape;128;p5"/>
          <p:cNvSpPr/>
          <p:nvPr/>
        </p:nvSpPr>
        <p:spPr>
          <a:xfrm>
            <a:off x="1371600" y="4708922"/>
            <a:ext cx="3245825" cy="295275"/>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A37"/>
              </a:buClr>
              <a:buSzPts val="1800"/>
              <a:buFont typeface="Helvetica Neue"/>
              <a:buNone/>
            </a:pPr>
            <a:r>
              <a:rPr b="0" i="0" lang="en-US" sz="1800" u="none" cap="none" strike="noStrike">
                <a:solidFill>
                  <a:srgbClr val="1F2A37"/>
                </a:solidFill>
                <a:latin typeface="Helvetica Neue"/>
                <a:ea typeface="Helvetica Neue"/>
                <a:cs typeface="Helvetica Neue"/>
                <a:sym typeface="Helvetica Neue"/>
              </a:rPr>
              <a:t>Type-cast and </a:t>
            </a:r>
            <a:r>
              <a:rPr lang="en-US" sz="1800">
                <a:solidFill>
                  <a:srgbClr val="1F2A37"/>
                </a:solidFill>
                <a:latin typeface="Helvetica Neue"/>
                <a:ea typeface="Helvetica Neue"/>
                <a:cs typeface="Helvetica Neue"/>
                <a:sym typeface="Helvetica Neue"/>
              </a:rPr>
              <a:t>sort</a:t>
            </a:r>
            <a:endParaRPr b="0" i="0" sz="1800" u="none" cap="none" strike="noStrike">
              <a:solidFill>
                <a:schemeClr val="dk1"/>
              </a:solidFill>
              <a:latin typeface="Calibri"/>
              <a:ea typeface="Calibri"/>
              <a:cs typeface="Calibri"/>
              <a:sym typeface="Calibri"/>
            </a:endParaRPr>
          </a:p>
        </p:txBody>
      </p:sp>
      <p:sp>
        <p:nvSpPr>
          <p:cNvPr id="129" name="Google Shape;129;p5"/>
          <p:cNvSpPr/>
          <p:nvPr/>
        </p:nvSpPr>
        <p:spPr>
          <a:xfrm>
            <a:off x="914400" y="5133677"/>
            <a:ext cx="400050" cy="358080"/>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1F2A37"/>
              </a:buClr>
              <a:buSzPts val="1200"/>
              <a:buFont typeface="Courier New"/>
              <a:buNone/>
            </a:pPr>
            <a:r>
              <a:rPr b="0" i="0" lang="en-US" sz="1200" u="none" cap="none" strike="noStrike">
                <a:solidFill>
                  <a:srgbClr val="1F2A37"/>
                </a:solidFill>
                <a:latin typeface="Courier New"/>
                <a:ea typeface="Courier New"/>
                <a:cs typeface="Courier New"/>
                <a:sym typeface="Courier New"/>
              </a:rPr>
              <a:t>06</a:t>
            </a:r>
            <a:endParaRPr b="0" i="0" sz="1200" u="none" cap="none" strike="noStrike">
              <a:solidFill>
                <a:schemeClr val="dk1"/>
              </a:solidFill>
              <a:latin typeface="Calibri"/>
              <a:ea typeface="Calibri"/>
              <a:cs typeface="Calibri"/>
              <a:sym typeface="Calibri"/>
            </a:endParaRPr>
          </a:p>
        </p:txBody>
      </p:sp>
      <p:sp>
        <p:nvSpPr>
          <p:cNvPr id="130" name="Google Shape;130;p5"/>
          <p:cNvSpPr/>
          <p:nvPr/>
        </p:nvSpPr>
        <p:spPr>
          <a:xfrm>
            <a:off x="1371600" y="5162252"/>
            <a:ext cx="4078666" cy="295275"/>
          </a:xfrm>
          <a:prstGeom prst="rect">
            <a:avLst/>
          </a:prstGeom>
          <a:noFill/>
          <a:ln>
            <a:noFill/>
          </a:ln>
        </p:spPr>
        <p:txBody>
          <a:bodyPr anchorCtr="0" anchor="t" bIns="0" lIns="0" spcFirstLastPara="1" rIns="0" wrap="square" tIns="0">
            <a:normAutofit/>
          </a:bodyPr>
          <a:lstStyle/>
          <a:p>
            <a:pPr indent="0" lvl="0" marL="0" marR="0" rtl="0" algn="l">
              <a:lnSpc>
                <a:spcPct val="140000"/>
              </a:lnSpc>
              <a:spcBef>
                <a:spcPts val="0"/>
              </a:spcBef>
              <a:spcAft>
                <a:spcPts val="0"/>
              </a:spcAft>
              <a:buClr>
                <a:srgbClr val="1F2A37"/>
              </a:buClr>
              <a:buSzPts val="1800"/>
              <a:buFont typeface="Helvetica Neue"/>
              <a:buNone/>
            </a:pPr>
            <a:r>
              <a:rPr b="0" i="0" lang="en-US" sz="1800" u="none" cap="none" strike="noStrike">
                <a:solidFill>
                  <a:srgbClr val="1F2A37"/>
                </a:solidFill>
                <a:latin typeface="Helvetica Neue"/>
                <a:ea typeface="Helvetica Neue"/>
                <a:cs typeface="Helvetica Neue"/>
                <a:sym typeface="Helvetica Neue"/>
              </a:rPr>
              <a:t>Write Parquet · partition by ticker</a:t>
            </a:r>
            <a:endParaRPr b="0" i="0" sz="1800" u="none" cap="none" strike="noStrike">
              <a:solidFill>
                <a:schemeClr val="dk1"/>
              </a:solidFill>
              <a:latin typeface="Calibri"/>
              <a:ea typeface="Calibri"/>
              <a:cs typeface="Calibri"/>
              <a:sym typeface="Calibri"/>
            </a:endParaRPr>
          </a:p>
        </p:txBody>
      </p:sp>
      <p:sp>
        <p:nvSpPr>
          <p:cNvPr id="131" name="Google Shape;131;p5"/>
          <p:cNvSpPr/>
          <p:nvPr/>
        </p:nvSpPr>
        <p:spPr>
          <a:xfrm>
            <a:off x="914400" y="5834658"/>
            <a:ext cx="2002036" cy="1028700"/>
          </a:xfrm>
          <a:prstGeom prst="roundRect">
            <a:avLst>
              <a:gd fmla="val 3704" name="adj"/>
            </a:avLst>
          </a:prstGeom>
          <a:solidFill>
            <a:srgbClr val="FFFFFF"/>
          </a:solidFill>
          <a:ln cap="flat" cmpd="sng" w="9525">
            <a:solidFill>
              <a:srgbClr val="E2E5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5"/>
          <p:cNvSpPr/>
          <p:nvPr/>
        </p:nvSpPr>
        <p:spPr>
          <a:xfrm>
            <a:off x="1133475" y="6015633"/>
            <a:ext cx="1640086" cy="1905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900"/>
              <a:buFont typeface="Courier New"/>
              <a:buNone/>
            </a:pPr>
            <a:r>
              <a:rPr b="0" i="0" lang="en-US" sz="1200" u="none" cap="none" strike="noStrike">
                <a:solidFill>
                  <a:srgbClr val="8A94A6"/>
                </a:solidFill>
                <a:latin typeface="Courier New"/>
                <a:ea typeface="Courier New"/>
                <a:cs typeface="Courier New"/>
                <a:sym typeface="Courier New"/>
              </a:rPr>
              <a:t>ENGINE</a:t>
            </a:r>
            <a:endParaRPr b="0" i="0" sz="1200" u="none" cap="none" strike="noStrike">
              <a:solidFill>
                <a:schemeClr val="dk1"/>
              </a:solidFill>
              <a:latin typeface="Calibri"/>
              <a:ea typeface="Calibri"/>
              <a:cs typeface="Calibri"/>
              <a:sym typeface="Calibri"/>
            </a:endParaRPr>
          </a:p>
        </p:txBody>
      </p:sp>
      <p:sp>
        <p:nvSpPr>
          <p:cNvPr id="133" name="Google Shape;133;p5"/>
          <p:cNvSpPr/>
          <p:nvPr/>
        </p:nvSpPr>
        <p:spPr>
          <a:xfrm>
            <a:off x="1133475" y="6244233"/>
            <a:ext cx="1640086" cy="2667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F5A623"/>
              </a:buClr>
              <a:buSzPts val="1800"/>
              <a:buFont typeface="Helvetica Neue"/>
              <a:buNone/>
            </a:pPr>
            <a:r>
              <a:rPr b="1" i="0" lang="en-US" sz="1800" u="none" cap="none" strike="noStrike">
                <a:solidFill>
                  <a:srgbClr val="F5A623"/>
                </a:solidFill>
                <a:latin typeface="Helvetica Neue"/>
                <a:ea typeface="Helvetica Neue"/>
                <a:cs typeface="Helvetica Neue"/>
                <a:sym typeface="Helvetica Neue"/>
              </a:rPr>
              <a:t>Python Shell</a:t>
            </a:r>
            <a:endParaRPr b="0" i="0" sz="1800" u="none" cap="none" strike="noStrike">
              <a:solidFill>
                <a:schemeClr val="dk1"/>
              </a:solidFill>
              <a:latin typeface="Calibri"/>
              <a:ea typeface="Calibri"/>
              <a:cs typeface="Calibri"/>
              <a:sym typeface="Calibri"/>
            </a:endParaRPr>
          </a:p>
        </p:txBody>
      </p:sp>
      <p:sp>
        <p:nvSpPr>
          <p:cNvPr id="134" name="Google Shape;134;p5"/>
          <p:cNvSpPr/>
          <p:nvPr/>
        </p:nvSpPr>
        <p:spPr>
          <a:xfrm>
            <a:off x="1133475" y="6529969"/>
            <a:ext cx="1640100" cy="3582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900"/>
              <a:buFont typeface="Courier New"/>
              <a:buNone/>
            </a:pPr>
            <a:r>
              <a:rPr b="0" i="0" lang="en-US" sz="1200" u="none" cap="none" strike="noStrike">
                <a:solidFill>
                  <a:srgbClr val="8A94A6"/>
                </a:solidFill>
                <a:latin typeface="Courier New"/>
                <a:ea typeface="Courier New"/>
                <a:cs typeface="Courier New"/>
                <a:sym typeface="Courier New"/>
              </a:rPr>
              <a:t>COLD-START</a:t>
            </a:r>
            <a:endParaRPr b="0" i="0" sz="1200" u="none" cap="none" strike="noStrike">
              <a:solidFill>
                <a:schemeClr val="dk1"/>
              </a:solidFill>
              <a:latin typeface="Calibri"/>
              <a:ea typeface="Calibri"/>
              <a:cs typeface="Calibri"/>
              <a:sym typeface="Calibri"/>
            </a:endParaRPr>
          </a:p>
        </p:txBody>
      </p:sp>
      <p:sp>
        <p:nvSpPr>
          <p:cNvPr id="135" name="Google Shape;135;p5"/>
          <p:cNvSpPr/>
          <p:nvPr/>
        </p:nvSpPr>
        <p:spPr>
          <a:xfrm>
            <a:off x="3068836" y="5834658"/>
            <a:ext cx="2495848" cy="1028700"/>
          </a:xfrm>
          <a:prstGeom prst="roundRect">
            <a:avLst>
              <a:gd fmla="val 3704" name="adj"/>
            </a:avLst>
          </a:prstGeom>
          <a:solidFill>
            <a:srgbClr val="FFFFFF"/>
          </a:solidFill>
          <a:ln cap="flat" cmpd="sng" w="9525">
            <a:solidFill>
              <a:srgbClr val="E2E5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6" name="Google Shape;136;p5"/>
          <p:cNvSpPr/>
          <p:nvPr/>
        </p:nvSpPr>
        <p:spPr>
          <a:xfrm>
            <a:off x="3287911" y="6015633"/>
            <a:ext cx="2133898" cy="1905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900"/>
              <a:buFont typeface="Courier New"/>
              <a:buNone/>
            </a:pPr>
            <a:r>
              <a:rPr b="0" i="0" lang="en-US" sz="1200" u="none" cap="none" strike="noStrike">
                <a:solidFill>
                  <a:srgbClr val="8A94A6"/>
                </a:solidFill>
                <a:latin typeface="Courier New"/>
                <a:ea typeface="Courier New"/>
                <a:cs typeface="Courier New"/>
                <a:sym typeface="Courier New"/>
              </a:rPr>
              <a:t>OUTPUT</a:t>
            </a:r>
            <a:endParaRPr b="0" i="0" sz="1200" u="none" cap="none" strike="noStrike">
              <a:solidFill>
                <a:schemeClr val="dk1"/>
              </a:solidFill>
              <a:latin typeface="Calibri"/>
              <a:ea typeface="Calibri"/>
              <a:cs typeface="Calibri"/>
              <a:sym typeface="Calibri"/>
            </a:endParaRPr>
          </a:p>
        </p:txBody>
      </p:sp>
      <p:sp>
        <p:nvSpPr>
          <p:cNvPr id="137" name="Google Shape;137;p5"/>
          <p:cNvSpPr/>
          <p:nvPr/>
        </p:nvSpPr>
        <p:spPr>
          <a:xfrm>
            <a:off x="3287911" y="6244233"/>
            <a:ext cx="2133898" cy="2667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F5A623"/>
              </a:buClr>
              <a:buSzPts val="1800"/>
              <a:buFont typeface="Helvetica Neue"/>
              <a:buNone/>
            </a:pPr>
            <a:r>
              <a:rPr b="1" i="0" lang="en-US" sz="1800" u="none" cap="none" strike="noStrike">
                <a:solidFill>
                  <a:srgbClr val="F5A623"/>
                </a:solidFill>
                <a:latin typeface="Helvetica Neue"/>
                <a:ea typeface="Helvetica Neue"/>
                <a:cs typeface="Helvetica Neue"/>
                <a:sym typeface="Helvetica Neue"/>
              </a:rPr>
              <a:t>Parquet</a:t>
            </a:r>
            <a:endParaRPr b="0" i="0" sz="1800" u="none" cap="none" strike="noStrike">
              <a:solidFill>
                <a:schemeClr val="dk1"/>
              </a:solidFill>
              <a:latin typeface="Calibri"/>
              <a:ea typeface="Calibri"/>
              <a:cs typeface="Calibri"/>
              <a:sym typeface="Calibri"/>
            </a:endParaRPr>
          </a:p>
        </p:txBody>
      </p:sp>
      <p:sp>
        <p:nvSpPr>
          <p:cNvPr id="138" name="Google Shape;138;p5"/>
          <p:cNvSpPr/>
          <p:nvPr/>
        </p:nvSpPr>
        <p:spPr>
          <a:xfrm>
            <a:off x="3287911" y="6529983"/>
            <a:ext cx="2133898" cy="1905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900"/>
              <a:buFont typeface="Courier New"/>
              <a:buNone/>
            </a:pPr>
            <a:r>
              <a:rPr b="0" i="0" lang="en-US" sz="1200" u="none" cap="none" strike="noStrike">
                <a:solidFill>
                  <a:srgbClr val="8A94A6"/>
                </a:solidFill>
                <a:latin typeface="Courier New"/>
                <a:ea typeface="Courier New"/>
                <a:cs typeface="Courier New"/>
                <a:sym typeface="Courier New"/>
              </a:rPr>
              <a:t>TICKER PARTITIONED</a:t>
            </a:r>
            <a:endParaRPr b="0" i="0" sz="1200" u="none" cap="none" strike="noStrike">
              <a:solidFill>
                <a:schemeClr val="dk1"/>
              </a:solidFill>
              <a:latin typeface="Calibri"/>
              <a:ea typeface="Calibri"/>
              <a:cs typeface="Calibri"/>
              <a:sym typeface="Calibri"/>
            </a:endParaRPr>
          </a:p>
        </p:txBody>
      </p:sp>
      <p:sp>
        <p:nvSpPr>
          <p:cNvPr id="139" name="Google Shape;139;p5"/>
          <p:cNvSpPr/>
          <p:nvPr/>
        </p:nvSpPr>
        <p:spPr>
          <a:xfrm>
            <a:off x="5717084" y="5834658"/>
            <a:ext cx="1962150" cy="1028700"/>
          </a:xfrm>
          <a:prstGeom prst="roundRect">
            <a:avLst>
              <a:gd fmla="val 3704" name="adj"/>
            </a:avLst>
          </a:prstGeom>
          <a:solidFill>
            <a:srgbClr val="FFFFFF"/>
          </a:solidFill>
          <a:ln cap="flat" cmpd="sng" w="9525">
            <a:solidFill>
              <a:srgbClr val="E2E5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0" name="Google Shape;140;p5"/>
          <p:cNvSpPr/>
          <p:nvPr/>
        </p:nvSpPr>
        <p:spPr>
          <a:xfrm>
            <a:off x="5936159" y="6015633"/>
            <a:ext cx="1600200" cy="1905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900"/>
              <a:buFont typeface="Courier New"/>
              <a:buNone/>
            </a:pPr>
            <a:r>
              <a:rPr b="0" i="0" lang="en-US" sz="1200" u="none" cap="none" strike="noStrike">
                <a:solidFill>
                  <a:srgbClr val="8A94A6"/>
                </a:solidFill>
                <a:latin typeface="Courier New"/>
                <a:ea typeface="Courier New"/>
                <a:cs typeface="Courier New"/>
                <a:sym typeface="Courier New"/>
              </a:rPr>
              <a:t>ON FAILURE</a:t>
            </a:r>
            <a:endParaRPr b="0" i="0" sz="1200" u="none" cap="none" strike="noStrike">
              <a:solidFill>
                <a:schemeClr val="dk1"/>
              </a:solidFill>
              <a:latin typeface="Calibri"/>
              <a:ea typeface="Calibri"/>
              <a:cs typeface="Calibri"/>
              <a:sym typeface="Calibri"/>
            </a:endParaRPr>
          </a:p>
        </p:txBody>
      </p:sp>
      <p:sp>
        <p:nvSpPr>
          <p:cNvPr id="141" name="Google Shape;141;p5"/>
          <p:cNvSpPr/>
          <p:nvPr/>
        </p:nvSpPr>
        <p:spPr>
          <a:xfrm>
            <a:off x="5936159" y="6244233"/>
            <a:ext cx="1600200" cy="2667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F5A623"/>
              </a:buClr>
              <a:buSzPts val="1800"/>
              <a:buFont typeface="Helvetica Neue"/>
              <a:buNone/>
            </a:pPr>
            <a:r>
              <a:rPr b="1" i="0" lang="en-US" sz="1800" u="none" cap="none" strike="noStrike">
                <a:solidFill>
                  <a:srgbClr val="F5A623"/>
                </a:solidFill>
                <a:latin typeface="Helvetica Neue"/>
                <a:ea typeface="Helvetica Neue"/>
                <a:cs typeface="Helvetica Neue"/>
                <a:sym typeface="Helvetica Neue"/>
              </a:rPr>
              <a:t>CW alarm</a:t>
            </a:r>
            <a:endParaRPr b="0" i="0" sz="1800" u="none" cap="none" strike="noStrike">
              <a:solidFill>
                <a:schemeClr val="dk1"/>
              </a:solidFill>
              <a:latin typeface="Calibri"/>
              <a:ea typeface="Calibri"/>
              <a:cs typeface="Calibri"/>
              <a:sym typeface="Calibri"/>
            </a:endParaRPr>
          </a:p>
        </p:txBody>
      </p:sp>
      <p:sp>
        <p:nvSpPr>
          <p:cNvPr id="142" name="Google Shape;142;p5"/>
          <p:cNvSpPr/>
          <p:nvPr/>
        </p:nvSpPr>
        <p:spPr>
          <a:xfrm>
            <a:off x="9175403" y="2867025"/>
            <a:ext cx="8055322" cy="2667000"/>
          </a:xfrm>
          <a:prstGeom prst="roundRect">
            <a:avLst>
              <a:gd fmla="val 714"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3" name="Google Shape;143;p5"/>
          <p:cNvSpPr/>
          <p:nvPr/>
        </p:nvSpPr>
        <p:spPr>
          <a:xfrm>
            <a:off x="914400" y="9496425"/>
            <a:ext cx="16459200" cy="9525"/>
          </a:xfrm>
          <a:prstGeom prst="rect">
            <a:avLst/>
          </a:prstGeom>
          <a:solidFill>
            <a:srgbClr val="E2E5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4" name="Google Shape;144;p5"/>
          <p:cNvSpPr/>
          <p:nvPr/>
        </p:nvSpPr>
        <p:spPr>
          <a:xfrm>
            <a:off x="914400" y="9658350"/>
            <a:ext cx="6985101" cy="2095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975"/>
              <a:buFont typeface="Courier New"/>
              <a:buNone/>
            </a:pPr>
            <a:r>
              <a:rPr b="0" i="0" lang="en-US" sz="975" u="none" cap="none" strike="noStrike">
                <a:solidFill>
                  <a:srgbClr val="8A94A6"/>
                </a:solidFill>
                <a:latin typeface="Courier New"/>
                <a:ea typeface="Courier New"/>
                <a:cs typeface="Courier New"/>
                <a:sym typeface="Courier New"/>
              </a:rPr>
              <a:t>TEAM 11_02 · NEAR-REAL-TIME FINANCIAL FORECASTING ON AWS · CCBDA-MIRI 2026</a:t>
            </a:r>
            <a:endParaRPr b="0" i="0" sz="975" u="none" cap="none" strike="noStrike">
              <a:solidFill>
                <a:schemeClr val="dk1"/>
              </a:solidFill>
              <a:latin typeface="Calibri"/>
              <a:ea typeface="Calibri"/>
              <a:cs typeface="Calibri"/>
              <a:sym typeface="Calibri"/>
            </a:endParaRPr>
          </a:p>
        </p:txBody>
      </p:sp>
      <p:sp>
        <p:nvSpPr>
          <p:cNvPr id="145" name="Google Shape;145;p5"/>
          <p:cNvSpPr/>
          <p:nvPr/>
        </p:nvSpPr>
        <p:spPr>
          <a:xfrm>
            <a:off x="16732002" y="9658350"/>
            <a:ext cx="717798" cy="2095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975"/>
              <a:buFont typeface="Courier New"/>
              <a:buNone/>
            </a:pPr>
            <a:r>
              <a:rPr b="0" i="0" lang="en-US" sz="975" u="none" cap="none" strike="noStrike">
                <a:solidFill>
                  <a:srgbClr val="8A94A6"/>
                </a:solidFill>
                <a:latin typeface="Courier New"/>
                <a:ea typeface="Courier New"/>
                <a:cs typeface="Courier New"/>
                <a:sym typeface="Courier New"/>
              </a:rPr>
              <a:t>05 / 14</a:t>
            </a:r>
            <a:endParaRPr b="0" i="0" sz="975" u="none" cap="none" strike="noStrike">
              <a:solidFill>
                <a:schemeClr val="dk1"/>
              </a:solidFill>
              <a:latin typeface="Calibri"/>
              <a:ea typeface="Calibri"/>
              <a:cs typeface="Calibri"/>
              <a:sym typeface="Calibri"/>
            </a:endParaRPr>
          </a:p>
        </p:txBody>
      </p:sp>
      <p:pic>
        <p:nvPicPr>
          <p:cNvPr id="146" name="Google Shape;146;p5"/>
          <p:cNvPicPr preferRelativeResize="0"/>
          <p:nvPr/>
        </p:nvPicPr>
        <p:blipFill>
          <a:blip r:embed="rId3">
            <a:alphaModFix/>
          </a:blip>
          <a:stretch>
            <a:fillRect/>
          </a:stretch>
        </p:blipFill>
        <p:spPr>
          <a:xfrm>
            <a:off x="9103962" y="1778317"/>
            <a:ext cx="8897325" cy="4194771"/>
          </a:xfrm>
          <a:prstGeom prst="rect">
            <a:avLst/>
          </a:prstGeom>
          <a:noFill/>
          <a:ln>
            <a:noFill/>
          </a:ln>
        </p:spPr>
      </p:pic>
      <p:pic>
        <p:nvPicPr>
          <p:cNvPr id="147" name="Google Shape;147;p5"/>
          <p:cNvPicPr preferRelativeResize="0"/>
          <p:nvPr/>
        </p:nvPicPr>
        <p:blipFill>
          <a:blip r:embed="rId4">
            <a:alphaModFix/>
          </a:blip>
          <a:stretch>
            <a:fillRect/>
          </a:stretch>
        </p:blipFill>
        <p:spPr>
          <a:xfrm>
            <a:off x="9103950" y="6181021"/>
            <a:ext cx="9837248" cy="3107479"/>
          </a:xfrm>
          <a:prstGeom prst="rect">
            <a:avLst/>
          </a:prstGeom>
          <a:noFill/>
          <a:ln>
            <a:noFill/>
          </a:ln>
        </p:spPr>
      </p:pic>
      <p:pic>
        <p:nvPicPr>
          <p:cNvPr id="148" name="Google Shape;148;p5" title="Screenshot 2026-05-23 120629.png"/>
          <p:cNvPicPr preferRelativeResize="0"/>
          <p:nvPr/>
        </p:nvPicPr>
        <p:blipFill>
          <a:blip r:embed="rId5">
            <a:alphaModFix/>
          </a:blip>
          <a:stretch>
            <a:fillRect/>
          </a:stretch>
        </p:blipFill>
        <p:spPr>
          <a:xfrm>
            <a:off x="871874" y="7317373"/>
            <a:ext cx="7527450" cy="137260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2"/>
        </a:solidFill>
      </p:bgPr>
    </p:bg>
    <p:spTree>
      <p:nvGrpSpPr>
        <p:cNvPr id="153" name="Shape 153"/>
        <p:cNvGrpSpPr/>
        <p:nvPr/>
      </p:nvGrpSpPr>
      <p:grpSpPr>
        <a:xfrm>
          <a:off x="0" y="0"/>
          <a:ext cx="0" cy="0"/>
          <a:chOff x="0" y="0"/>
          <a:chExt cx="0" cy="0"/>
        </a:xfrm>
      </p:grpSpPr>
      <p:sp>
        <p:nvSpPr>
          <p:cNvPr id="154" name="Google Shape;154;p6"/>
          <p:cNvSpPr/>
          <p:nvPr/>
        </p:nvSpPr>
        <p:spPr>
          <a:xfrm>
            <a:off x="914400" y="647700"/>
            <a:ext cx="3446333" cy="2571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F2A37"/>
              </a:buClr>
              <a:buSzPts val="1500"/>
              <a:buFont typeface="Helvetica Neue"/>
              <a:buNone/>
            </a:pPr>
            <a:r>
              <a:rPr b="1" i="0" lang="en-US" sz="1500" u="none" cap="none" strike="noStrike">
                <a:solidFill>
                  <a:srgbClr val="1F2A37"/>
                </a:solidFill>
                <a:latin typeface="Helvetica Neue"/>
                <a:ea typeface="Helvetica Neue"/>
                <a:cs typeface="Helvetica Neue"/>
                <a:sym typeface="Helvetica Neue"/>
              </a:rPr>
              <a:t>06 · SENTIMENT SCORING</a:t>
            </a:r>
            <a:endParaRPr b="0" i="0" sz="1500" u="none" cap="none" strike="noStrike">
              <a:solidFill>
                <a:schemeClr val="dk1"/>
              </a:solidFill>
              <a:latin typeface="Calibri"/>
              <a:ea typeface="Calibri"/>
              <a:cs typeface="Calibri"/>
              <a:sym typeface="Calibri"/>
            </a:endParaRPr>
          </a:p>
        </p:txBody>
      </p:sp>
      <p:sp>
        <p:nvSpPr>
          <p:cNvPr id="155" name="Google Shape;155;p6"/>
          <p:cNvSpPr/>
          <p:nvPr/>
        </p:nvSpPr>
        <p:spPr>
          <a:xfrm>
            <a:off x="15483483" y="647700"/>
            <a:ext cx="1966317" cy="2381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1200"/>
              <a:buFont typeface="Courier New"/>
              <a:buNone/>
            </a:pPr>
            <a:r>
              <a:rPr b="0" i="0" lang="en-US" sz="1200" u="none" cap="none" strike="noStrike">
                <a:solidFill>
                  <a:srgbClr val="8A94A6"/>
                </a:solidFill>
                <a:latin typeface="Courier New"/>
                <a:ea typeface="Courier New"/>
                <a:cs typeface="Courier New"/>
                <a:sym typeface="Courier New"/>
              </a:rPr>
              <a:t>SPEAKER · </a:t>
            </a:r>
            <a:r>
              <a:rPr b="1" i="0" lang="en-US" sz="1200" u="none" cap="none" strike="noStrike">
                <a:solidFill>
                  <a:srgbClr val="1F2A37"/>
                </a:solidFill>
                <a:latin typeface="Courier New"/>
                <a:ea typeface="Courier New"/>
                <a:cs typeface="Courier New"/>
                <a:sym typeface="Courier New"/>
              </a:rPr>
              <a:t>RALPH</a:t>
            </a:r>
            <a:endParaRPr b="0" i="0" sz="1200" u="none" cap="none" strike="noStrike">
              <a:solidFill>
                <a:schemeClr val="dk1"/>
              </a:solidFill>
              <a:latin typeface="Calibri"/>
              <a:ea typeface="Calibri"/>
              <a:cs typeface="Calibri"/>
              <a:sym typeface="Calibri"/>
            </a:endParaRPr>
          </a:p>
        </p:txBody>
      </p:sp>
      <p:sp>
        <p:nvSpPr>
          <p:cNvPr id="156" name="Google Shape;156;p6"/>
          <p:cNvSpPr/>
          <p:nvPr/>
        </p:nvSpPr>
        <p:spPr>
          <a:xfrm>
            <a:off x="914400" y="1143000"/>
            <a:ext cx="16952976" cy="592782"/>
          </a:xfrm>
          <a:prstGeom prst="rect">
            <a:avLst/>
          </a:prstGeom>
          <a:noFill/>
          <a:ln>
            <a:noFill/>
          </a:ln>
        </p:spPr>
        <p:txBody>
          <a:bodyPr anchorCtr="0" anchor="t" bIns="25400" lIns="25400" spcFirstLastPara="1" rIns="25400" wrap="square" tIns="25400">
            <a:normAutofit/>
          </a:bodyPr>
          <a:lstStyle/>
          <a:p>
            <a:pPr indent="0" lvl="0" marL="0" marR="0" rtl="0" algn="l">
              <a:lnSpc>
                <a:spcPct val="104000"/>
              </a:lnSpc>
              <a:spcBef>
                <a:spcPts val="0"/>
              </a:spcBef>
              <a:spcAft>
                <a:spcPts val="0"/>
              </a:spcAft>
              <a:buClr>
                <a:srgbClr val="1F2A37"/>
              </a:buClr>
              <a:buSzPts val="4200"/>
              <a:buFont typeface="Helvetica Neue"/>
              <a:buNone/>
            </a:pPr>
            <a:r>
              <a:rPr b="1" i="0" lang="en-US" sz="4200" u="none" cap="none" strike="noStrike">
                <a:solidFill>
                  <a:srgbClr val="1F2A37"/>
                </a:solidFill>
                <a:latin typeface="Helvetica Neue"/>
                <a:ea typeface="Helvetica Neue"/>
                <a:cs typeface="Helvetica Neue"/>
                <a:sym typeface="Helvetica Neue"/>
              </a:rPr>
              <a:t>News → Comprehend → a signed score, fed to the hourly model.</a:t>
            </a:r>
            <a:endParaRPr b="0" i="0" sz="4200" u="none" cap="none" strike="noStrike">
              <a:solidFill>
                <a:schemeClr val="dk1"/>
              </a:solidFill>
              <a:latin typeface="Calibri"/>
              <a:ea typeface="Calibri"/>
              <a:cs typeface="Calibri"/>
              <a:sym typeface="Calibri"/>
            </a:endParaRPr>
          </a:p>
        </p:txBody>
      </p:sp>
      <p:sp>
        <p:nvSpPr>
          <p:cNvPr id="157" name="Google Shape;157;p6"/>
          <p:cNvSpPr/>
          <p:nvPr/>
        </p:nvSpPr>
        <p:spPr>
          <a:xfrm>
            <a:off x="1257300" y="2476500"/>
            <a:ext cx="7430127" cy="731341"/>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1F2A37"/>
              </a:buClr>
              <a:buSzPts val="1950"/>
              <a:buFont typeface="Helvetica Neue"/>
              <a:buNone/>
            </a:pPr>
            <a:r>
              <a:rPr b="1" i="0" lang="en-US" sz="1950" u="none" cap="none" strike="noStrike">
                <a:solidFill>
                  <a:srgbClr val="1F2A37"/>
                </a:solidFill>
                <a:latin typeface="Helvetica Neue"/>
                <a:ea typeface="Helvetica Neue"/>
                <a:cs typeface="Helvetica Neue"/>
                <a:sym typeface="Helvetica Neue"/>
              </a:rPr>
              <a:t>SQS </a:t>
            </a:r>
            <a:r>
              <a:rPr b="0" i="0" lang="en-US" sz="1950" u="none" cap="none" strike="noStrike">
                <a:solidFill>
                  <a:srgbClr val="3A4A5A"/>
                </a:solidFill>
                <a:latin typeface="Helvetica Neue"/>
                <a:ea typeface="Helvetica Neue"/>
                <a:cs typeface="Helvetica Neue"/>
                <a:sym typeface="Helvetica Neue"/>
              </a:rPr>
              <a:t>on </a:t>
            </a:r>
            <a:r>
              <a:rPr b="0" i="0" lang="en-US" sz="1650" u="none" cap="none" strike="noStrike">
                <a:solidFill>
                  <a:srgbClr val="1F2A37"/>
                </a:solidFill>
                <a:latin typeface="Courier New"/>
                <a:ea typeface="Courier New"/>
                <a:cs typeface="Courier New"/>
                <a:sym typeface="Courier New"/>
              </a:rPr>
              <a:t>proj1102-news-queue </a:t>
            </a:r>
            <a:r>
              <a:rPr b="1" i="0" lang="en-US" sz="1950" u="none" cap="none" strike="noStrike">
                <a:solidFill>
                  <a:srgbClr val="1F2A37"/>
                </a:solidFill>
                <a:latin typeface="Helvetica Neue"/>
                <a:ea typeface="Helvetica Neue"/>
                <a:cs typeface="Helvetica Neue"/>
                <a:sym typeface="Helvetica Neue"/>
              </a:rPr>
              <a:t>triggers </a:t>
            </a:r>
            <a:r>
              <a:rPr b="0" i="0" lang="en-US" sz="1950" u="none" cap="none" strike="noStrike">
                <a:solidFill>
                  <a:srgbClr val="3A4A5A"/>
                </a:solidFill>
                <a:latin typeface="Helvetica Neue"/>
                <a:ea typeface="Helvetica Neue"/>
                <a:cs typeface="Helvetica Neue"/>
                <a:sym typeface="Helvetica Neue"/>
              </a:rPr>
              <a:t>the sentiment Lambda (event-source mapping).</a:t>
            </a:r>
            <a:endParaRPr b="0" i="0" sz="1950" u="none" cap="none" strike="noStrike">
              <a:solidFill>
                <a:schemeClr val="dk1"/>
              </a:solidFill>
              <a:latin typeface="Calibri"/>
              <a:ea typeface="Calibri"/>
              <a:cs typeface="Calibri"/>
              <a:sym typeface="Calibri"/>
            </a:endParaRPr>
          </a:p>
        </p:txBody>
      </p:sp>
      <p:sp>
        <p:nvSpPr>
          <p:cNvPr id="158" name="Google Shape;158;p6"/>
          <p:cNvSpPr/>
          <p:nvPr/>
        </p:nvSpPr>
        <p:spPr>
          <a:xfrm>
            <a:off x="1257300" y="3341191"/>
            <a:ext cx="7430127" cy="384721"/>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3A4A5A"/>
              </a:buClr>
              <a:buSzPts val="1950"/>
              <a:buFont typeface="Helvetica Neue"/>
              <a:buNone/>
            </a:pPr>
            <a:r>
              <a:rPr b="0" i="0" lang="en-US" sz="1950" u="none" cap="none" strike="noStrike">
                <a:solidFill>
                  <a:srgbClr val="3A4A5A"/>
                </a:solidFill>
                <a:latin typeface="Helvetica Neue"/>
                <a:ea typeface="Helvetica Neue"/>
                <a:cs typeface="Helvetica Neue"/>
                <a:sym typeface="Helvetica Neue"/>
              </a:rPr>
              <a:t>Lambda calls </a:t>
            </a:r>
            <a:r>
              <a:rPr b="1" i="0" lang="en-US" sz="1950" u="none" cap="none" strike="noStrike">
                <a:solidFill>
                  <a:srgbClr val="1F2A37"/>
                </a:solidFill>
                <a:latin typeface="Helvetica Neue"/>
                <a:ea typeface="Helvetica Neue"/>
                <a:cs typeface="Helvetica Neue"/>
                <a:sym typeface="Helvetica Neue"/>
              </a:rPr>
              <a:t>Amazon Comprehend </a:t>
            </a:r>
            <a:r>
              <a:rPr b="0" i="0" lang="en-US" sz="1950" u="none" cap="none" strike="noStrike">
                <a:solidFill>
                  <a:srgbClr val="3A4A5A"/>
                </a:solidFill>
                <a:latin typeface="Helvetica Neue"/>
                <a:ea typeface="Helvetica Neue"/>
                <a:cs typeface="Helvetica Neue"/>
                <a:sym typeface="Helvetica Neue"/>
              </a:rPr>
              <a:t>per headline.</a:t>
            </a:r>
            <a:endParaRPr b="0" i="0" sz="1950" u="none" cap="none" strike="noStrike">
              <a:solidFill>
                <a:schemeClr val="dk1"/>
              </a:solidFill>
              <a:latin typeface="Calibri"/>
              <a:ea typeface="Calibri"/>
              <a:cs typeface="Calibri"/>
              <a:sym typeface="Calibri"/>
            </a:endParaRPr>
          </a:p>
        </p:txBody>
      </p:sp>
      <p:sp>
        <p:nvSpPr>
          <p:cNvPr id="159" name="Google Shape;159;p6"/>
          <p:cNvSpPr/>
          <p:nvPr/>
        </p:nvSpPr>
        <p:spPr>
          <a:xfrm>
            <a:off x="1257300" y="3859262"/>
            <a:ext cx="7430127" cy="384721"/>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3A4A5A"/>
              </a:buClr>
              <a:buSzPts val="1950"/>
              <a:buFont typeface="Helvetica Neue"/>
              <a:buNone/>
            </a:pPr>
            <a:r>
              <a:rPr b="0" i="0" lang="en-US" sz="1950" u="none" cap="none" strike="noStrike">
                <a:solidFill>
                  <a:srgbClr val="3A4A5A"/>
                </a:solidFill>
                <a:latin typeface="Helvetica Neue"/>
                <a:ea typeface="Helvetica Neue"/>
                <a:cs typeface="Helvetica Neue"/>
                <a:sym typeface="Helvetica Neue"/>
              </a:rPr>
              <a:t>Probabilities collapsed into a </a:t>
            </a:r>
            <a:r>
              <a:rPr b="1" i="0" lang="en-US" sz="1950" u="none" cap="none" strike="noStrike">
                <a:solidFill>
                  <a:srgbClr val="1F2A37"/>
                </a:solidFill>
                <a:latin typeface="Helvetica Neue"/>
                <a:ea typeface="Helvetica Neue"/>
                <a:cs typeface="Helvetica Neue"/>
                <a:sym typeface="Helvetica Neue"/>
              </a:rPr>
              <a:t>signed score </a:t>
            </a:r>
            <a:r>
              <a:rPr b="0" i="0" lang="en-US" sz="1950" u="none" cap="none" strike="noStrike">
                <a:solidFill>
                  <a:srgbClr val="3A4A5A"/>
                </a:solidFill>
                <a:latin typeface="Helvetica Neue"/>
                <a:ea typeface="Helvetica Neue"/>
                <a:cs typeface="Helvetica Neue"/>
                <a:sym typeface="Helvetica Neue"/>
              </a:rPr>
              <a:t>in [−1, +1].</a:t>
            </a:r>
            <a:endParaRPr b="0" i="0" sz="1950" u="none" cap="none" strike="noStrike">
              <a:solidFill>
                <a:schemeClr val="dk1"/>
              </a:solidFill>
              <a:latin typeface="Calibri"/>
              <a:ea typeface="Calibri"/>
              <a:cs typeface="Calibri"/>
              <a:sym typeface="Calibri"/>
            </a:endParaRPr>
          </a:p>
        </p:txBody>
      </p:sp>
      <p:sp>
        <p:nvSpPr>
          <p:cNvPr id="160" name="Google Shape;160;p6"/>
          <p:cNvSpPr/>
          <p:nvPr/>
        </p:nvSpPr>
        <p:spPr>
          <a:xfrm>
            <a:off x="1257300" y="4377333"/>
            <a:ext cx="7430127" cy="384721"/>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3A4A5A"/>
              </a:buClr>
              <a:buSzPts val="1950"/>
              <a:buFont typeface="Helvetica Neue"/>
              <a:buNone/>
            </a:pPr>
            <a:r>
              <a:rPr b="0" i="0" lang="en-US" sz="1950" u="none" cap="none" strike="noStrike">
                <a:solidFill>
                  <a:srgbClr val="3A4A5A"/>
                </a:solidFill>
                <a:latin typeface="Helvetica Neue"/>
                <a:ea typeface="Helvetica Neue"/>
                <a:cs typeface="Helvetica Neue"/>
                <a:sym typeface="Helvetica Neue"/>
              </a:rPr>
              <a:t>Written back as a </a:t>
            </a:r>
            <a:r>
              <a:rPr b="1" i="0" lang="en-US" sz="1950" u="none" cap="none" strike="noStrike">
                <a:solidFill>
                  <a:srgbClr val="1F2A37"/>
                </a:solidFill>
                <a:latin typeface="Helvetica Neue"/>
                <a:ea typeface="Helvetica Neue"/>
                <a:cs typeface="Helvetica Neue"/>
                <a:sym typeface="Helvetica Neue"/>
              </a:rPr>
              <a:t>related time series </a:t>
            </a:r>
            <a:r>
              <a:rPr b="0" i="0" lang="en-US" sz="1950" u="none" cap="none" strike="noStrike">
                <a:solidFill>
                  <a:srgbClr val="3A4A5A"/>
                </a:solidFill>
                <a:latin typeface="Helvetica Neue"/>
                <a:ea typeface="Helvetica Neue"/>
                <a:cs typeface="Helvetica Neue"/>
                <a:sym typeface="Helvetica Neue"/>
              </a:rPr>
              <a:t>next to price.</a:t>
            </a:r>
            <a:endParaRPr b="0" i="0" sz="1950" u="none" cap="none" strike="noStrike">
              <a:solidFill>
                <a:schemeClr val="dk1"/>
              </a:solidFill>
              <a:latin typeface="Calibri"/>
              <a:ea typeface="Calibri"/>
              <a:cs typeface="Calibri"/>
              <a:sym typeface="Calibri"/>
            </a:endParaRPr>
          </a:p>
        </p:txBody>
      </p:sp>
      <p:sp>
        <p:nvSpPr>
          <p:cNvPr id="161" name="Google Shape;161;p6"/>
          <p:cNvSpPr/>
          <p:nvPr/>
        </p:nvSpPr>
        <p:spPr>
          <a:xfrm>
            <a:off x="1257300" y="4895404"/>
            <a:ext cx="7430127" cy="384721"/>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3A4A5A"/>
              </a:buClr>
              <a:buSzPts val="1950"/>
              <a:buFont typeface="Helvetica Neue"/>
              <a:buNone/>
            </a:pPr>
            <a:r>
              <a:rPr b="0" i="0" lang="en-US" sz="1950" u="none" cap="none" strike="noStrike">
                <a:solidFill>
                  <a:srgbClr val="3A4A5A"/>
                </a:solidFill>
                <a:latin typeface="Helvetica Neue"/>
                <a:ea typeface="Helvetica Neue"/>
                <a:cs typeface="Helvetica Neue"/>
                <a:sym typeface="Helvetica Neue"/>
              </a:rPr>
              <a:t>Used </a:t>
            </a:r>
            <a:r>
              <a:rPr b="1" i="0" lang="en-US" sz="1950" u="none" cap="none" strike="noStrike">
                <a:solidFill>
                  <a:srgbClr val="1F2A37"/>
                </a:solidFill>
                <a:latin typeface="Helvetica Neue"/>
                <a:ea typeface="Helvetica Neue"/>
                <a:cs typeface="Helvetica Neue"/>
                <a:sym typeface="Helvetica Neue"/>
              </a:rPr>
              <a:t>only </a:t>
            </a:r>
            <a:r>
              <a:rPr b="0" i="0" lang="en-US" sz="1950" u="none" cap="none" strike="noStrike">
                <a:solidFill>
                  <a:srgbClr val="3A4A5A"/>
                </a:solidFill>
                <a:latin typeface="Helvetica Neue"/>
                <a:ea typeface="Helvetica Neue"/>
                <a:cs typeface="Helvetica Neue"/>
                <a:sym typeface="Helvetica Neue"/>
              </a:rPr>
              <a:t>by the hourly model · daily is prices-only.</a:t>
            </a:r>
            <a:endParaRPr b="0" i="0" sz="1950" u="none" cap="none" strike="noStrike">
              <a:solidFill>
                <a:schemeClr val="dk1"/>
              </a:solidFill>
              <a:latin typeface="Calibri"/>
              <a:ea typeface="Calibri"/>
              <a:cs typeface="Calibri"/>
              <a:sym typeface="Calibri"/>
            </a:endParaRPr>
          </a:p>
        </p:txBody>
      </p:sp>
      <p:sp>
        <p:nvSpPr>
          <p:cNvPr id="162" name="Google Shape;162;p6"/>
          <p:cNvSpPr/>
          <p:nvPr/>
        </p:nvSpPr>
        <p:spPr>
          <a:xfrm>
            <a:off x="1257300" y="5413474"/>
            <a:ext cx="7430127" cy="384721"/>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3A4A5A"/>
              </a:buClr>
              <a:buSzPts val="1950"/>
              <a:buFont typeface="Helvetica Neue"/>
              <a:buNone/>
            </a:pPr>
            <a:r>
              <a:rPr b="0" i="0" lang="en-US" sz="1950" u="none" cap="none" strike="noStrike">
                <a:solidFill>
                  <a:srgbClr val="3A4A5A"/>
                </a:solidFill>
                <a:latin typeface="Helvetica Neue"/>
                <a:ea typeface="Helvetica Neue"/>
                <a:cs typeface="Helvetica Neue"/>
                <a:sym typeface="Helvetica Neue"/>
              </a:rPr>
              <a:t>Every run logged · CloudWatch monitor on invocation count.</a:t>
            </a:r>
            <a:endParaRPr b="0" i="0" sz="1950" u="none" cap="none" strike="noStrike">
              <a:solidFill>
                <a:schemeClr val="dk1"/>
              </a:solidFill>
              <a:latin typeface="Calibri"/>
              <a:ea typeface="Calibri"/>
              <a:cs typeface="Calibri"/>
              <a:sym typeface="Calibri"/>
            </a:endParaRPr>
          </a:p>
        </p:txBody>
      </p:sp>
      <p:sp>
        <p:nvSpPr>
          <p:cNvPr id="163" name="Google Shape;163;p6"/>
          <p:cNvSpPr/>
          <p:nvPr/>
        </p:nvSpPr>
        <p:spPr>
          <a:xfrm>
            <a:off x="914400" y="6141095"/>
            <a:ext cx="7546628" cy="624780"/>
          </a:xfrm>
          <a:prstGeom prst="roundRect">
            <a:avLst>
              <a:gd fmla="val 6098" name="adj"/>
            </a:avLst>
          </a:prstGeom>
          <a:solidFill>
            <a:srgbClr val="FFFFFF"/>
          </a:solidFill>
          <a:ln cap="flat" cmpd="sng" w="9525">
            <a:solidFill>
              <a:srgbClr val="E2E5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6"/>
          <p:cNvSpPr/>
          <p:nvPr/>
        </p:nvSpPr>
        <p:spPr>
          <a:xfrm>
            <a:off x="1133475" y="6322070"/>
            <a:ext cx="7334877" cy="30093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1350"/>
              <a:buFont typeface="Courier New"/>
              <a:buNone/>
            </a:pPr>
            <a:r>
              <a:rPr b="0" i="0" lang="en-US" sz="1350" u="none" cap="none" strike="noStrike">
                <a:solidFill>
                  <a:srgbClr val="8A94A6"/>
                </a:solidFill>
                <a:latin typeface="Courier New"/>
                <a:ea typeface="Courier New"/>
                <a:cs typeface="Courier New"/>
                <a:sym typeface="Courier New"/>
              </a:rPr>
              <a:t>score =</a:t>
            </a:r>
            <a:r>
              <a:rPr b="0" i="0" lang="en-US" sz="1350" u="none" cap="none" strike="noStrike">
                <a:solidFill>
                  <a:srgbClr val="1F2A37"/>
                </a:solidFill>
                <a:highlight>
                  <a:srgbClr val="FFFFFF"/>
                </a:highlight>
                <a:latin typeface="Courier New"/>
                <a:ea typeface="Courier New"/>
                <a:cs typeface="Courier New"/>
                <a:sym typeface="Courier New"/>
              </a:rPr>
              <a:t>P</a:t>
            </a:r>
            <a:r>
              <a:rPr b="0" baseline="-25000" i="0" lang="en-US" sz="1125" u="none" cap="none" strike="noStrike">
                <a:solidFill>
                  <a:srgbClr val="1F2A37"/>
                </a:solidFill>
                <a:latin typeface="Courier New"/>
                <a:ea typeface="Courier New"/>
                <a:cs typeface="Courier New"/>
                <a:sym typeface="Courier New"/>
              </a:rPr>
              <a:t>positive </a:t>
            </a:r>
            <a:r>
              <a:rPr b="0" i="0" lang="en-US" sz="1350" u="none" cap="none" strike="noStrike">
                <a:solidFill>
                  <a:srgbClr val="1F2A37"/>
                </a:solidFill>
                <a:highlight>
                  <a:srgbClr val="FFFFFF"/>
                </a:highlight>
                <a:latin typeface="Courier New"/>
                <a:ea typeface="Courier New"/>
                <a:cs typeface="Courier New"/>
                <a:sym typeface="Courier New"/>
              </a:rPr>
              <a:t>− P</a:t>
            </a:r>
            <a:r>
              <a:rPr b="0" baseline="-25000" i="0" lang="en-US" sz="1125" u="none" cap="none" strike="noStrike">
                <a:solidFill>
                  <a:srgbClr val="1F2A37"/>
                </a:solidFill>
                <a:latin typeface="Courier New"/>
                <a:ea typeface="Courier New"/>
                <a:cs typeface="Courier New"/>
                <a:sym typeface="Courier New"/>
              </a:rPr>
              <a:t>negative </a:t>
            </a:r>
            <a:r>
              <a:rPr b="0" i="0" lang="en-US" sz="1350" u="none" cap="none" strike="noStrike">
                <a:solidFill>
                  <a:srgbClr val="8A94A6"/>
                </a:solidFill>
                <a:latin typeface="Courier New"/>
                <a:ea typeface="Courier New"/>
                <a:cs typeface="Courier New"/>
                <a:sym typeface="Courier New"/>
              </a:rPr>
              <a:t>· range [−1, +1]</a:t>
            </a:r>
            <a:endParaRPr b="0" i="0" sz="1350" u="none" cap="none" strike="noStrike">
              <a:solidFill>
                <a:schemeClr val="dk1"/>
              </a:solidFill>
              <a:latin typeface="Calibri"/>
              <a:ea typeface="Calibri"/>
              <a:cs typeface="Calibri"/>
              <a:sym typeface="Calibri"/>
            </a:endParaRPr>
          </a:p>
        </p:txBody>
      </p:sp>
      <p:sp>
        <p:nvSpPr>
          <p:cNvPr id="165" name="Google Shape;165;p6"/>
          <p:cNvSpPr/>
          <p:nvPr/>
        </p:nvSpPr>
        <p:spPr>
          <a:xfrm>
            <a:off x="9032528" y="2476500"/>
            <a:ext cx="8341072" cy="3190875"/>
          </a:xfrm>
          <a:prstGeom prst="roundRect">
            <a:avLst>
              <a:gd fmla="val 1194" name="adj"/>
            </a:avLst>
          </a:prstGeom>
          <a:solidFill>
            <a:srgbClr val="FFFFFF"/>
          </a:solidFill>
          <a:ln cap="flat" cmpd="sng" w="9525">
            <a:solidFill>
              <a:srgbClr val="E2E5EA"/>
            </a:solidFill>
            <a:prstDash val="solid"/>
            <a:round/>
            <a:headEnd len="sm" w="sm" type="none"/>
            <a:tailEnd len="sm" w="sm" type="none"/>
          </a:ln>
          <a:effectLst>
            <a:outerShdw blurRad="76200" rotWithShape="0" algn="bl" dir="5400000" dist="19050">
              <a:srgbClr val="1F2A37">
                <a:alpha val="392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6"/>
          <p:cNvSpPr/>
          <p:nvPr/>
        </p:nvSpPr>
        <p:spPr>
          <a:xfrm>
            <a:off x="9175403" y="2619375"/>
            <a:ext cx="8296982" cy="1905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900"/>
              <a:buFont typeface="Courier New"/>
              <a:buNone/>
            </a:pPr>
            <a:r>
              <a:rPr b="0" i="0" lang="en-US" sz="900" u="none" cap="none" strike="noStrike">
                <a:solidFill>
                  <a:srgbClr val="8A94A6"/>
                </a:solidFill>
                <a:latin typeface="Courier New"/>
                <a:ea typeface="Courier New"/>
                <a:cs typeface="Courier New"/>
                <a:sym typeface="Courier New"/>
              </a:rPr>
              <a:t>SCORED LOG</a:t>
            </a:r>
            <a:endParaRPr b="0" i="0" sz="900" u="none" cap="none" strike="noStrike">
              <a:solidFill>
                <a:schemeClr val="dk1"/>
              </a:solidFill>
              <a:latin typeface="Calibri"/>
              <a:ea typeface="Calibri"/>
              <a:cs typeface="Calibri"/>
              <a:sym typeface="Calibri"/>
            </a:endParaRPr>
          </a:p>
        </p:txBody>
      </p:sp>
      <p:sp>
        <p:nvSpPr>
          <p:cNvPr id="167" name="Google Shape;167;p6"/>
          <p:cNvSpPr/>
          <p:nvPr/>
        </p:nvSpPr>
        <p:spPr>
          <a:xfrm>
            <a:off x="9175403" y="2867025"/>
            <a:ext cx="8055322" cy="2667000"/>
          </a:xfrm>
          <a:prstGeom prst="roundRect">
            <a:avLst>
              <a:gd fmla="val 714"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68" name="Google Shape;168;p6"/>
          <p:cNvPicPr preferRelativeResize="0"/>
          <p:nvPr/>
        </p:nvPicPr>
        <p:blipFill rotWithShape="1">
          <a:blip r:embed="rId3">
            <a:alphaModFix/>
          </a:blip>
          <a:srcRect b="0" l="0" r="0" t="0"/>
          <a:stretch/>
        </p:blipFill>
        <p:spPr>
          <a:xfrm>
            <a:off x="9175403" y="2867025"/>
            <a:ext cx="8055322" cy="2667000"/>
          </a:xfrm>
          <a:prstGeom prst="rect">
            <a:avLst/>
          </a:prstGeom>
          <a:noFill/>
          <a:ln>
            <a:noFill/>
          </a:ln>
        </p:spPr>
      </p:pic>
      <p:sp>
        <p:nvSpPr>
          <p:cNvPr id="169" name="Google Shape;169;p6"/>
          <p:cNvSpPr/>
          <p:nvPr/>
        </p:nvSpPr>
        <p:spPr>
          <a:xfrm>
            <a:off x="9032528" y="5876925"/>
            <a:ext cx="8341072" cy="3190875"/>
          </a:xfrm>
          <a:prstGeom prst="roundRect">
            <a:avLst>
              <a:gd fmla="val 1194" name="adj"/>
            </a:avLst>
          </a:prstGeom>
          <a:solidFill>
            <a:srgbClr val="FFFFFF"/>
          </a:solidFill>
          <a:ln cap="flat" cmpd="sng" w="9525">
            <a:solidFill>
              <a:srgbClr val="E2E5EA"/>
            </a:solidFill>
            <a:prstDash val="solid"/>
            <a:round/>
            <a:headEnd len="sm" w="sm" type="none"/>
            <a:tailEnd len="sm" w="sm" type="none"/>
          </a:ln>
          <a:effectLst>
            <a:outerShdw blurRad="76200" rotWithShape="0" algn="bl" dir="5400000" dist="19050">
              <a:srgbClr val="1F2A37">
                <a:alpha val="392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0" name="Google Shape;170;p6"/>
          <p:cNvSpPr/>
          <p:nvPr/>
        </p:nvSpPr>
        <p:spPr>
          <a:xfrm>
            <a:off x="9175403" y="6019800"/>
            <a:ext cx="8296982" cy="1905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900"/>
              <a:buFont typeface="Courier New"/>
              <a:buNone/>
            </a:pPr>
            <a:r>
              <a:rPr b="0" i="0" lang="en-US" sz="900" u="none" cap="none" strike="noStrike">
                <a:solidFill>
                  <a:srgbClr val="8A94A6"/>
                </a:solidFill>
                <a:latin typeface="Courier New"/>
                <a:ea typeface="Courier New"/>
                <a:cs typeface="Courier New"/>
                <a:sym typeface="Courier New"/>
              </a:rPr>
              <a:t>TRIGGER WIRING</a:t>
            </a:r>
            <a:endParaRPr b="0" i="0" sz="900" u="none" cap="none" strike="noStrike">
              <a:solidFill>
                <a:schemeClr val="dk1"/>
              </a:solidFill>
              <a:latin typeface="Calibri"/>
              <a:ea typeface="Calibri"/>
              <a:cs typeface="Calibri"/>
              <a:sym typeface="Calibri"/>
            </a:endParaRPr>
          </a:p>
        </p:txBody>
      </p:sp>
      <p:sp>
        <p:nvSpPr>
          <p:cNvPr id="171" name="Google Shape;171;p6"/>
          <p:cNvSpPr/>
          <p:nvPr/>
        </p:nvSpPr>
        <p:spPr>
          <a:xfrm>
            <a:off x="9175403" y="6267450"/>
            <a:ext cx="8055322" cy="2667000"/>
          </a:xfrm>
          <a:prstGeom prst="roundRect">
            <a:avLst>
              <a:gd fmla="val 714"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172" name="Google Shape;172;p6"/>
          <p:cNvPicPr preferRelativeResize="0"/>
          <p:nvPr/>
        </p:nvPicPr>
        <p:blipFill rotWithShape="1">
          <a:blip r:embed="rId4">
            <a:alphaModFix/>
          </a:blip>
          <a:srcRect b="0" l="0" r="0" t="0"/>
          <a:stretch/>
        </p:blipFill>
        <p:spPr>
          <a:xfrm>
            <a:off x="9175403" y="6267450"/>
            <a:ext cx="8055322" cy="2667000"/>
          </a:xfrm>
          <a:prstGeom prst="rect">
            <a:avLst/>
          </a:prstGeom>
          <a:noFill/>
          <a:ln>
            <a:noFill/>
          </a:ln>
        </p:spPr>
      </p:pic>
      <p:sp>
        <p:nvSpPr>
          <p:cNvPr id="173" name="Google Shape;173;p6"/>
          <p:cNvSpPr/>
          <p:nvPr/>
        </p:nvSpPr>
        <p:spPr>
          <a:xfrm>
            <a:off x="914400" y="9496425"/>
            <a:ext cx="16459200" cy="9525"/>
          </a:xfrm>
          <a:prstGeom prst="rect">
            <a:avLst/>
          </a:prstGeom>
          <a:solidFill>
            <a:srgbClr val="E2E5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4" name="Google Shape;174;p6"/>
          <p:cNvSpPr/>
          <p:nvPr/>
        </p:nvSpPr>
        <p:spPr>
          <a:xfrm>
            <a:off x="914400" y="9658350"/>
            <a:ext cx="6985101" cy="2095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975"/>
              <a:buFont typeface="Courier New"/>
              <a:buNone/>
            </a:pPr>
            <a:r>
              <a:rPr b="0" i="0" lang="en-US" sz="975" u="none" cap="none" strike="noStrike">
                <a:solidFill>
                  <a:srgbClr val="8A94A6"/>
                </a:solidFill>
                <a:latin typeface="Courier New"/>
                <a:ea typeface="Courier New"/>
                <a:cs typeface="Courier New"/>
                <a:sym typeface="Courier New"/>
              </a:rPr>
              <a:t>TEAM 11_02 · NEAR-REAL-TIME FINANCIAL FORECASTING ON AWS · CCBDA-MIRI 2026</a:t>
            </a:r>
            <a:endParaRPr b="0" i="0" sz="975" u="none" cap="none" strike="noStrike">
              <a:solidFill>
                <a:schemeClr val="dk1"/>
              </a:solidFill>
              <a:latin typeface="Calibri"/>
              <a:ea typeface="Calibri"/>
              <a:cs typeface="Calibri"/>
              <a:sym typeface="Calibri"/>
            </a:endParaRPr>
          </a:p>
        </p:txBody>
      </p:sp>
      <p:sp>
        <p:nvSpPr>
          <p:cNvPr id="175" name="Google Shape;175;p6"/>
          <p:cNvSpPr/>
          <p:nvPr/>
        </p:nvSpPr>
        <p:spPr>
          <a:xfrm>
            <a:off x="16732002" y="9658350"/>
            <a:ext cx="717798" cy="2095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975"/>
              <a:buFont typeface="Courier New"/>
              <a:buNone/>
            </a:pPr>
            <a:r>
              <a:rPr b="0" i="0" lang="en-US" sz="975" u="none" cap="none" strike="noStrike">
                <a:solidFill>
                  <a:srgbClr val="8A94A6"/>
                </a:solidFill>
                <a:latin typeface="Courier New"/>
                <a:ea typeface="Courier New"/>
                <a:cs typeface="Courier New"/>
                <a:sym typeface="Courier New"/>
              </a:rPr>
              <a:t>06 / 14</a:t>
            </a:r>
            <a:endParaRPr b="0" i="0" sz="975" u="none" cap="none" strike="noStrike">
              <a:solidFill>
                <a:schemeClr val="dk1"/>
              </a:solidFill>
              <a:latin typeface="Calibri"/>
              <a:ea typeface="Calibri"/>
              <a:cs typeface="Calibri"/>
              <a:sym typeface="Calibri"/>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2"/>
        </a:solidFill>
      </p:bgPr>
    </p:bg>
    <p:spTree>
      <p:nvGrpSpPr>
        <p:cNvPr id="180" name="Shape 180"/>
        <p:cNvGrpSpPr/>
        <p:nvPr/>
      </p:nvGrpSpPr>
      <p:grpSpPr>
        <a:xfrm>
          <a:off x="0" y="0"/>
          <a:ext cx="0" cy="0"/>
          <a:chOff x="0" y="0"/>
          <a:chExt cx="0" cy="0"/>
        </a:xfrm>
      </p:grpSpPr>
      <p:sp>
        <p:nvSpPr>
          <p:cNvPr id="181" name="Google Shape;181;p7"/>
          <p:cNvSpPr/>
          <p:nvPr/>
        </p:nvSpPr>
        <p:spPr>
          <a:xfrm>
            <a:off x="914400" y="647700"/>
            <a:ext cx="4442890" cy="2571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F2A37"/>
              </a:buClr>
              <a:buSzPts val="1500"/>
              <a:buFont typeface="Helvetica Neue"/>
              <a:buNone/>
            </a:pPr>
            <a:r>
              <a:rPr b="1" i="0" lang="en-US" sz="1500" u="none" cap="none" strike="noStrike">
                <a:solidFill>
                  <a:srgbClr val="1F2A37"/>
                </a:solidFill>
                <a:latin typeface="Helvetica Neue"/>
                <a:ea typeface="Helvetica Neue"/>
                <a:cs typeface="Helvetica Neue"/>
                <a:sym typeface="Helvetica Neue"/>
              </a:rPr>
              <a:t>07 · FORECASTING WITH DEEPAR</a:t>
            </a:r>
            <a:endParaRPr b="0" i="0" sz="1500" u="none" cap="none" strike="noStrike">
              <a:solidFill>
                <a:schemeClr val="dk1"/>
              </a:solidFill>
              <a:latin typeface="Calibri"/>
              <a:ea typeface="Calibri"/>
              <a:cs typeface="Calibri"/>
              <a:sym typeface="Calibri"/>
            </a:endParaRPr>
          </a:p>
        </p:txBody>
      </p:sp>
      <p:sp>
        <p:nvSpPr>
          <p:cNvPr id="182" name="Google Shape;182;p7"/>
          <p:cNvSpPr/>
          <p:nvPr/>
        </p:nvSpPr>
        <p:spPr>
          <a:xfrm>
            <a:off x="15483483" y="647700"/>
            <a:ext cx="1966317" cy="2381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1200"/>
              <a:buFont typeface="Courier New"/>
              <a:buNone/>
            </a:pPr>
            <a:r>
              <a:rPr b="0" i="0" lang="en-US" sz="1200" u="none" cap="none" strike="noStrike">
                <a:solidFill>
                  <a:srgbClr val="8A94A6"/>
                </a:solidFill>
                <a:latin typeface="Courier New"/>
                <a:ea typeface="Courier New"/>
                <a:cs typeface="Courier New"/>
                <a:sym typeface="Courier New"/>
              </a:rPr>
              <a:t>SPEAKER · </a:t>
            </a:r>
            <a:r>
              <a:rPr b="1" i="0" lang="en-US" sz="1200" u="none" cap="none" strike="noStrike">
                <a:solidFill>
                  <a:srgbClr val="1F2A37"/>
                </a:solidFill>
                <a:latin typeface="Courier New"/>
                <a:ea typeface="Courier New"/>
                <a:cs typeface="Courier New"/>
                <a:sym typeface="Courier New"/>
              </a:rPr>
              <a:t>RALPH</a:t>
            </a:r>
            <a:endParaRPr b="0" i="0" sz="1200" u="none" cap="none" strike="noStrike">
              <a:solidFill>
                <a:schemeClr val="dk1"/>
              </a:solidFill>
              <a:latin typeface="Calibri"/>
              <a:ea typeface="Calibri"/>
              <a:cs typeface="Calibri"/>
              <a:sym typeface="Calibri"/>
            </a:endParaRPr>
          </a:p>
        </p:txBody>
      </p:sp>
      <p:sp>
        <p:nvSpPr>
          <p:cNvPr id="183" name="Google Shape;183;p7"/>
          <p:cNvSpPr/>
          <p:nvPr/>
        </p:nvSpPr>
        <p:spPr>
          <a:xfrm>
            <a:off x="914400" y="1143000"/>
            <a:ext cx="16952976" cy="592782"/>
          </a:xfrm>
          <a:prstGeom prst="rect">
            <a:avLst/>
          </a:prstGeom>
          <a:noFill/>
          <a:ln>
            <a:noFill/>
          </a:ln>
        </p:spPr>
        <p:txBody>
          <a:bodyPr anchorCtr="0" anchor="t" bIns="25400" lIns="25400" spcFirstLastPara="1" rIns="25400" wrap="square" tIns="25400">
            <a:normAutofit/>
          </a:bodyPr>
          <a:lstStyle/>
          <a:p>
            <a:pPr indent="0" lvl="0" marL="0" marR="0" rtl="0" algn="l">
              <a:lnSpc>
                <a:spcPct val="104000"/>
              </a:lnSpc>
              <a:spcBef>
                <a:spcPts val="0"/>
              </a:spcBef>
              <a:spcAft>
                <a:spcPts val="0"/>
              </a:spcAft>
              <a:buClr>
                <a:srgbClr val="1F2A37"/>
              </a:buClr>
              <a:buSzPts val="4200"/>
              <a:buFont typeface="Helvetica Neue"/>
              <a:buNone/>
            </a:pPr>
            <a:r>
              <a:rPr b="1" i="0" lang="en-US" sz="4200" u="none" cap="none" strike="noStrike">
                <a:solidFill>
                  <a:srgbClr val="1F2A37"/>
                </a:solidFill>
                <a:latin typeface="Helvetica Neue"/>
                <a:ea typeface="Helvetica Neue"/>
                <a:cs typeface="Helvetica Neue"/>
                <a:sym typeface="Helvetica Neue"/>
              </a:rPr>
              <a:t>One global model, probabilistic output, serverless endpoints.</a:t>
            </a:r>
            <a:endParaRPr b="0" i="0" sz="4200" u="none" cap="none" strike="noStrike">
              <a:solidFill>
                <a:schemeClr val="dk1"/>
              </a:solidFill>
              <a:latin typeface="Calibri"/>
              <a:ea typeface="Calibri"/>
              <a:cs typeface="Calibri"/>
              <a:sym typeface="Calibri"/>
            </a:endParaRPr>
          </a:p>
        </p:txBody>
      </p:sp>
      <p:sp>
        <p:nvSpPr>
          <p:cNvPr id="184" name="Google Shape;184;p7"/>
          <p:cNvSpPr/>
          <p:nvPr/>
        </p:nvSpPr>
        <p:spPr>
          <a:xfrm>
            <a:off x="1257300" y="2476500"/>
            <a:ext cx="7430127" cy="384721"/>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1F2A37"/>
              </a:buClr>
              <a:buSzPts val="1950"/>
              <a:buFont typeface="Helvetica Neue"/>
              <a:buNone/>
            </a:pPr>
            <a:r>
              <a:rPr b="1" i="0" lang="en-US" sz="1950" u="none" cap="none" strike="noStrike">
                <a:solidFill>
                  <a:srgbClr val="1F2A37"/>
                </a:solidFill>
                <a:latin typeface="Helvetica Neue"/>
                <a:ea typeface="Helvetica Neue"/>
                <a:cs typeface="Helvetica Neue"/>
                <a:sym typeface="Helvetica Neue"/>
              </a:rPr>
              <a:t>SageMaker DeepAR </a:t>
            </a:r>
            <a:r>
              <a:rPr b="0" i="0" lang="en-US" sz="1950" u="none" cap="none" strike="noStrike">
                <a:solidFill>
                  <a:srgbClr val="3A4A5A"/>
                </a:solidFill>
                <a:latin typeface="Helvetica Neue"/>
                <a:ea typeface="Helvetica Neue"/>
                <a:cs typeface="Helvetica Neue"/>
                <a:sym typeface="Helvetica Neue"/>
              </a:rPr>
              <a:t>· deep auto-regressive RNN.</a:t>
            </a:r>
            <a:endParaRPr b="0" i="0" sz="1950" u="none" cap="none" strike="noStrike">
              <a:solidFill>
                <a:schemeClr val="dk1"/>
              </a:solidFill>
              <a:latin typeface="Calibri"/>
              <a:ea typeface="Calibri"/>
              <a:cs typeface="Calibri"/>
              <a:sym typeface="Calibri"/>
            </a:endParaRPr>
          </a:p>
        </p:txBody>
      </p:sp>
      <p:sp>
        <p:nvSpPr>
          <p:cNvPr id="185" name="Google Shape;185;p7"/>
          <p:cNvSpPr/>
          <p:nvPr/>
        </p:nvSpPr>
        <p:spPr>
          <a:xfrm>
            <a:off x="1257300" y="2994571"/>
            <a:ext cx="7430127" cy="384721"/>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3A4A5A"/>
              </a:buClr>
              <a:buSzPts val="1950"/>
              <a:buFont typeface="Helvetica Neue"/>
              <a:buNone/>
            </a:pPr>
            <a:r>
              <a:rPr b="0" i="0" lang="en-US" sz="1950" u="none" cap="none" strike="noStrike">
                <a:solidFill>
                  <a:srgbClr val="3A4A5A"/>
                </a:solidFill>
                <a:latin typeface="Helvetica Neue"/>
                <a:ea typeface="Helvetica Neue"/>
                <a:cs typeface="Helvetica Neue"/>
                <a:sym typeface="Helvetica Neue"/>
              </a:rPr>
              <a:t>One </a:t>
            </a:r>
            <a:r>
              <a:rPr b="1" i="0" lang="en-US" sz="1950" u="none" cap="none" strike="noStrike">
                <a:solidFill>
                  <a:srgbClr val="1F2A37"/>
                </a:solidFill>
                <a:latin typeface="Helvetica Neue"/>
                <a:ea typeface="Helvetica Neue"/>
                <a:cs typeface="Helvetica Neue"/>
                <a:sym typeface="Helvetica Neue"/>
              </a:rPr>
              <a:t>global </a:t>
            </a:r>
            <a:r>
              <a:rPr b="0" i="0" lang="en-US" sz="1950" u="none" cap="none" strike="noStrike">
                <a:solidFill>
                  <a:srgbClr val="3A4A5A"/>
                </a:solidFill>
                <a:latin typeface="Helvetica Neue"/>
                <a:ea typeface="Helvetica Neue"/>
                <a:cs typeface="Helvetica Neue"/>
                <a:sym typeface="Helvetica Neue"/>
              </a:rPr>
              <a:t>model learned jointly across all tickers.</a:t>
            </a:r>
            <a:endParaRPr b="0" i="0" sz="1950" u="none" cap="none" strike="noStrike">
              <a:solidFill>
                <a:schemeClr val="dk1"/>
              </a:solidFill>
              <a:latin typeface="Calibri"/>
              <a:ea typeface="Calibri"/>
              <a:cs typeface="Calibri"/>
              <a:sym typeface="Calibri"/>
            </a:endParaRPr>
          </a:p>
        </p:txBody>
      </p:sp>
      <p:sp>
        <p:nvSpPr>
          <p:cNvPr id="186" name="Google Shape;186;p7"/>
          <p:cNvSpPr/>
          <p:nvPr/>
        </p:nvSpPr>
        <p:spPr>
          <a:xfrm>
            <a:off x="1257300" y="3512641"/>
            <a:ext cx="7430127" cy="384721"/>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3A4A5A"/>
              </a:buClr>
              <a:buSzPts val="1950"/>
              <a:buFont typeface="Helvetica Neue"/>
              <a:buNone/>
            </a:pPr>
            <a:r>
              <a:rPr b="0" i="0" lang="en-US" sz="1950" u="none" cap="none" strike="noStrike">
                <a:solidFill>
                  <a:srgbClr val="3A4A5A"/>
                </a:solidFill>
                <a:latin typeface="Helvetica Neue"/>
                <a:ea typeface="Helvetica Neue"/>
                <a:cs typeface="Helvetica Neue"/>
                <a:sym typeface="Helvetica Neue"/>
              </a:rPr>
              <a:t>Output is a </a:t>
            </a:r>
            <a:r>
              <a:rPr b="1" i="0" lang="en-US" sz="1950" u="none" cap="none" strike="noStrike">
                <a:solidFill>
                  <a:srgbClr val="1F2A37"/>
                </a:solidFill>
                <a:latin typeface="Helvetica Neue"/>
                <a:ea typeface="Helvetica Neue"/>
                <a:cs typeface="Helvetica Neue"/>
                <a:sym typeface="Helvetica Neue"/>
              </a:rPr>
              <a:t>distribution</a:t>
            </a:r>
            <a:r>
              <a:rPr b="0" i="0" lang="en-US" sz="1950" u="none" cap="none" strike="noStrike">
                <a:solidFill>
                  <a:srgbClr val="3A4A5A"/>
                </a:solidFill>
                <a:latin typeface="Helvetica Neue"/>
                <a:ea typeface="Helvetica Neue"/>
                <a:cs typeface="Helvetica Neue"/>
                <a:sym typeface="Helvetica Neue"/>
              </a:rPr>
              <a:t>, not a point · P10 / P50 / P90.</a:t>
            </a:r>
            <a:endParaRPr b="0" i="0" sz="1950" u="none" cap="none" strike="noStrike">
              <a:solidFill>
                <a:schemeClr val="dk1"/>
              </a:solidFill>
              <a:latin typeface="Calibri"/>
              <a:ea typeface="Calibri"/>
              <a:cs typeface="Calibri"/>
              <a:sym typeface="Calibri"/>
            </a:endParaRPr>
          </a:p>
        </p:txBody>
      </p:sp>
      <p:sp>
        <p:nvSpPr>
          <p:cNvPr id="187" name="Google Shape;187;p7"/>
          <p:cNvSpPr/>
          <p:nvPr/>
        </p:nvSpPr>
        <p:spPr>
          <a:xfrm>
            <a:off x="1257300" y="4030712"/>
            <a:ext cx="7430127" cy="384721"/>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3A4A5A"/>
              </a:buClr>
              <a:buSzPts val="1950"/>
              <a:buFont typeface="Helvetica Neue"/>
              <a:buNone/>
            </a:pPr>
            <a:r>
              <a:rPr b="0" i="0" lang="en-US" sz="1950" u="none" cap="none" strike="noStrike">
                <a:solidFill>
                  <a:srgbClr val="3A4A5A"/>
                </a:solidFill>
                <a:latin typeface="Helvetica Neue"/>
                <a:ea typeface="Helvetica Neue"/>
                <a:cs typeface="Helvetica Neue"/>
                <a:sym typeface="Helvetica Neue"/>
              </a:rPr>
              <a:t>Hourly endpoint takes </a:t>
            </a:r>
            <a:r>
              <a:rPr b="1" i="0" lang="en-US" sz="1950" u="none" cap="none" strike="noStrike">
                <a:solidFill>
                  <a:srgbClr val="1F2A37"/>
                </a:solidFill>
                <a:latin typeface="Helvetica Neue"/>
                <a:ea typeface="Helvetica Neue"/>
                <a:cs typeface="Helvetica Neue"/>
                <a:sym typeface="Helvetica Neue"/>
              </a:rPr>
              <a:t>sentiment </a:t>
            </a:r>
            <a:r>
              <a:rPr b="0" i="0" lang="en-US" sz="1950" u="none" cap="none" strike="noStrike">
                <a:solidFill>
                  <a:srgbClr val="3A4A5A"/>
                </a:solidFill>
                <a:latin typeface="Helvetica Neue"/>
                <a:ea typeface="Helvetica Neue"/>
                <a:cs typeface="Helvetica Neue"/>
                <a:sym typeface="Helvetica Neue"/>
              </a:rPr>
              <a:t>as a related series.</a:t>
            </a:r>
            <a:endParaRPr b="0" i="0" sz="1950" u="none" cap="none" strike="noStrike">
              <a:solidFill>
                <a:schemeClr val="dk1"/>
              </a:solidFill>
              <a:latin typeface="Calibri"/>
              <a:ea typeface="Calibri"/>
              <a:cs typeface="Calibri"/>
              <a:sym typeface="Calibri"/>
            </a:endParaRPr>
          </a:p>
        </p:txBody>
      </p:sp>
      <p:sp>
        <p:nvSpPr>
          <p:cNvPr id="188" name="Google Shape;188;p7"/>
          <p:cNvSpPr/>
          <p:nvPr/>
        </p:nvSpPr>
        <p:spPr>
          <a:xfrm>
            <a:off x="1257300" y="4548783"/>
            <a:ext cx="7430127" cy="384721"/>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1F2A37"/>
              </a:buClr>
              <a:buSzPts val="1950"/>
              <a:buFont typeface="Helvetica Neue"/>
              <a:buNone/>
            </a:pPr>
            <a:r>
              <a:rPr b="1" i="0" lang="en-US" sz="1950" u="none" cap="none" strike="noStrike">
                <a:solidFill>
                  <a:srgbClr val="1F2A37"/>
                </a:solidFill>
                <a:latin typeface="Helvetica Neue"/>
                <a:ea typeface="Helvetica Neue"/>
                <a:cs typeface="Helvetica Neue"/>
                <a:sym typeface="Helvetica Neue"/>
              </a:rPr>
              <a:t>Serverless endpoints </a:t>
            </a:r>
            <a:r>
              <a:rPr b="0" i="0" lang="en-US" sz="1950" u="none" cap="none" strike="noStrike">
                <a:solidFill>
                  <a:srgbClr val="3A4A5A"/>
                </a:solidFill>
                <a:latin typeface="Helvetica Neue"/>
                <a:ea typeface="Helvetica Neue"/>
                <a:cs typeface="Helvetica Neue"/>
                <a:sym typeface="Helvetica Neue"/>
              </a:rPr>
              <a:t>· scale to zero between calls.</a:t>
            </a:r>
            <a:endParaRPr b="0" i="0" sz="1950" u="none" cap="none" strike="noStrike">
              <a:solidFill>
                <a:schemeClr val="dk1"/>
              </a:solidFill>
              <a:latin typeface="Calibri"/>
              <a:ea typeface="Calibri"/>
              <a:cs typeface="Calibri"/>
              <a:sym typeface="Calibri"/>
            </a:endParaRPr>
          </a:p>
        </p:txBody>
      </p:sp>
      <p:sp>
        <p:nvSpPr>
          <p:cNvPr id="189" name="Google Shape;189;p7"/>
          <p:cNvSpPr/>
          <p:nvPr/>
        </p:nvSpPr>
        <p:spPr>
          <a:xfrm>
            <a:off x="1257300" y="5066854"/>
            <a:ext cx="7430127" cy="384721"/>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3A4A5A"/>
              </a:buClr>
              <a:buSzPts val="1950"/>
              <a:buFont typeface="Helvetica Neue"/>
              <a:buNone/>
            </a:pPr>
            <a:r>
              <a:rPr b="0" i="0" lang="en-US" sz="1950" u="none" cap="none" strike="noStrike">
                <a:solidFill>
                  <a:srgbClr val="3A4A5A"/>
                </a:solidFill>
                <a:latin typeface="Helvetica Neue"/>
                <a:ea typeface="Helvetica Neue"/>
                <a:cs typeface="Helvetica Neue"/>
                <a:sym typeface="Helvetica Neue"/>
              </a:rPr>
              <a:t>Sub-second invocation on warm path · bursty workload.</a:t>
            </a:r>
            <a:endParaRPr b="0" i="0" sz="1950" u="none" cap="none" strike="noStrike">
              <a:solidFill>
                <a:schemeClr val="dk1"/>
              </a:solidFill>
              <a:latin typeface="Calibri"/>
              <a:ea typeface="Calibri"/>
              <a:cs typeface="Calibri"/>
              <a:sym typeface="Calibri"/>
            </a:endParaRPr>
          </a:p>
        </p:txBody>
      </p:sp>
      <p:sp>
        <p:nvSpPr>
          <p:cNvPr id="190" name="Google Shape;190;p7"/>
          <p:cNvSpPr/>
          <p:nvPr/>
        </p:nvSpPr>
        <p:spPr>
          <a:xfrm>
            <a:off x="914400" y="5775424"/>
            <a:ext cx="1962150" cy="1143000"/>
          </a:xfrm>
          <a:prstGeom prst="roundRect">
            <a:avLst>
              <a:gd fmla="val 3333" name="adj"/>
            </a:avLst>
          </a:prstGeom>
          <a:solidFill>
            <a:srgbClr val="FFFFFF"/>
          </a:solidFill>
          <a:ln cap="flat" cmpd="sng" w="9525">
            <a:solidFill>
              <a:srgbClr val="E2E5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1" name="Google Shape;191;p7"/>
          <p:cNvSpPr/>
          <p:nvPr/>
        </p:nvSpPr>
        <p:spPr>
          <a:xfrm>
            <a:off x="1133475" y="5956399"/>
            <a:ext cx="1600200" cy="1905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900"/>
              <a:buFont typeface="Courier New"/>
              <a:buNone/>
            </a:pPr>
            <a:r>
              <a:rPr b="0" i="0" lang="en-US" sz="900" u="none" cap="none" strike="noStrike">
                <a:solidFill>
                  <a:srgbClr val="8A94A6"/>
                </a:solidFill>
                <a:latin typeface="Courier New"/>
                <a:ea typeface="Courier New"/>
                <a:cs typeface="Courier New"/>
                <a:sym typeface="Courier New"/>
              </a:rPr>
              <a:t>ENDPOINTS</a:t>
            </a:r>
            <a:endParaRPr b="0" i="0" sz="900" u="none" cap="none" strike="noStrike">
              <a:solidFill>
                <a:schemeClr val="dk1"/>
              </a:solidFill>
              <a:latin typeface="Calibri"/>
              <a:ea typeface="Calibri"/>
              <a:cs typeface="Calibri"/>
              <a:sym typeface="Calibri"/>
            </a:endParaRPr>
          </a:p>
        </p:txBody>
      </p:sp>
      <p:sp>
        <p:nvSpPr>
          <p:cNvPr id="192" name="Google Shape;192;p7"/>
          <p:cNvSpPr/>
          <p:nvPr/>
        </p:nvSpPr>
        <p:spPr>
          <a:xfrm>
            <a:off x="1133475" y="6184999"/>
            <a:ext cx="1600200" cy="3810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F5A623"/>
              </a:buClr>
              <a:buSzPts val="2700"/>
              <a:buFont typeface="Helvetica Neue"/>
              <a:buNone/>
            </a:pPr>
            <a:r>
              <a:rPr b="1" i="0" lang="en-US" sz="2700" u="none" cap="none" strike="noStrike">
                <a:solidFill>
                  <a:srgbClr val="F5A623"/>
                </a:solidFill>
                <a:latin typeface="Helvetica Neue"/>
                <a:ea typeface="Helvetica Neue"/>
                <a:cs typeface="Helvetica Neue"/>
                <a:sym typeface="Helvetica Neue"/>
              </a:rPr>
              <a:t>2</a:t>
            </a:r>
            <a:endParaRPr b="0" i="0" sz="2700" u="none" cap="none" strike="noStrike">
              <a:solidFill>
                <a:schemeClr val="dk1"/>
              </a:solidFill>
              <a:latin typeface="Calibri"/>
              <a:ea typeface="Calibri"/>
              <a:cs typeface="Calibri"/>
              <a:sym typeface="Calibri"/>
            </a:endParaRPr>
          </a:p>
        </p:txBody>
      </p:sp>
      <p:sp>
        <p:nvSpPr>
          <p:cNvPr id="193" name="Google Shape;193;p7"/>
          <p:cNvSpPr/>
          <p:nvPr/>
        </p:nvSpPr>
        <p:spPr>
          <a:xfrm>
            <a:off x="1133475" y="6585049"/>
            <a:ext cx="1600200" cy="1905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900"/>
              <a:buFont typeface="Courier New"/>
              <a:buNone/>
            </a:pPr>
            <a:r>
              <a:rPr b="0" i="0" lang="en-US" sz="900" u="none" cap="none" strike="noStrike">
                <a:solidFill>
                  <a:srgbClr val="8A94A6"/>
                </a:solidFill>
                <a:latin typeface="Courier New"/>
                <a:ea typeface="Courier New"/>
                <a:cs typeface="Courier New"/>
                <a:sym typeface="Courier New"/>
              </a:rPr>
              <a:t>HOURLY + DAILY</a:t>
            </a:r>
            <a:endParaRPr b="0" i="0" sz="900" u="none" cap="none" strike="noStrike">
              <a:solidFill>
                <a:schemeClr val="dk1"/>
              </a:solidFill>
              <a:latin typeface="Calibri"/>
              <a:ea typeface="Calibri"/>
              <a:cs typeface="Calibri"/>
              <a:sym typeface="Calibri"/>
            </a:endParaRPr>
          </a:p>
        </p:txBody>
      </p:sp>
      <p:sp>
        <p:nvSpPr>
          <p:cNvPr id="194" name="Google Shape;194;p7"/>
          <p:cNvSpPr/>
          <p:nvPr/>
        </p:nvSpPr>
        <p:spPr>
          <a:xfrm>
            <a:off x="3028950" y="5775424"/>
            <a:ext cx="1962150" cy="1143000"/>
          </a:xfrm>
          <a:prstGeom prst="roundRect">
            <a:avLst>
              <a:gd fmla="val 3333" name="adj"/>
            </a:avLst>
          </a:prstGeom>
          <a:solidFill>
            <a:srgbClr val="FFFFFF"/>
          </a:solidFill>
          <a:ln cap="flat" cmpd="sng" w="9525">
            <a:solidFill>
              <a:srgbClr val="E2E5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5" name="Google Shape;195;p7"/>
          <p:cNvSpPr/>
          <p:nvPr/>
        </p:nvSpPr>
        <p:spPr>
          <a:xfrm>
            <a:off x="3248025" y="5956399"/>
            <a:ext cx="1600200" cy="1905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900"/>
              <a:buFont typeface="Courier New"/>
              <a:buNone/>
            </a:pPr>
            <a:r>
              <a:rPr b="0" i="0" lang="en-US" sz="900" u="none" cap="none" strike="noStrike">
                <a:solidFill>
                  <a:srgbClr val="8A94A6"/>
                </a:solidFill>
                <a:latin typeface="Courier New"/>
                <a:ea typeface="Courier New"/>
                <a:cs typeface="Courier New"/>
                <a:sym typeface="Courier New"/>
              </a:rPr>
              <a:t>OUTPUT</a:t>
            </a:r>
            <a:endParaRPr b="0" i="0" sz="900" u="none" cap="none" strike="noStrike">
              <a:solidFill>
                <a:schemeClr val="dk1"/>
              </a:solidFill>
              <a:latin typeface="Calibri"/>
              <a:ea typeface="Calibri"/>
              <a:cs typeface="Calibri"/>
              <a:sym typeface="Calibri"/>
            </a:endParaRPr>
          </a:p>
        </p:txBody>
      </p:sp>
      <p:sp>
        <p:nvSpPr>
          <p:cNvPr id="196" name="Google Shape;196;p7"/>
          <p:cNvSpPr/>
          <p:nvPr/>
        </p:nvSpPr>
        <p:spPr>
          <a:xfrm>
            <a:off x="3248025" y="6184999"/>
            <a:ext cx="1600200" cy="28575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F5A623"/>
              </a:buClr>
              <a:buSzPts val="1950"/>
              <a:buFont typeface="Helvetica Neue"/>
              <a:buNone/>
            </a:pPr>
            <a:r>
              <a:rPr b="1" i="0" lang="en-US" sz="1950" u="none" cap="none" strike="noStrike">
                <a:solidFill>
                  <a:srgbClr val="F5A623"/>
                </a:solidFill>
                <a:latin typeface="Helvetica Neue"/>
                <a:ea typeface="Helvetica Neue"/>
                <a:cs typeface="Helvetica Neue"/>
                <a:sym typeface="Helvetica Neue"/>
              </a:rPr>
              <a:t>P10/50/90</a:t>
            </a:r>
            <a:endParaRPr b="0" i="0" sz="1950" u="none" cap="none" strike="noStrike">
              <a:solidFill>
                <a:schemeClr val="dk1"/>
              </a:solidFill>
              <a:latin typeface="Calibri"/>
              <a:ea typeface="Calibri"/>
              <a:cs typeface="Calibri"/>
              <a:sym typeface="Calibri"/>
            </a:endParaRPr>
          </a:p>
        </p:txBody>
      </p:sp>
      <p:sp>
        <p:nvSpPr>
          <p:cNvPr id="197" name="Google Shape;197;p7"/>
          <p:cNvSpPr/>
          <p:nvPr/>
        </p:nvSpPr>
        <p:spPr>
          <a:xfrm>
            <a:off x="5143500" y="5775424"/>
            <a:ext cx="1962150" cy="1143000"/>
          </a:xfrm>
          <a:prstGeom prst="roundRect">
            <a:avLst>
              <a:gd fmla="val 3333" name="adj"/>
            </a:avLst>
          </a:prstGeom>
          <a:solidFill>
            <a:srgbClr val="FFFFFF"/>
          </a:solidFill>
          <a:ln cap="flat" cmpd="sng" w="9525">
            <a:solidFill>
              <a:srgbClr val="E2E5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8" name="Google Shape;198;p7"/>
          <p:cNvSpPr/>
          <p:nvPr/>
        </p:nvSpPr>
        <p:spPr>
          <a:xfrm>
            <a:off x="5362575" y="5956399"/>
            <a:ext cx="1600200" cy="1905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900"/>
              <a:buFont typeface="Courier New"/>
              <a:buNone/>
            </a:pPr>
            <a:r>
              <a:rPr b="0" i="0" lang="en-US" sz="900" u="none" cap="none" strike="noStrike">
                <a:solidFill>
                  <a:srgbClr val="8A94A6"/>
                </a:solidFill>
                <a:latin typeface="Courier New"/>
                <a:ea typeface="Courier New"/>
                <a:cs typeface="Courier New"/>
                <a:sym typeface="Courier New"/>
              </a:rPr>
              <a:t>IDLE COST</a:t>
            </a:r>
            <a:endParaRPr b="0" i="0" sz="900" u="none" cap="none" strike="noStrike">
              <a:solidFill>
                <a:schemeClr val="dk1"/>
              </a:solidFill>
              <a:latin typeface="Calibri"/>
              <a:ea typeface="Calibri"/>
              <a:cs typeface="Calibri"/>
              <a:sym typeface="Calibri"/>
            </a:endParaRPr>
          </a:p>
        </p:txBody>
      </p:sp>
      <p:sp>
        <p:nvSpPr>
          <p:cNvPr id="199" name="Google Shape;199;p7"/>
          <p:cNvSpPr/>
          <p:nvPr/>
        </p:nvSpPr>
        <p:spPr>
          <a:xfrm>
            <a:off x="5362575" y="6184999"/>
            <a:ext cx="1600200" cy="28575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F5A623"/>
              </a:buClr>
              <a:buSzPts val="1950"/>
              <a:buFont typeface="Helvetica Neue"/>
              <a:buNone/>
            </a:pPr>
            <a:r>
              <a:rPr b="1" i="0" lang="en-US" sz="1950" u="none" cap="none" strike="noStrike">
                <a:solidFill>
                  <a:srgbClr val="F5A623"/>
                </a:solidFill>
                <a:latin typeface="Helvetica Neue"/>
                <a:ea typeface="Helvetica Neue"/>
                <a:cs typeface="Helvetica Neue"/>
                <a:sym typeface="Helvetica Neue"/>
              </a:rPr>
              <a:t>≈ $0</a:t>
            </a:r>
            <a:endParaRPr b="0" i="0" sz="1950" u="none" cap="none" strike="noStrike">
              <a:solidFill>
                <a:schemeClr val="dk1"/>
              </a:solidFill>
              <a:latin typeface="Calibri"/>
              <a:ea typeface="Calibri"/>
              <a:cs typeface="Calibri"/>
              <a:sym typeface="Calibri"/>
            </a:endParaRPr>
          </a:p>
        </p:txBody>
      </p:sp>
      <p:sp>
        <p:nvSpPr>
          <p:cNvPr id="200" name="Google Shape;200;p7"/>
          <p:cNvSpPr/>
          <p:nvPr/>
        </p:nvSpPr>
        <p:spPr>
          <a:xfrm>
            <a:off x="9032528" y="2476500"/>
            <a:ext cx="8341072" cy="3200400"/>
          </a:xfrm>
          <a:prstGeom prst="roundRect">
            <a:avLst>
              <a:gd fmla="val 1190" name="adj"/>
            </a:avLst>
          </a:prstGeom>
          <a:solidFill>
            <a:srgbClr val="FFFFFF"/>
          </a:solidFill>
          <a:ln cap="flat" cmpd="sng" w="9525">
            <a:solidFill>
              <a:srgbClr val="E2E5EA"/>
            </a:solidFill>
            <a:prstDash val="solid"/>
            <a:round/>
            <a:headEnd len="sm" w="sm" type="none"/>
            <a:tailEnd len="sm" w="sm" type="none"/>
          </a:ln>
          <a:effectLst>
            <a:outerShdw blurRad="76200" rotWithShape="0" algn="bl" dir="5400000" dist="19050">
              <a:srgbClr val="1F2A37">
                <a:alpha val="392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1" name="Google Shape;201;p7"/>
          <p:cNvSpPr/>
          <p:nvPr/>
        </p:nvSpPr>
        <p:spPr>
          <a:xfrm>
            <a:off x="9175403" y="2619375"/>
            <a:ext cx="8296982" cy="1905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900"/>
              <a:buFont typeface="Courier New"/>
              <a:buNone/>
            </a:pPr>
            <a:r>
              <a:rPr b="0" i="0" lang="en-US" sz="900" u="none" cap="none" strike="noStrike">
                <a:solidFill>
                  <a:srgbClr val="8A94A6"/>
                </a:solidFill>
                <a:latin typeface="Courier New"/>
                <a:ea typeface="Courier New"/>
                <a:cs typeface="Courier New"/>
                <a:sym typeface="Courier New"/>
              </a:rPr>
              <a:t>SERVERLESS ENDPOINT · IN SERVICE</a:t>
            </a:r>
            <a:endParaRPr b="0" i="0" sz="900" u="none" cap="none" strike="noStrike">
              <a:solidFill>
                <a:schemeClr val="dk1"/>
              </a:solidFill>
              <a:latin typeface="Calibri"/>
              <a:ea typeface="Calibri"/>
              <a:cs typeface="Calibri"/>
              <a:sym typeface="Calibri"/>
            </a:endParaRPr>
          </a:p>
        </p:txBody>
      </p:sp>
      <p:sp>
        <p:nvSpPr>
          <p:cNvPr id="202" name="Google Shape;202;p7"/>
          <p:cNvSpPr/>
          <p:nvPr/>
        </p:nvSpPr>
        <p:spPr>
          <a:xfrm>
            <a:off x="9175403" y="2867025"/>
            <a:ext cx="8055322" cy="2667000"/>
          </a:xfrm>
          <a:prstGeom prst="roundRect">
            <a:avLst>
              <a:gd fmla="val 714"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3" name="Google Shape;203;p7"/>
          <p:cNvPicPr preferRelativeResize="0"/>
          <p:nvPr/>
        </p:nvPicPr>
        <p:blipFill rotWithShape="1">
          <a:blip r:embed="rId3">
            <a:alphaModFix/>
          </a:blip>
          <a:srcRect b="0" l="0" r="0" t="0"/>
          <a:stretch/>
        </p:blipFill>
        <p:spPr>
          <a:xfrm>
            <a:off x="9175403" y="2867025"/>
            <a:ext cx="8055322" cy="2667000"/>
          </a:xfrm>
          <a:prstGeom prst="rect">
            <a:avLst/>
          </a:prstGeom>
          <a:noFill/>
          <a:ln>
            <a:noFill/>
          </a:ln>
        </p:spPr>
      </p:pic>
      <p:sp>
        <p:nvSpPr>
          <p:cNvPr id="204" name="Google Shape;204;p7"/>
          <p:cNvSpPr/>
          <p:nvPr/>
        </p:nvSpPr>
        <p:spPr>
          <a:xfrm>
            <a:off x="9032528" y="5886450"/>
            <a:ext cx="8341072" cy="3077468"/>
          </a:xfrm>
          <a:prstGeom prst="roundRect">
            <a:avLst>
              <a:gd fmla="val 1238" name="adj"/>
            </a:avLst>
          </a:prstGeom>
          <a:solidFill>
            <a:srgbClr val="FFFFFF"/>
          </a:solidFill>
          <a:ln cap="flat" cmpd="sng" w="9525">
            <a:solidFill>
              <a:srgbClr val="E2E5EA"/>
            </a:solidFill>
            <a:prstDash val="solid"/>
            <a:round/>
            <a:headEnd len="sm" w="sm" type="none"/>
            <a:tailEnd len="sm" w="sm" type="none"/>
          </a:ln>
          <a:effectLst>
            <a:outerShdw blurRad="76200" rotWithShape="0" algn="bl" dir="5400000" dist="19050">
              <a:srgbClr val="1F2A37">
                <a:alpha val="392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5" name="Google Shape;205;p7"/>
          <p:cNvSpPr/>
          <p:nvPr/>
        </p:nvSpPr>
        <p:spPr>
          <a:xfrm>
            <a:off x="9175403" y="6029325"/>
            <a:ext cx="8296982" cy="1905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900"/>
              <a:buFont typeface="Courier New"/>
              <a:buNone/>
            </a:pPr>
            <a:r>
              <a:rPr b="0" i="0" lang="en-US" sz="900" u="none" cap="none" strike="noStrike">
                <a:solidFill>
                  <a:srgbClr val="8A94A6"/>
                </a:solidFill>
                <a:latin typeface="Courier New"/>
                <a:ea typeface="Courier New"/>
                <a:cs typeface="Courier New"/>
                <a:sym typeface="Courier New"/>
              </a:rPr>
              <a:t>INVOCATION LOG · OK</a:t>
            </a:r>
            <a:endParaRPr b="0" i="0" sz="900" u="none" cap="none" strike="noStrike">
              <a:solidFill>
                <a:schemeClr val="dk1"/>
              </a:solidFill>
              <a:latin typeface="Calibri"/>
              <a:ea typeface="Calibri"/>
              <a:cs typeface="Calibri"/>
              <a:sym typeface="Calibri"/>
            </a:endParaRPr>
          </a:p>
        </p:txBody>
      </p:sp>
      <p:sp>
        <p:nvSpPr>
          <p:cNvPr id="206" name="Google Shape;206;p7"/>
          <p:cNvSpPr/>
          <p:nvPr/>
        </p:nvSpPr>
        <p:spPr>
          <a:xfrm>
            <a:off x="9175403" y="6276975"/>
            <a:ext cx="8055322" cy="2544068"/>
          </a:xfrm>
          <a:prstGeom prst="roundRect">
            <a:avLst>
              <a:gd fmla="val 749"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07" name="Google Shape;207;p7"/>
          <p:cNvPicPr preferRelativeResize="0"/>
          <p:nvPr/>
        </p:nvPicPr>
        <p:blipFill rotWithShape="1">
          <a:blip r:embed="rId4">
            <a:alphaModFix/>
          </a:blip>
          <a:srcRect b="0" l="0" r="0" t="0"/>
          <a:stretch/>
        </p:blipFill>
        <p:spPr>
          <a:xfrm>
            <a:off x="9175403" y="6276975"/>
            <a:ext cx="8055322" cy="2544068"/>
          </a:xfrm>
          <a:prstGeom prst="rect">
            <a:avLst/>
          </a:prstGeom>
          <a:noFill/>
          <a:ln>
            <a:noFill/>
          </a:ln>
        </p:spPr>
      </p:pic>
      <p:sp>
        <p:nvSpPr>
          <p:cNvPr id="208" name="Google Shape;208;p7"/>
          <p:cNvSpPr/>
          <p:nvPr/>
        </p:nvSpPr>
        <p:spPr>
          <a:xfrm>
            <a:off x="914400" y="9496425"/>
            <a:ext cx="16459200" cy="9525"/>
          </a:xfrm>
          <a:prstGeom prst="rect">
            <a:avLst/>
          </a:prstGeom>
          <a:solidFill>
            <a:srgbClr val="E2E5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9" name="Google Shape;209;p7"/>
          <p:cNvSpPr/>
          <p:nvPr/>
        </p:nvSpPr>
        <p:spPr>
          <a:xfrm>
            <a:off x="914400" y="9658350"/>
            <a:ext cx="6985101" cy="2095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975"/>
              <a:buFont typeface="Courier New"/>
              <a:buNone/>
            </a:pPr>
            <a:r>
              <a:rPr b="0" i="0" lang="en-US" sz="975" u="none" cap="none" strike="noStrike">
                <a:solidFill>
                  <a:srgbClr val="8A94A6"/>
                </a:solidFill>
                <a:latin typeface="Courier New"/>
                <a:ea typeface="Courier New"/>
                <a:cs typeface="Courier New"/>
                <a:sym typeface="Courier New"/>
              </a:rPr>
              <a:t>TEAM 11_02 · NEAR-REAL-TIME FINANCIAL FORECASTING ON AWS · CCBDA-MIRI 2026</a:t>
            </a:r>
            <a:endParaRPr b="0" i="0" sz="975" u="none" cap="none" strike="noStrike">
              <a:solidFill>
                <a:schemeClr val="dk1"/>
              </a:solidFill>
              <a:latin typeface="Calibri"/>
              <a:ea typeface="Calibri"/>
              <a:cs typeface="Calibri"/>
              <a:sym typeface="Calibri"/>
            </a:endParaRPr>
          </a:p>
        </p:txBody>
      </p:sp>
      <p:sp>
        <p:nvSpPr>
          <p:cNvPr id="210" name="Google Shape;210;p7"/>
          <p:cNvSpPr/>
          <p:nvPr/>
        </p:nvSpPr>
        <p:spPr>
          <a:xfrm>
            <a:off x="16732002" y="9658350"/>
            <a:ext cx="717798" cy="2095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975"/>
              <a:buFont typeface="Courier New"/>
              <a:buNone/>
            </a:pPr>
            <a:r>
              <a:rPr b="0" i="0" lang="en-US" sz="975" u="none" cap="none" strike="noStrike">
                <a:solidFill>
                  <a:srgbClr val="8A94A6"/>
                </a:solidFill>
                <a:latin typeface="Courier New"/>
                <a:ea typeface="Courier New"/>
                <a:cs typeface="Courier New"/>
                <a:sym typeface="Courier New"/>
              </a:rPr>
              <a:t>07 / 14</a:t>
            </a:r>
            <a:endParaRPr b="0" i="0" sz="975" u="none" cap="none" strike="noStrik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2"/>
        </a:solidFill>
      </p:bgPr>
    </p:bg>
    <p:spTree>
      <p:nvGrpSpPr>
        <p:cNvPr id="215" name="Shape 215"/>
        <p:cNvGrpSpPr/>
        <p:nvPr/>
      </p:nvGrpSpPr>
      <p:grpSpPr>
        <a:xfrm>
          <a:off x="0" y="0"/>
          <a:ext cx="0" cy="0"/>
          <a:chOff x="0" y="0"/>
          <a:chExt cx="0" cy="0"/>
        </a:xfrm>
      </p:grpSpPr>
      <p:sp>
        <p:nvSpPr>
          <p:cNvPr id="216" name="Google Shape;216;p8"/>
          <p:cNvSpPr/>
          <p:nvPr/>
        </p:nvSpPr>
        <p:spPr>
          <a:xfrm>
            <a:off x="914400" y="647700"/>
            <a:ext cx="2674349" cy="2571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F2A37"/>
              </a:buClr>
              <a:buSzPts val="1500"/>
              <a:buFont typeface="Helvetica Neue"/>
              <a:buNone/>
            </a:pPr>
            <a:r>
              <a:rPr b="1" i="0" lang="en-US" sz="1500" u="none" cap="none" strike="noStrike">
                <a:solidFill>
                  <a:srgbClr val="1F2A37"/>
                </a:solidFill>
                <a:latin typeface="Helvetica Neue"/>
                <a:ea typeface="Helvetica Neue"/>
                <a:cs typeface="Helvetica Neue"/>
                <a:sym typeface="Helvetica Neue"/>
              </a:rPr>
              <a:t>08 · TWO HORIZONS</a:t>
            </a:r>
            <a:endParaRPr b="0" i="0" sz="1500" u="none" cap="none" strike="noStrike">
              <a:solidFill>
                <a:schemeClr val="dk1"/>
              </a:solidFill>
              <a:latin typeface="Calibri"/>
              <a:ea typeface="Calibri"/>
              <a:cs typeface="Calibri"/>
              <a:sym typeface="Calibri"/>
            </a:endParaRPr>
          </a:p>
        </p:txBody>
      </p:sp>
      <p:sp>
        <p:nvSpPr>
          <p:cNvPr id="217" name="Google Shape;217;p8"/>
          <p:cNvSpPr/>
          <p:nvPr/>
        </p:nvSpPr>
        <p:spPr>
          <a:xfrm>
            <a:off x="15483483" y="647700"/>
            <a:ext cx="1966317" cy="2381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1200"/>
              <a:buFont typeface="Courier New"/>
              <a:buNone/>
            </a:pPr>
            <a:r>
              <a:rPr b="0" i="0" lang="en-US" sz="1200" u="none" cap="none" strike="noStrike">
                <a:solidFill>
                  <a:srgbClr val="8A94A6"/>
                </a:solidFill>
                <a:latin typeface="Courier New"/>
                <a:ea typeface="Courier New"/>
                <a:cs typeface="Courier New"/>
                <a:sym typeface="Courier New"/>
              </a:rPr>
              <a:t>SPEAKER · </a:t>
            </a:r>
            <a:r>
              <a:rPr b="1" i="0" lang="en-US" sz="1200" u="none" cap="none" strike="noStrike">
                <a:solidFill>
                  <a:srgbClr val="1F2A37"/>
                </a:solidFill>
                <a:latin typeface="Courier New"/>
                <a:ea typeface="Courier New"/>
                <a:cs typeface="Courier New"/>
                <a:sym typeface="Courier New"/>
              </a:rPr>
              <a:t>RALPH</a:t>
            </a:r>
            <a:endParaRPr b="0" i="0" sz="1200" u="none" cap="none" strike="noStrike">
              <a:solidFill>
                <a:schemeClr val="dk1"/>
              </a:solidFill>
              <a:latin typeface="Calibri"/>
              <a:ea typeface="Calibri"/>
              <a:cs typeface="Calibri"/>
              <a:sym typeface="Calibri"/>
            </a:endParaRPr>
          </a:p>
        </p:txBody>
      </p:sp>
      <p:sp>
        <p:nvSpPr>
          <p:cNvPr id="218" name="Google Shape;218;p8"/>
          <p:cNvSpPr/>
          <p:nvPr/>
        </p:nvSpPr>
        <p:spPr>
          <a:xfrm>
            <a:off x="914400" y="1143000"/>
            <a:ext cx="16952976" cy="592782"/>
          </a:xfrm>
          <a:prstGeom prst="rect">
            <a:avLst/>
          </a:prstGeom>
          <a:noFill/>
          <a:ln>
            <a:noFill/>
          </a:ln>
        </p:spPr>
        <p:txBody>
          <a:bodyPr anchorCtr="0" anchor="t" bIns="25400" lIns="25400" spcFirstLastPara="1" rIns="25400" wrap="square" tIns="25400">
            <a:normAutofit/>
          </a:bodyPr>
          <a:lstStyle/>
          <a:p>
            <a:pPr indent="0" lvl="0" marL="0" marR="0" rtl="0" algn="l">
              <a:lnSpc>
                <a:spcPct val="104000"/>
              </a:lnSpc>
              <a:spcBef>
                <a:spcPts val="0"/>
              </a:spcBef>
              <a:spcAft>
                <a:spcPts val="0"/>
              </a:spcAft>
              <a:buClr>
                <a:srgbClr val="1F2A37"/>
              </a:buClr>
              <a:buSzPts val="4200"/>
              <a:buFont typeface="Helvetica Neue"/>
              <a:buNone/>
            </a:pPr>
            <a:r>
              <a:rPr b="1" i="0" lang="en-US" sz="4200" u="none" cap="none" strike="noStrike">
                <a:solidFill>
                  <a:srgbClr val="1F2A37"/>
                </a:solidFill>
                <a:latin typeface="Helvetica Neue"/>
                <a:ea typeface="Helvetica Neue"/>
                <a:cs typeface="Helvetica Neue"/>
                <a:sym typeface="Helvetica Neue"/>
              </a:rPr>
              <a:t>Same components, two configurations.</a:t>
            </a:r>
            <a:endParaRPr b="0" i="0" sz="4200" u="none" cap="none" strike="noStrike">
              <a:solidFill>
                <a:schemeClr val="dk1"/>
              </a:solidFill>
              <a:latin typeface="Calibri"/>
              <a:ea typeface="Calibri"/>
              <a:cs typeface="Calibri"/>
              <a:sym typeface="Calibri"/>
            </a:endParaRPr>
          </a:p>
        </p:txBody>
      </p:sp>
      <p:sp>
        <p:nvSpPr>
          <p:cNvPr id="219" name="Google Shape;219;p8"/>
          <p:cNvSpPr/>
          <p:nvPr/>
        </p:nvSpPr>
        <p:spPr>
          <a:xfrm>
            <a:off x="914400" y="2095500"/>
            <a:ext cx="8077200" cy="4821300"/>
          </a:xfrm>
          <a:prstGeom prst="roundRect">
            <a:avLst>
              <a:gd fmla="val 816"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8"/>
          <p:cNvSpPr/>
          <p:nvPr/>
        </p:nvSpPr>
        <p:spPr>
          <a:xfrm>
            <a:off x="914400" y="6753225"/>
            <a:ext cx="8077200" cy="9525"/>
          </a:xfrm>
          <a:prstGeom prst="rect">
            <a:avLst/>
          </a:prstGeom>
          <a:solidFill>
            <a:srgbClr val="E2E5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8"/>
          <p:cNvSpPr/>
          <p:nvPr/>
        </p:nvSpPr>
        <p:spPr>
          <a:xfrm>
            <a:off x="914400" y="2095500"/>
            <a:ext cx="8077200" cy="38100"/>
          </a:xfrm>
          <a:prstGeom prst="rect">
            <a:avLst/>
          </a:prstGeom>
          <a:solidFill>
            <a:srgbClr val="F5A6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8"/>
          <p:cNvSpPr/>
          <p:nvPr/>
        </p:nvSpPr>
        <p:spPr>
          <a:xfrm>
            <a:off x="914400" y="2095500"/>
            <a:ext cx="9525" cy="4667250"/>
          </a:xfrm>
          <a:prstGeom prst="rect">
            <a:avLst/>
          </a:prstGeom>
          <a:solidFill>
            <a:srgbClr val="E2E5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8"/>
          <p:cNvSpPr/>
          <p:nvPr/>
        </p:nvSpPr>
        <p:spPr>
          <a:xfrm>
            <a:off x="8982075" y="2095500"/>
            <a:ext cx="9525" cy="4667250"/>
          </a:xfrm>
          <a:prstGeom prst="rect">
            <a:avLst/>
          </a:prstGeom>
          <a:solidFill>
            <a:srgbClr val="E2E5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8"/>
          <p:cNvSpPr/>
          <p:nvPr/>
        </p:nvSpPr>
        <p:spPr>
          <a:xfrm>
            <a:off x="1209675" y="2419350"/>
            <a:ext cx="7711250" cy="2095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C97F0E"/>
              </a:buClr>
              <a:buSzPts val="975"/>
              <a:buFont typeface="Courier New"/>
              <a:buNone/>
            </a:pPr>
            <a:r>
              <a:rPr b="0" i="0" lang="en-US" sz="975" u="none" cap="none" strike="noStrike">
                <a:solidFill>
                  <a:srgbClr val="C97F0E"/>
                </a:solidFill>
                <a:latin typeface="Courier New"/>
                <a:ea typeface="Courier New"/>
                <a:cs typeface="Courier New"/>
                <a:sym typeface="Courier New"/>
              </a:rPr>
              <a:t>HOURLY TRACK</a:t>
            </a:r>
            <a:endParaRPr b="0" i="0" sz="975" u="none" cap="none" strike="noStrike">
              <a:solidFill>
                <a:schemeClr val="dk1"/>
              </a:solidFill>
              <a:latin typeface="Calibri"/>
              <a:ea typeface="Calibri"/>
              <a:cs typeface="Calibri"/>
              <a:sym typeface="Calibri"/>
            </a:endParaRPr>
          </a:p>
        </p:txBody>
      </p:sp>
      <p:sp>
        <p:nvSpPr>
          <p:cNvPr id="225" name="Google Shape;225;p8"/>
          <p:cNvSpPr/>
          <p:nvPr/>
        </p:nvSpPr>
        <p:spPr>
          <a:xfrm>
            <a:off x="1209675" y="2800350"/>
            <a:ext cx="7711250" cy="949226"/>
          </a:xfrm>
          <a:prstGeom prst="rect">
            <a:avLst/>
          </a:prstGeom>
          <a:noFill/>
          <a:ln>
            <a:noFill/>
          </a:ln>
        </p:spPr>
        <p:txBody>
          <a:bodyPr anchorCtr="0" anchor="t" bIns="25400" lIns="25400" spcFirstLastPara="1" rIns="25400" wrap="square" tIns="25400">
            <a:normAutofit/>
          </a:bodyPr>
          <a:lstStyle/>
          <a:p>
            <a:pPr indent="0" lvl="0" marL="0" marR="0" rtl="0" algn="l">
              <a:lnSpc>
                <a:spcPct val="104000"/>
              </a:lnSpc>
              <a:spcBef>
                <a:spcPts val="0"/>
              </a:spcBef>
              <a:spcAft>
                <a:spcPts val="0"/>
              </a:spcAft>
              <a:buClr>
                <a:srgbClr val="1F2A37"/>
              </a:buClr>
              <a:buSzPts val="3450"/>
              <a:buFont typeface="Helvetica Neue"/>
              <a:buNone/>
            </a:pPr>
            <a:r>
              <a:rPr b="1" i="0" lang="en-US" sz="3450" u="none" cap="none" strike="noStrike">
                <a:solidFill>
                  <a:srgbClr val="1F2A37"/>
                </a:solidFill>
                <a:latin typeface="Helvetica Neue"/>
                <a:ea typeface="Helvetica Neue"/>
                <a:cs typeface="Helvetica Neue"/>
                <a:sym typeface="Helvetica Neue"/>
              </a:rPr>
              <a:t>1 hour ahead </a:t>
            </a:r>
            <a:r>
              <a:rPr b="0" i="0" lang="en-US" sz="1650" u="none" cap="none" strike="noStrike">
                <a:solidFill>
                  <a:srgbClr val="8A94A6"/>
                </a:solidFill>
                <a:latin typeface="Courier New"/>
                <a:ea typeface="Courier New"/>
                <a:cs typeface="Courier New"/>
                <a:sym typeface="Courier New"/>
              </a:rPr>
              <a:t>refreshed every hour</a:t>
            </a:r>
            <a:endParaRPr b="0" i="0" sz="3450" u="none" cap="none" strike="noStrike">
              <a:solidFill>
                <a:schemeClr val="dk1"/>
              </a:solidFill>
              <a:latin typeface="Calibri"/>
              <a:ea typeface="Calibri"/>
              <a:cs typeface="Calibri"/>
              <a:sym typeface="Calibri"/>
            </a:endParaRPr>
          </a:p>
        </p:txBody>
      </p:sp>
      <p:sp>
        <p:nvSpPr>
          <p:cNvPr id="226" name="Google Shape;226;p8"/>
          <p:cNvSpPr/>
          <p:nvPr/>
        </p:nvSpPr>
        <p:spPr>
          <a:xfrm>
            <a:off x="1209675" y="4392513"/>
            <a:ext cx="2304157" cy="9525"/>
          </a:xfrm>
          <a:prstGeom prst="rect">
            <a:avLst/>
          </a:prstGeom>
          <a:solidFill>
            <a:srgbClr val="E2E5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8"/>
          <p:cNvSpPr/>
          <p:nvPr/>
        </p:nvSpPr>
        <p:spPr>
          <a:xfrm>
            <a:off x="1381125" y="4016276"/>
            <a:ext cx="2037457" cy="28098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975"/>
              <a:buFont typeface="Courier New"/>
              <a:buNone/>
            </a:pPr>
            <a:r>
              <a:rPr b="0" i="0" lang="en-US" sz="975" u="none" cap="none" strike="noStrike">
                <a:solidFill>
                  <a:srgbClr val="8A94A6"/>
                </a:solidFill>
                <a:latin typeface="Courier New"/>
                <a:ea typeface="Courier New"/>
                <a:cs typeface="Courier New"/>
                <a:sym typeface="Courier New"/>
              </a:rPr>
              <a:t>CADENCE</a:t>
            </a:r>
            <a:endParaRPr b="0" i="0" sz="975" u="none" cap="none" strike="noStrike">
              <a:solidFill>
                <a:schemeClr val="dk1"/>
              </a:solidFill>
              <a:latin typeface="Calibri"/>
              <a:ea typeface="Calibri"/>
              <a:cs typeface="Calibri"/>
              <a:sym typeface="Calibri"/>
            </a:endParaRPr>
          </a:p>
        </p:txBody>
      </p:sp>
      <p:sp>
        <p:nvSpPr>
          <p:cNvPr id="228" name="Google Shape;228;p8"/>
          <p:cNvSpPr/>
          <p:nvPr/>
        </p:nvSpPr>
        <p:spPr>
          <a:xfrm>
            <a:off x="3513832" y="4392513"/>
            <a:ext cx="5182493" cy="9525"/>
          </a:xfrm>
          <a:prstGeom prst="rect">
            <a:avLst/>
          </a:prstGeom>
          <a:solidFill>
            <a:srgbClr val="E2E5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8"/>
          <p:cNvSpPr/>
          <p:nvPr/>
        </p:nvSpPr>
        <p:spPr>
          <a:xfrm>
            <a:off x="3685282" y="4016276"/>
            <a:ext cx="4995068" cy="28098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A4A5A"/>
              </a:buClr>
              <a:buSzPts val="1650"/>
              <a:buFont typeface="Helvetica Neue"/>
              <a:buNone/>
            </a:pPr>
            <a:r>
              <a:rPr b="0" i="0" lang="en-US" sz="1650" u="none" cap="none" strike="noStrike">
                <a:solidFill>
                  <a:srgbClr val="3A4A5A"/>
                </a:solidFill>
                <a:latin typeface="Helvetica Neue"/>
                <a:ea typeface="Helvetica Neue"/>
                <a:cs typeface="Helvetica Neue"/>
                <a:sym typeface="Helvetica Neue"/>
              </a:rPr>
              <a:t>every hour</a:t>
            </a:r>
            <a:endParaRPr b="0" i="0" sz="1650" u="none" cap="none" strike="noStrike">
              <a:solidFill>
                <a:schemeClr val="dk1"/>
              </a:solidFill>
              <a:latin typeface="Calibri"/>
              <a:ea typeface="Calibri"/>
              <a:cs typeface="Calibri"/>
              <a:sym typeface="Calibri"/>
            </a:endParaRPr>
          </a:p>
        </p:txBody>
      </p:sp>
      <p:sp>
        <p:nvSpPr>
          <p:cNvPr id="230" name="Google Shape;230;p8"/>
          <p:cNvSpPr/>
          <p:nvPr/>
        </p:nvSpPr>
        <p:spPr>
          <a:xfrm>
            <a:off x="1209675" y="4916388"/>
            <a:ext cx="2304157" cy="9525"/>
          </a:xfrm>
          <a:prstGeom prst="rect">
            <a:avLst/>
          </a:prstGeom>
          <a:solidFill>
            <a:srgbClr val="E2E5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8"/>
          <p:cNvSpPr/>
          <p:nvPr/>
        </p:nvSpPr>
        <p:spPr>
          <a:xfrm>
            <a:off x="1381125" y="4535388"/>
            <a:ext cx="2037457" cy="2857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975"/>
              <a:buFont typeface="Courier New"/>
              <a:buNone/>
            </a:pPr>
            <a:r>
              <a:rPr b="0" i="0" lang="en-US" sz="975" u="none" cap="none" strike="noStrike">
                <a:solidFill>
                  <a:srgbClr val="8A94A6"/>
                </a:solidFill>
                <a:latin typeface="Courier New"/>
                <a:ea typeface="Courier New"/>
                <a:cs typeface="Courier New"/>
                <a:sym typeface="Courier New"/>
              </a:rPr>
              <a:t>LOOKAHEAD</a:t>
            </a:r>
            <a:endParaRPr b="0" i="0" sz="975" u="none" cap="none" strike="noStrike">
              <a:solidFill>
                <a:schemeClr val="dk1"/>
              </a:solidFill>
              <a:latin typeface="Calibri"/>
              <a:ea typeface="Calibri"/>
              <a:cs typeface="Calibri"/>
              <a:sym typeface="Calibri"/>
            </a:endParaRPr>
          </a:p>
        </p:txBody>
      </p:sp>
      <p:sp>
        <p:nvSpPr>
          <p:cNvPr id="232" name="Google Shape;232;p8"/>
          <p:cNvSpPr/>
          <p:nvPr/>
        </p:nvSpPr>
        <p:spPr>
          <a:xfrm>
            <a:off x="3513832" y="4916388"/>
            <a:ext cx="5182493" cy="9525"/>
          </a:xfrm>
          <a:prstGeom prst="rect">
            <a:avLst/>
          </a:prstGeom>
          <a:solidFill>
            <a:srgbClr val="E2E5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3" name="Google Shape;233;p8"/>
          <p:cNvSpPr/>
          <p:nvPr/>
        </p:nvSpPr>
        <p:spPr>
          <a:xfrm>
            <a:off x="3685282" y="4535388"/>
            <a:ext cx="4995068" cy="2857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A4A5A"/>
              </a:buClr>
              <a:buSzPts val="1650"/>
              <a:buFont typeface="Helvetica Neue"/>
              <a:buNone/>
            </a:pPr>
            <a:r>
              <a:rPr b="0" i="0" lang="en-US" sz="1650" u="none" cap="none" strike="noStrike">
                <a:solidFill>
                  <a:srgbClr val="3A4A5A"/>
                </a:solidFill>
                <a:latin typeface="Helvetica Neue"/>
                <a:ea typeface="Helvetica Neue"/>
                <a:cs typeface="Helvetica Neue"/>
                <a:sym typeface="Helvetica Neue"/>
              </a:rPr>
              <a:t>1 hour</a:t>
            </a:r>
            <a:endParaRPr b="0" i="0" sz="1650" u="none" cap="none" strike="noStrike">
              <a:solidFill>
                <a:schemeClr val="dk1"/>
              </a:solidFill>
              <a:latin typeface="Calibri"/>
              <a:ea typeface="Calibri"/>
              <a:cs typeface="Calibri"/>
              <a:sym typeface="Calibri"/>
            </a:endParaRPr>
          </a:p>
        </p:txBody>
      </p:sp>
      <p:sp>
        <p:nvSpPr>
          <p:cNvPr id="234" name="Google Shape;234;p8"/>
          <p:cNvSpPr/>
          <p:nvPr/>
        </p:nvSpPr>
        <p:spPr>
          <a:xfrm>
            <a:off x="1209675" y="5440263"/>
            <a:ext cx="2304157" cy="9525"/>
          </a:xfrm>
          <a:prstGeom prst="rect">
            <a:avLst/>
          </a:prstGeom>
          <a:solidFill>
            <a:srgbClr val="E2E5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5" name="Google Shape;235;p8"/>
          <p:cNvSpPr/>
          <p:nvPr/>
        </p:nvSpPr>
        <p:spPr>
          <a:xfrm>
            <a:off x="1381125" y="5059263"/>
            <a:ext cx="2037457" cy="2857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975"/>
              <a:buFont typeface="Courier New"/>
              <a:buNone/>
            </a:pPr>
            <a:r>
              <a:rPr b="0" i="0" lang="en-US" sz="975" u="none" cap="none" strike="noStrike">
                <a:solidFill>
                  <a:srgbClr val="8A94A6"/>
                </a:solidFill>
                <a:latin typeface="Courier New"/>
                <a:ea typeface="Courier New"/>
                <a:cs typeface="Courier New"/>
                <a:sym typeface="Courier New"/>
              </a:rPr>
              <a:t>INPUTS</a:t>
            </a:r>
            <a:endParaRPr b="0" i="0" sz="975" u="none" cap="none" strike="noStrike">
              <a:solidFill>
                <a:schemeClr val="dk1"/>
              </a:solidFill>
              <a:latin typeface="Calibri"/>
              <a:ea typeface="Calibri"/>
              <a:cs typeface="Calibri"/>
              <a:sym typeface="Calibri"/>
            </a:endParaRPr>
          </a:p>
        </p:txBody>
      </p:sp>
      <p:sp>
        <p:nvSpPr>
          <p:cNvPr id="236" name="Google Shape;236;p8"/>
          <p:cNvSpPr/>
          <p:nvPr/>
        </p:nvSpPr>
        <p:spPr>
          <a:xfrm>
            <a:off x="3513832" y="5440263"/>
            <a:ext cx="5182493" cy="9525"/>
          </a:xfrm>
          <a:prstGeom prst="rect">
            <a:avLst/>
          </a:prstGeom>
          <a:solidFill>
            <a:srgbClr val="E2E5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8"/>
          <p:cNvSpPr/>
          <p:nvPr/>
        </p:nvSpPr>
        <p:spPr>
          <a:xfrm>
            <a:off x="3685282" y="5059263"/>
            <a:ext cx="4995068" cy="2857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A4A5A"/>
              </a:buClr>
              <a:buSzPts val="1650"/>
              <a:buFont typeface="Helvetica Neue"/>
              <a:buNone/>
            </a:pPr>
            <a:r>
              <a:rPr b="0" i="0" lang="en-US" sz="1650" u="none" cap="none" strike="noStrike">
                <a:solidFill>
                  <a:srgbClr val="3A4A5A"/>
                </a:solidFill>
                <a:latin typeface="Helvetica Neue"/>
                <a:ea typeface="Helvetica Neue"/>
                <a:cs typeface="Helvetica Neue"/>
                <a:sym typeface="Helvetica Neue"/>
              </a:rPr>
              <a:t>prices + sentiment</a:t>
            </a:r>
            <a:endParaRPr b="0" i="0" sz="1650" u="none" cap="none" strike="noStrike">
              <a:solidFill>
                <a:schemeClr val="dk1"/>
              </a:solidFill>
              <a:latin typeface="Calibri"/>
              <a:ea typeface="Calibri"/>
              <a:cs typeface="Calibri"/>
              <a:sym typeface="Calibri"/>
            </a:endParaRPr>
          </a:p>
        </p:txBody>
      </p:sp>
      <p:sp>
        <p:nvSpPr>
          <p:cNvPr id="238" name="Google Shape;238;p8"/>
          <p:cNvSpPr/>
          <p:nvPr/>
        </p:nvSpPr>
        <p:spPr>
          <a:xfrm>
            <a:off x="1209675" y="5964138"/>
            <a:ext cx="2304157" cy="9525"/>
          </a:xfrm>
          <a:prstGeom prst="rect">
            <a:avLst/>
          </a:prstGeom>
          <a:solidFill>
            <a:srgbClr val="E2E5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8"/>
          <p:cNvSpPr/>
          <p:nvPr/>
        </p:nvSpPr>
        <p:spPr>
          <a:xfrm>
            <a:off x="1381125" y="5583138"/>
            <a:ext cx="2037457" cy="2857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975"/>
              <a:buFont typeface="Courier New"/>
              <a:buNone/>
            </a:pPr>
            <a:r>
              <a:rPr b="0" i="0" lang="en-US" sz="975" u="none" cap="none" strike="noStrike">
                <a:solidFill>
                  <a:srgbClr val="8A94A6"/>
                </a:solidFill>
                <a:latin typeface="Courier New"/>
                <a:ea typeface="Courier New"/>
                <a:cs typeface="Courier New"/>
                <a:sym typeface="Courier New"/>
              </a:rPr>
              <a:t>MODEL</a:t>
            </a:r>
            <a:endParaRPr b="0" i="0" sz="975" u="none" cap="none" strike="noStrike">
              <a:solidFill>
                <a:schemeClr val="dk1"/>
              </a:solidFill>
              <a:latin typeface="Calibri"/>
              <a:ea typeface="Calibri"/>
              <a:cs typeface="Calibri"/>
              <a:sym typeface="Calibri"/>
            </a:endParaRPr>
          </a:p>
        </p:txBody>
      </p:sp>
      <p:sp>
        <p:nvSpPr>
          <p:cNvPr id="240" name="Google Shape;240;p8"/>
          <p:cNvSpPr/>
          <p:nvPr/>
        </p:nvSpPr>
        <p:spPr>
          <a:xfrm>
            <a:off x="3513832" y="5964138"/>
            <a:ext cx="5182493" cy="9525"/>
          </a:xfrm>
          <a:prstGeom prst="rect">
            <a:avLst/>
          </a:prstGeom>
          <a:solidFill>
            <a:srgbClr val="E2E5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8"/>
          <p:cNvSpPr/>
          <p:nvPr/>
        </p:nvSpPr>
        <p:spPr>
          <a:xfrm>
            <a:off x="3685282" y="5583138"/>
            <a:ext cx="4995068" cy="2857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A4A5A"/>
              </a:buClr>
              <a:buSzPts val="1650"/>
              <a:buFont typeface="Helvetica Neue"/>
              <a:buNone/>
            </a:pPr>
            <a:r>
              <a:rPr b="0" i="0" lang="en-US" sz="1650" u="none" cap="none" strike="noStrike">
                <a:solidFill>
                  <a:srgbClr val="3A4A5A"/>
                </a:solidFill>
                <a:latin typeface="Helvetica Neue"/>
                <a:ea typeface="Helvetica Neue"/>
                <a:cs typeface="Helvetica Neue"/>
                <a:sym typeface="Helvetica Neue"/>
              </a:rPr>
              <a:t>DeepAR hourly endpoint</a:t>
            </a:r>
            <a:endParaRPr b="0" i="0" sz="1650" u="none" cap="none" strike="noStrike">
              <a:solidFill>
                <a:schemeClr val="dk1"/>
              </a:solidFill>
              <a:latin typeface="Calibri"/>
              <a:ea typeface="Calibri"/>
              <a:cs typeface="Calibri"/>
              <a:sym typeface="Calibri"/>
            </a:endParaRPr>
          </a:p>
        </p:txBody>
      </p:sp>
      <p:sp>
        <p:nvSpPr>
          <p:cNvPr id="242" name="Google Shape;242;p8"/>
          <p:cNvSpPr/>
          <p:nvPr/>
        </p:nvSpPr>
        <p:spPr>
          <a:xfrm>
            <a:off x="1209675" y="6488013"/>
            <a:ext cx="2304157" cy="9525"/>
          </a:xfrm>
          <a:prstGeom prst="rect">
            <a:avLst/>
          </a:prstGeom>
          <a:solidFill>
            <a:srgbClr val="E2E5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8"/>
          <p:cNvSpPr/>
          <p:nvPr/>
        </p:nvSpPr>
        <p:spPr>
          <a:xfrm>
            <a:off x="1381125" y="6107013"/>
            <a:ext cx="2037457" cy="2857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975"/>
              <a:buFont typeface="Courier New"/>
              <a:buNone/>
            </a:pPr>
            <a:r>
              <a:rPr b="0" i="0" lang="en-US" sz="975" u="none" cap="none" strike="noStrike">
                <a:solidFill>
                  <a:srgbClr val="8A94A6"/>
                </a:solidFill>
                <a:latin typeface="Courier New"/>
                <a:ea typeface="Courier New"/>
                <a:cs typeface="Courier New"/>
                <a:sym typeface="Courier New"/>
              </a:rPr>
              <a:t>RETRAIN</a:t>
            </a:r>
            <a:endParaRPr b="0" i="0" sz="975" u="none" cap="none" strike="noStrike">
              <a:solidFill>
                <a:schemeClr val="dk1"/>
              </a:solidFill>
              <a:latin typeface="Calibri"/>
              <a:ea typeface="Calibri"/>
              <a:cs typeface="Calibri"/>
              <a:sym typeface="Calibri"/>
            </a:endParaRPr>
          </a:p>
        </p:txBody>
      </p:sp>
      <p:sp>
        <p:nvSpPr>
          <p:cNvPr id="244" name="Google Shape;244;p8"/>
          <p:cNvSpPr/>
          <p:nvPr/>
        </p:nvSpPr>
        <p:spPr>
          <a:xfrm>
            <a:off x="3513832" y="6488013"/>
            <a:ext cx="5182493" cy="9525"/>
          </a:xfrm>
          <a:prstGeom prst="rect">
            <a:avLst/>
          </a:prstGeom>
          <a:solidFill>
            <a:srgbClr val="E2E5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8"/>
          <p:cNvSpPr/>
          <p:nvPr/>
        </p:nvSpPr>
        <p:spPr>
          <a:xfrm>
            <a:off x="3685282" y="6107013"/>
            <a:ext cx="4995068" cy="2857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A4A5A"/>
              </a:buClr>
              <a:buSzPts val="1650"/>
              <a:buFont typeface="Helvetica Neue"/>
              <a:buNone/>
            </a:pPr>
            <a:r>
              <a:rPr b="0" i="0" lang="en-US" sz="1650" u="none" cap="none" strike="noStrike">
                <a:solidFill>
                  <a:srgbClr val="3A4A5A"/>
                </a:solidFill>
                <a:latin typeface="Helvetica Neue"/>
                <a:ea typeface="Helvetica Neue"/>
                <a:cs typeface="Helvetica Neue"/>
                <a:sym typeface="Helvetica Neue"/>
              </a:rPr>
              <a:t>weekly cron (Sun 06:00)</a:t>
            </a:r>
            <a:endParaRPr b="0" i="0" sz="1650" u="none" cap="none" strike="noStrike">
              <a:solidFill>
                <a:schemeClr val="dk1"/>
              </a:solidFill>
              <a:latin typeface="Calibri"/>
              <a:ea typeface="Calibri"/>
              <a:cs typeface="Calibri"/>
              <a:sym typeface="Calibri"/>
            </a:endParaRPr>
          </a:p>
        </p:txBody>
      </p:sp>
      <p:sp>
        <p:nvSpPr>
          <p:cNvPr id="246" name="Google Shape;246;p8"/>
          <p:cNvSpPr/>
          <p:nvPr/>
        </p:nvSpPr>
        <p:spPr>
          <a:xfrm>
            <a:off x="1209675" y="7011888"/>
            <a:ext cx="2304157" cy="9525"/>
          </a:xfrm>
          <a:prstGeom prst="rect">
            <a:avLst/>
          </a:prstGeom>
          <a:solidFill>
            <a:srgbClr val="E2E5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8"/>
          <p:cNvSpPr/>
          <p:nvPr/>
        </p:nvSpPr>
        <p:spPr>
          <a:xfrm>
            <a:off x="1381125" y="6630888"/>
            <a:ext cx="2037457" cy="2857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975"/>
              <a:buFont typeface="Courier New"/>
              <a:buNone/>
            </a:pPr>
            <a:r>
              <a:rPr b="0" i="0" lang="en-US" sz="975" u="none" cap="none" strike="noStrike">
                <a:solidFill>
                  <a:srgbClr val="8A94A6"/>
                </a:solidFill>
                <a:latin typeface="Courier New"/>
                <a:ea typeface="Courier New"/>
                <a:cs typeface="Courier New"/>
                <a:sym typeface="Courier New"/>
              </a:rPr>
              <a:t>USED FOR</a:t>
            </a:r>
            <a:endParaRPr b="0" i="0" sz="975" u="none" cap="none" strike="noStrike">
              <a:solidFill>
                <a:schemeClr val="dk1"/>
              </a:solidFill>
              <a:latin typeface="Calibri"/>
              <a:ea typeface="Calibri"/>
              <a:cs typeface="Calibri"/>
              <a:sym typeface="Calibri"/>
            </a:endParaRPr>
          </a:p>
        </p:txBody>
      </p:sp>
      <p:sp>
        <p:nvSpPr>
          <p:cNvPr id="248" name="Google Shape;248;p8"/>
          <p:cNvSpPr/>
          <p:nvPr/>
        </p:nvSpPr>
        <p:spPr>
          <a:xfrm>
            <a:off x="3513832" y="7011888"/>
            <a:ext cx="5182493" cy="9525"/>
          </a:xfrm>
          <a:prstGeom prst="rect">
            <a:avLst/>
          </a:prstGeom>
          <a:solidFill>
            <a:srgbClr val="E2E5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8"/>
          <p:cNvSpPr/>
          <p:nvPr/>
        </p:nvSpPr>
        <p:spPr>
          <a:xfrm>
            <a:off x="3685282" y="6630888"/>
            <a:ext cx="4995068" cy="2857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A4A5A"/>
              </a:buClr>
              <a:buSzPts val="1650"/>
              <a:buFont typeface="Helvetica Neue"/>
              <a:buNone/>
            </a:pPr>
            <a:r>
              <a:rPr b="0" i="0" lang="en-US" sz="1650" u="none" cap="none" strike="noStrike">
                <a:solidFill>
                  <a:srgbClr val="3A4A5A"/>
                </a:solidFill>
                <a:latin typeface="Helvetica Neue"/>
                <a:ea typeface="Helvetica Neue"/>
                <a:cs typeface="Helvetica Neue"/>
                <a:sym typeface="Helvetica Neue"/>
              </a:rPr>
              <a:t>intraday reaction</a:t>
            </a:r>
            <a:endParaRPr b="0" i="0" sz="1650" u="none" cap="none" strike="noStrike">
              <a:solidFill>
                <a:schemeClr val="dk1"/>
              </a:solidFill>
              <a:latin typeface="Calibri"/>
              <a:ea typeface="Calibri"/>
              <a:cs typeface="Calibri"/>
              <a:sym typeface="Calibri"/>
            </a:endParaRPr>
          </a:p>
        </p:txBody>
      </p:sp>
      <p:sp>
        <p:nvSpPr>
          <p:cNvPr id="250" name="Google Shape;250;p8"/>
          <p:cNvSpPr/>
          <p:nvPr/>
        </p:nvSpPr>
        <p:spPr>
          <a:xfrm>
            <a:off x="9296400" y="2095500"/>
            <a:ext cx="8077200" cy="4821300"/>
          </a:xfrm>
          <a:prstGeom prst="roundRect">
            <a:avLst>
              <a:gd fmla="val 816"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8"/>
          <p:cNvSpPr/>
          <p:nvPr/>
        </p:nvSpPr>
        <p:spPr>
          <a:xfrm>
            <a:off x="9296400" y="6753225"/>
            <a:ext cx="8077200" cy="9525"/>
          </a:xfrm>
          <a:prstGeom prst="rect">
            <a:avLst/>
          </a:prstGeom>
          <a:solidFill>
            <a:srgbClr val="E2E5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8"/>
          <p:cNvSpPr/>
          <p:nvPr/>
        </p:nvSpPr>
        <p:spPr>
          <a:xfrm>
            <a:off x="9296400" y="2095500"/>
            <a:ext cx="8077200" cy="38100"/>
          </a:xfrm>
          <a:prstGeom prst="rect">
            <a:avLst/>
          </a:prstGeom>
          <a:solidFill>
            <a:srgbClr val="1F2A3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8"/>
          <p:cNvSpPr/>
          <p:nvPr/>
        </p:nvSpPr>
        <p:spPr>
          <a:xfrm>
            <a:off x="9296400" y="2095500"/>
            <a:ext cx="9525" cy="4667250"/>
          </a:xfrm>
          <a:prstGeom prst="rect">
            <a:avLst/>
          </a:prstGeom>
          <a:solidFill>
            <a:srgbClr val="E2E5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8"/>
          <p:cNvSpPr/>
          <p:nvPr/>
        </p:nvSpPr>
        <p:spPr>
          <a:xfrm>
            <a:off x="17364075" y="2095500"/>
            <a:ext cx="9525" cy="4667250"/>
          </a:xfrm>
          <a:prstGeom prst="rect">
            <a:avLst/>
          </a:prstGeom>
          <a:solidFill>
            <a:srgbClr val="E2E5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8"/>
          <p:cNvSpPr/>
          <p:nvPr/>
        </p:nvSpPr>
        <p:spPr>
          <a:xfrm>
            <a:off x="9591675" y="2419350"/>
            <a:ext cx="7711250" cy="2095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975"/>
              <a:buFont typeface="Courier New"/>
              <a:buNone/>
            </a:pPr>
            <a:r>
              <a:rPr b="0" i="0" lang="en-US" sz="975" u="none" cap="none" strike="noStrike">
                <a:solidFill>
                  <a:srgbClr val="8A94A6"/>
                </a:solidFill>
                <a:latin typeface="Courier New"/>
                <a:ea typeface="Courier New"/>
                <a:cs typeface="Courier New"/>
                <a:sym typeface="Courier New"/>
              </a:rPr>
              <a:t>DAILY TRACK</a:t>
            </a:r>
            <a:endParaRPr b="0" i="0" sz="975" u="none" cap="none" strike="noStrike">
              <a:solidFill>
                <a:schemeClr val="dk1"/>
              </a:solidFill>
              <a:latin typeface="Calibri"/>
              <a:ea typeface="Calibri"/>
              <a:cs typeface="Calibri"/>
              <a:sym typeface="Calibri"/>
            </a:endParaRPr>
          </a:p>
        </p:txBody>
      </p:sp>
      <p:sp>
        <p:nvSpPr>
          <p:cNvPr id="256" name="Google Shape;256;p8"/>
          <p:cNvSpPr/>
          <p:nvPr/>
        </p:nvSpPr>
        <p:spPr>
          <a:xfrm>
            <a:off x="9591675" y="2800350"/>
            <a:ext cx="7711250" cy="949226"/>
          </a:xfrm>
          <a:prstGeom prst="rect">
            <a:avLst/>
          </a:prstGeom>
          <a:noFill/>
          <a:ln>
            <a:noFill/>
          </a:ln>
        </p:spPr>
        <p:txBody>
          <a:bodyPr anchorCtr="0" anchor="t" bIns="25400" lIns="25400" spcFirstLastPara="1" rIns="25400" wrap="square" tIns="25400">
            <a:normAutofit/>
          </a:bodyPr>
          <a:lstStyle/>
          <a:p>
            <a:pPr indent="0" lvl="0" marL="0" marR="0" rtl="0" algn="l">
              <a:lnSpc>
                <a:spcPct val="104000"/>
              </a:lnSpc>
              <a:spcBef>
                <a:spcPts val="0"/>
              </a:spcBef>
              <a:spcAft>
                <a:spcPts val="0"/>
              </a:spcAft>
              <a:buClr>
                <a:srgbClr val="1F2A37"/>
              </a:buClr>
              <a:buSzPts val="3450"/>
              <a:buFont typeface="Helvetica Neue"/>
              <a:buNone/>
            </a:pPr>
            <a:r>
              <a:rPr b="1" i="0" lang="en-US" sz="3450" u="none" cap="none" strike="noStrike">
                <a:solidFill>
                  <a:srgbClr val="1F2A37"/>
                </a:solidFill>
                <a:latin typeface="Helvetica Neue"/>
                <a:ea typeface="Helvetica Neue"/>
                <a:cs typeface="Helvetica Neue"/>
                <a:sym typeface="Helvetica Neue"/>
              </a:rPr>
              <a:t>7 days ahead </a:t>
            </a:r>
            <a:r>
              <a:rPr b="0" i="0" lang="en-US" sz="1650" u="none" cap="none" strike="noStrike">
                <a:solidFill>
                  <a:srgbClr val="8A94A6"/>
                </a:solidFill>
                <a:latin typeface="Courier New"/>
                <a:ea typeface="Courier New"/>
                <a:cs typeface="Courier New"/>
                <a:sym typeface="Courier New"/>
              </a:rPr>
              <a:t>refreshed once a day</a:t>
            </a:r>
            <a:endParaRPr b="0" i="0" sz="3450" u="none" cap="none" strike="noStrike">
              <a:solidFill>
                <a:schemeClr val="dk1"/>
              </a:solidFill>
              <a:latin typeface="Calibri"/>
              <a:ea typeface="Calibri"/>
              <a:cs typeface="Calibri"/>
              <a:sym typeface="Calibri"/>
            </a:endParaRPr>
          </a:p>
        </p:txBody>
      </p:sp>
      <p:sp>
        <p:nvSpPr>
          <p:cNvPr id="257" name="Google Shape;257;p8"/>
          <p:cNvSpPr/>
          <p:nvPr/>
        </p:nvSpPr>
        <p:spPr>
          <a:xfrm>
            <a:off x="9591675" y="4392513"/>
            <a:ext cx="2392263" cy="9525"/>
          </a:xfrm>
          <a:prstGeom prst="rect">
            <a:avLst/>
          </a:prstGeom>
          <a:solidFill>
            <a:srgbClr val="E2E5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8" name="Google Shape;258;p8"/>
          <p:cNvSpPr/>
          <p:nvPr/>
        </p:nvSpPr>
        <p:spPr>
          <a:xfrm>
            <a:off x="9763125" y="4016276"/>
            <a:ext cx="2125563" cy="28098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975"/>
              <a:buFont typeface="Courier New"/>
              <a:buNone/>
            </a:pPr>
            <a:r>
              <a:rPr b="0" i="0" lang="en-US" sz="975" u="none" cap="none" strike="noStrike">
                <a:solidFill>
                  <a:srgbClr val="8A94A6"/>
                </a:solidFill>
                <a:latin typeface="Courier New"/>
                <a:ea typeface="Courier New"/>
                <a:cs typeface="Courier New"/>
                <a:sym typeface="Courier New"/>
              </a:rPr>
              <a:t>CADENCE</a:t>
            </a:r>
            <a:endParaRPr b="0" i="0" sz="975" u="none" cap="none" strike="noStrike">
              <a:solidFill>
                <a:schemeClr val="dk1"/>
              </a:solidFill>
              <a:latin typeface="Calibri"/>
              <a:ea typeface="Calibri"/>
              <a:cs typeface="Calibri"/>
              <a:sym typeface="Calibri"/>
            </a:endParaRPr>
          </a:p>
        </p:txBody>
      </p:sp>
      <p:sp>
        <p:nvSpPr>
          <p:cNvPr id="259" name="Google Shape;259;p8"/>
          <p:cNvSpPr/>
          <p:nvPr/>
        </p:nvSpPr>
        <p:spPr>
          <a:xfrm>
            <a:off x="11983938" y="4392513"/>
            <a:ext cx="5094387" cy="9525"/>
          </a:xfrm>
          <a:prstGeom prst="rect">
            <a:avLst/>
          </a:prstGeom>
          <a:solidFill>
            <a:srgbClr val="E2E5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0" name="Google Shape;260;p8"/>
          <p:cNvSpPr/>
          <p:nvPr/>
        </p:nvSpPr>
        <p:spPr>
          <a:xfrm>
            <a:off x="12155388" y="4016276"/>
            <a:ext cx="4904318" cy="280988"/>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A4A5A"/>
              </a:buClr>
              <a:buSzPts val="1650"/>
              <a:buFont typeface="Helvetica Neue"/>
              <a:buNone/>
            </a:pPr>
            <a:r>
              <a:rPr b="0" i="0" lang="en-US" sz="1650" u="none" cap="none" strike="noStrike">
                <a:solidFill>
                  <a:srgbClr val="3A4A5A"/>
                </a:solidFill>
                <a:latin typeface="Helvetica Neue"/>
                <a:ea typeface="Helvetica Neue"/>
                <a:cs typeface="Helvetica Neue"/>
                <a:sym typeface="Helvetica Neue"/>
              </a:rPr>
              <a:t>once a day</a:t>
            </a:r>
            <a:endParaRPr b="0" i="0" sz="1650" u="none" cap="none" strike="noStrike">
              <a:solidFill>
                <a:schemeClr val="dk1"/>
              </a:solidFill>
              <a:latin typeface="Calibri"/>
              <a:ea typeface="Calibri"/>
              <a:cs typeface="Calibri"/>
              <a:sym typeface="Calibri"/>
            </a:endParaRPr>
          </a:p>
        </p:txBody>
      </p:sp>
      <p:sp>
        <p:nvSpPr>
          <p:cNvPr id="261" name="Google Shape;261;p8"/>
          <p:cNvSpPr/>
          <p:nvPr/>
        </p:nvSpPr>
        <p:spPr>
          <a:xfrm>
            <a:off x="9591675" y="4916388"/>
            <a:ext cx="2392263" cy="9525"/>
          </a:xfrm>
          <a:prstGeom prst="rect">
            <a:avLst/>
          </a:prstGeom>
          <a:solidFill>
            <a:srgbClr val="E2E5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8"/>
          <p:cNvSpPr/>
          <p:nvPr/>
        </p:nvSpPr>
        <p:spPr>
          <a:xfrm>
            <a:off x="9763125" y="4535388"/>
            <a:ext cx="2125563" cy="2857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975"/>
              <a:buFont typeface="Courier New"/>
              <a:buNone/>
            </a:pPr>
            <a:r>
              <a:rPr b="0" i="0" lang="en-US" sz="975" u="none" cap="none" strike="noStrike">
                <a:solidFill>
                  <a:srgbClr val="8A94A6"/>
                </a:solidFill>
                <a:latin typeface="Courier New"/>
                <a:ea typeface="Courier New"/>
                <a:cs typeface="Courier New"/>
                <a:sym typeface="Courier New"/>
              </a:rPr>
              <a:t>LOOKAHEAD</a:t>
            </a:r>
            <a:endParaRPr b="0" i="0" sz="975" u="none" cap="none" strike="noStrike">
              <a:solidFill>
                <a:schemeClr val="dk1"/>
              </a:solidFill>
              <a:latin typeface="Calibri"/>
              <a:ea typeface="Calibri"/>
              <a:cs typeface="Calibri"/>
              <a:sym typeface="Calibri"/>
            </a:endParaRPr>
          </a:p>
        </p:txBody>
      </p:sp>
      <p:sp>
        <p:nvSpPr>
          <p:cNvPr id="263" name="Google Shape;263;p8"/>
          <p:cNvSpPr/>
          <p:nvPr/>
        </p:nvSpPr>
        <p:spPr>
          <a:xfrm>
            <a:off x="11983938" y="4916388"/>
            <a:ext cx="5094387" cy="9525"/>
          </a:xfrm>
          <a:prstGeom prst="rect">
            <a:avLst/>
          </a:prstGeom>
          <a:solidFill>
            <a:srgbClr val="E2E5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8"/>
          <p:cNvSpPr/>
          <p:nvPr/>
        </p:nvSpPr>
        <p:spPr>
          <a:xfrm>
            <a:off x="12155388" y="4535388"/>
            <a:ext cx="4904318" cy="2857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A4A5A"/>
              </a:buClr>
              <a:buSzPts val="1650"/>
              <a:buFont typeface="Helvetica Neue"/>
              <a:buNone/>
            </a:pPr>
            <a:r>
              <a:rPr b="0" i="0" lang="en-US" sz="1650" u="none" cap="none" strike="noStrike">
                <a:solidFill>
                  <a:srgbClr val="3A4A5A"/>
                </a:solidFill>
                <a:latin typeface="Helvetica Neue"/>
                <a:ea typeface="Helvetica Neue"/>
                <a:cs typeface="Helvetica Neue"/>
                <a:sym typeface="Helvetica Neue"/>
              </a:rPr>
              <a:t>7 days</a:t>
            </a:r>
            <a:endParaRPr b="0" i="0" sz="1650" u="none" cap="none" strike="noStrike">
              <a:solidFill>
                <a:schemeClr val="dk1"/>
              </a:solidFill>
              <a:latin typeface="Calibri"/>
              <a:ea typeface="Calibri"/>
              <a:cs typeface="Calibri"/>
              <a:sym typeface="Calibri"/>
            </a:endParaRPr>
          </a:p>
        </p:txBody>
      </p:sp>
      <p:sp>
        <p:nvSpPr>
          <p:cNvPr id="265" name="Google Shape;265;p8"/>
          <p:cNvSpPr/>
          <p:nvPr/>
        </p:nvSpPr>
        <p:spPr>
          <a:xfrm>
            <a:off x="9591675" y="5440263"/>
            <a:ext cx="2392263" cy="9525"/>
          </a:xfrm>
          <a:prstGeom prst="rect">
            <a:avLst/>
          </a:prstGeom>
          <a:solidFill>
            <a:srgbClr val="E2E5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8"/>
          <p:cNvSpPr/>
          <p:nvPr/>
        </p:nvSpPr>
        <p:spPr>
          <a:xfrm>
            <a:off x="9763125" y="5059263"/>
            <a:ext cx="2125563" cy="2857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975"/>
              <a:buFont typeface="Courier New"/>
              <a:buNone/>
            </a:pPr>
            <a:r>
              <a:rPr b="0" i="0" lang="en-US" sz="975" u="none" cap="none" strike="noStrike">
                <a:solidFill>
                  <a:srgbClr val="8A94A6"/>
                </a:solidFill>
                <a:latin typeface="Courier New"/>
                <a:ea typeface="Courier New"/>
                <a:cs typeface="Courier New"/>
                <a:sym typeface="Courier New"/>
              </a:rPr>
              <a:t>INPUTS</a:t>
            </a:r>
            <a:endParaRPr b="0" i="0" sz="975" u="none" cap="none" strike="noStrike">
              <a:solidFill>
                <a:schemeClr val="dk1"/>
              </a:solidFill>
              <a:latin typeface="Calibri"/>
              <a:ea typeface="Calibri"/>
              <a:cs typeface="Calibri"/>
              <a:sym typeface="Calibri"/>
            </a:endParaRPr>
          </a:p>
        </p:txBody>
      </p:sp>
      <p:sp>
        <p:nvSpPr>
          <p:cNvPr id="267" name="Google Shape;267;p8"/>
          <p:cNvSpPr/>
          <p:nvPr/>
        </p:nvSpPr>
        <p:spPr>
          <a:xfrm>
            <a:off x="11983938" y="5440263"/>
            <a:ext cx="5094387" cy="9525"/>
          </a:xfrm>
          <a:prstGeom prst="rect">
            <a:avLst/>
          </a:prstGeom>
          <a:solidFill>
            <a:srgbClr val="E2E5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8"/>
          <p:cNvSpPr/>
          <p:nvPr/>
        </p:nvSpPr>
        <p:spPr>
          <a:xfrm>
            <a:off x="12155388" y="5059263"/>
            <a:ext cx="4904318" cy="2857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A4A5A"/>
              </a:buClr>
              <a:buSzPts val="1650"/>
              <a:buFont typeface="Helvetica Neue"/>
              <a:buNone/>
            </a:pPr>
            <a:r>
              <a:rPr b="0" i="0" lang="en-US" sz="1650" u="none" cap="none" strike="noStrike">
                <a:solidFill>
                  <a:srgbClr val="3A4A5A"/>
                </a:solidFill>
                <a:latin typeface="Helvetica Neue"/>
                <a:ea typeface="Helvetica Neue"/>
                <a:cs typeface="Helvetica Neue"/>
                <a:sym typeface="Helvetica Neue"/>
              </a:rPr>
              <a:t>prices only</a:t>
            </a:r>
            <a:endParaRPr b="0" i="0" sz="1650" u="none" cap="none" strike="noStrike">
              <a:solidFill>
                <a:schemeClr val="dk1"/>
              </a:solidFill>
              <a:latin typeface="Calibri"/>
              <a:ea typeface="Calibri"/>
              <a:cs typeface="Calibri"/>
              <a:sym typeface="Calibri"/>
            </a:endParaRPr>
          </a:p>
        </p:txBody>
      </p:sp>
      <p:sp>
        <p:nvSpPr>
          <p:cNvPr id="269" name="Google Shape;269;p8"/>
          <p:cNvSpPr/>
          <p:nvPr/>
        </p:nvSpPr>
        <p:spPr>
          <a:xfrm>
            <a:off x="9591675" y="5964138"/>
            <a:ext cx="2392263" cy="9525"/>
          </a:xfrm>
          <a:prstGeom prst="rect">
            <a:avLst/>
          </a:prstGeom>
          <a:solidFill>
            <a:srgbClr val="E2E5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8"/>
          <p:cNvSpPr/>
          <p:nvPr/>
        </p:nvSpPr>
        <p:spPr>
          <a:xfrm>
            <a:off x="9763125" y="5583138"/>
            <a:ext cx="2125563" cy="2857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975"/>
              <a:buFont typeface="Courier New"/>
              <a:buNone/>
            </a:pPr>
            <a:r>
              <a:rPr b="0" i="0" lang="en-US" sz="975" u="none" cap="none" strike="noStrike">
                <a:solidFill>
                  <a:srgbClr val="8A94A6"/>
                </a:solidFill>
                <a:latin typeface="Courier New"/>
                <a:ea typeface="Courier New"/>
                <a:cs typeface="Courier New"/>
                <a:sym typeface="Courier New"/>
              </a:rPr>
              <a:t>MODEL</a:t>
            </a:r>
            <a:endParaRPr b="0" i="0" sz="975" u="none" cap="none" strike="noStrike">
              <a:solidFill>
                <a:schemeClr val="dk1"/>
              </a:solidFill>
              <a:latin typeface="Calibri"/>
              <a:ea typeface="Calibri"/>
              <a:cs typeface="Calibri"/>
              <a:sym typeface="Calibri"/>
            </a:endParaRPr>
          </a:p>
        </p:txBody>
      </p:sp>
      <p:sp>
        <p:nvSpPr>
          <p:cNvPr id="271" name="Google Shape;271;p8"/>
          <p:cNvSpPr/>
          <p:nvPr/>
        </p:nvSpPr>
        <p:spPr>
          <a:xfrm>
            <a:off x="11983938" y="5964138"/>
            <a:ext cx="5094387" cy="9525"/>
          </a:xfrm>
          <a:prstGeom prst="rect">
            <a:avLst/>
          </a:prstGeom>
          <a:solidFill>
            <a:srgbClr val="E2E5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8"/>
          <p:cNvSpPr/>
          <p:nvPr/>
        </p:nvSpPr>
        <p:spPr>
          <a:xfrm>
            <a:off x="12155388" y="5583138"/>
            <a:ext cx="4904318" cy="2857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A4A5A"/>
              </a:buClr>
              <a:buSzPts val="1650"/>
              <a:buFont typeface="Helvetica Neue"/>
              <a:buNone/>
            </a:pPr>
            <a:r>
              <a:rPr b="0" i="0" lang="en-US" sz="1650" u="none" cap="none" strike="noStrike">
                <a:solidFill>
                  <a:srgbClr val="3A4A5A"/>
                </a:solidFill>
                <a:latin typeface="Helvetica Neue"/>
                <a:ea typeface="Helvetica Neue"/>
                <a:cs typeface="Helvetica Neue"/>
                <a:sym typeface="Helvetica Neue"/>
              </a:rPr>
              <a:t>DeepAR daily endpoint</a:t>
            </a:r>
            <a:endParaRPr b="0" i="0" sz="1650" u="none" cap="none" strike="noStrike">
              <a:solidFill>
                <a:schemeClr val="dk1"/>
              </a:solidFill>
              <a:latin typeface="Calibri"/>
              <a:ea typeface="Calibri"/>
              <a:cs typeface="Calibri"/>
              <a:sym typeface="Calibri"/>
            </a:endParaRPr>
          </a:p>
        </p:txBody>
      </p:sp>
      <p:sp>
        <p:nvSpPr>
          <p:cNvPr id="273" name="Google Shape;273;p8"/>
          <p:cNvSpPr/>
          <p:nvPr/>
        </p:nvSpPr>
        <p:spPr>
          <a:xfrm>
            <a:off x="9591675" y="6488013"/>
            <a:ext cx="2392263" cy="9525"/>
          </a:xfrm>
          <a:prstGeom prst="rect">
            <a:avLst/>
          </a:prstGeom>
          <a:solidFill>
            <a:srgbClr val="E2E5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8"/>
          <p:cNvSpPr/>
          <p:nvPr/>
        </p:nvSpPr>
        <p:spPr>
          <a:xfrm>
            <a:off x="9763125" y="6107013"/>
            <a:ext cx="2125563" cy="2857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975"/>
              <a:buFont typeface="Courier New"/>
              <a:buNone/>
            </a:pPr>
            <a:r>
              <a:rPr b="0" i="0" lang="en-US" sz="975" u="none" cap="none" strike="noStrike">
                <a:solidFill>
                  <a:srgbClr val="8A94A6"/>
                </a:solidFill>
                <a:latin typeface="Courier New"/>
                <a:ea typeface="Courier New"/>
                <a:cs typeface="Courier New"/>
                <a:sym typeface="Courier New"/>
              </a:rPr>
              <a:t>RETRAIN</a:t>
            </a:r>
            <a:endParaRPr b="0" i="0" sz="975" u="none" cap="none" strike="noStrike">
              <a:solidFill>
                <a:schemeClr val="dk1"/>
              </a:solidFill>
              <a:latin typeface="Calibri"/>
              <a:ea typeface="Calibri"/>
              <a:cs typeface="Calibri"/>
              <a:sym typeface="Calibri"/>
            </a:endParaRPr>
          </a:p>
        </p:txBody>
      </p:sp>
      <p:sp>
        <p:nvSpPr>
          <p:cNvPr id="275" name="Google Shape;275;p8"/>
          <p:cNvSpPr/>
          <p:nvPr/>
        </p:nvSpPr>
        <p:spPr>
          <a:xfrm>
            <a:off x="11983938" y="6488013"/>
            <a:ext cx="5094387" cy="9525"/>
          </a:xfrm>
          <a:prstGeom prst="rect">
            <a:avLst/>
          </a:prstGeom>
          <a:solidFill>
            <a:srgbClr val="E2E5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8"/>
          <p:cNvSpPr/>
          <p:nvPr/>
        </p:nvSpPr>
        <p:spPr>
          <a:xfrm>
            <a:off x="12155388" y="6107013"/>
            <a:ext cx="4904318" cy="2857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A4A5A"/>
              </a:buClr>
              <a:buSzPts val="1650"/>
              <a:buFont typeface="Helvetica Neue"/>
              <a:buNone/>
            </a:pPr>
            <a:r>
              <a:rPr b="0" i="0" lang="en-US" sz="1650" u="none" cap="none" strike="noStrike">
                <a:solidFill>
                  <a:srgbClr val="3A4A5A"/>
                </a:solidFill>
                <a:latin typeface="Helvetica Neue"/>
                <a:ea typeface="Helvetica Neue"/>
                <a:cs typeface="Helvetica Neue"/>
                <a:sym typeface="Helvetica Neue"/>
              </a:rPr>
              <a:t>daily cron</a:t>
            </a:r>
            <a:endParaRPr b="0" i="0" sz="1650" u="none" cap="none" strike="noStrike">
              <a:solidFill>
                <a:schemeClr val="dk1"/>
              </a:solidFill>
              <a:latin typeface="Calibri"/>
              <a:ea typeface="Calibri"/>
              <a:cs typeface="Calibri"/>
              <a:sym typeface="Calibri"/>
            </a:endParaRPr>
          </a:p>
        </p:txBody>
      </p:sp>
      <p:sp>
        <p:nvSpPr>
          <p:cNvPr id="277" name="Google Shape;277;p8"/>
          <p:cNvSpPr/>
          <p:nvPr/>
        </p:nvSpPr>
        <p:spPr>
          <a:xfrm>
            <a:off x="9591675" y="7011888"/>
            <a:ext cx="2392263" cy="9525"/>
          </a:xfrm>
          <a:prstGeom prst="rect">
            <a:avLst/>
          </a:prstGeom>
          <a:solidFill>
            <a:srgbClr val="E2E5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8"/>
          <p:cNvSpPr/>
          <p:nvPr/>
        </p:nvSpPr>
        <p:spPr>
          <a:xfrm>
            <a:off x="9763125" y="6630888"/>
            <a:ext cx="2125563" cy="2857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975"/>
              <a:buFont typeface="Courier New"/>
              <a:buNone/>
            </a:pPr>
            <a:r>
              <a:rPr b="0" i="0" lang="en-US" sz="975" u="none" cap="none" strike="noStrike">
                <a:solidFill>
                  <a:srgbClr val="8A94A6"/>
                </a:solidFill>
                <a:latin typeface="Courier New"/>
                <a:ea typeface="Courier New"/>
                <a:cs typeface="Courier New"/>
                <a:sym typeface="Courier New"/>
              </a:rPr>
              <a:t>USED FOR</a:t>
            </a:r>
            <a:endParaRPr b="0" i="0" sz="975" u="none" cap="none" strike="noStrike">
              <a:solidFill>
                <a:schemeClr val="dk1"/>
              </a:solidFill>
              <a:latin typeface="Calibri"/>
              <a:ea typeface="Calibri"/>
              <a:cs typeface="Calibri"/>
              <a:sym typeface="Calibri"/>
            </a:endParaRPr>
          </a:p>
        </p:txBody>
      </p:sp>
      <p:sp>
        <p:nvSpPr>
          <p:cNvPr id="279" name="Google Shape;279;p8"/>
          <p:cNvSpPr/>
          <p:nvPr/>
        </p:nvSpPr>
        <p:spPr>
          <a:xfrm>
            <a:off x="11983938" y="7011888"/>
            <a:ext cx="5094387" cy="9525"/>
          </a:xfrm>
          <a:prstGeom prst="rect">
            <a:avLst/>
          </a:prstGeom>
          <a:solidFill>
            <a:srgbClr val="E2E5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8"/>
          <p:cNvSpPr/>
          <p:nvPr/>
        </p:nvSpPr>
        <p:spPr>
          <a:xfrm>
            <a:off x="12155388" y="6630888"/>
            <a:ext cx="4904318" cy="2857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3A4A5A"/>
              </a:buClr>
              <a:buSzPts val="1650"/>
              <a:buFont typeface="Helvetica Neue"/>
              <a:buNone/>
            </a:pPr>
            <a:r>
              <a:rPr b="0" i="0" lang="en-US" sz="1650" u="none" cap="none" strike="noStrike">
                <a:solidFill>
                  <a:srgbClr val="3A4A5A"/>
                </a:solidFill>
                <a:latin typeface="Helvetica Neue"/>
                <a:ea typeface="Helvetica Neue"/>
                <a:cs typeface="Helvetica Neue"/>
                <a:sym typeface="Helvetica Neue"/>
              </a:rPr>
              <a:t>short-term trend</a:t>
            </a:r>
            <a:endParaRPr b="0" i="0" sz="1650" u="none" cap="none" strike="noStrike">
              <a:solidFill>
                <a:schemeClr val="dk1"/>
              </a:solidFill>
              <a:latin typeface="Calibri"/>
              <a:ea typeface="Calibri"/>
              <a:cs typeface="Calibri"/>
              <a:sym typeface="Calibri"/>
            </a:endParaRPr>
          </a:p>
        </p:txBody>
      </p:sp>
      <p:sp>
        <p:nvSpPr>
          <p:cNvPr id="281" name="Google Shape;281;p8"/>
          <p:cNvSpPr/>
          <p:nvPr/>
        </p:nvSpPr>
        <p:spPr>
          <a:xfrm>
            <a:off x="914400" y="7890123"/>
            <a:ext cx="4512945" cy="3810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975"/>
              <a:buFont typeface="Courier New"/>
              <a:buNone/>
            </a:pPr>
            <a:r>
              <a:rPr b="0" i="0" lang="en-US" sz="975" u="none" cap="none" strike="noStrike">
                <a:solidFill>
                  <a:srgbClr val="8A94A6"/>
                </a:solidFill>
                <a:latin typeface="Courier New"/>
                <a:ea typeface="Courier New"/>
                <a:cs typeface="Courier New"/>
                <a:sym typeface="Courier New"/>
              </a:rPr>
              <a:t>DAILY 7-DAY FAN · THE BAND WIDENS WITH HORIZON</a:t>
            </a:r>
            <a:endParaRPr b="0" i="0" sz="975" u="none" cap="none" strike="noStrike">
              <a:solidFill>
                <a:schemeClr val="dk1"/>
              </a:solidFill>
              <a:latin typeface="Calibri"/>
              <a:ea typeface="Calibri"/>
              <a:cs typeface="Calibri"/>
              <a:sym typeface="Calibri"/>
            </a:endParaRPr>
          </a:p>
        </p:txBody>
      </p:sp>
      <p:sp>
        <p:nvSpPr>
          <p:cNvPr id="282" name="Google Shape;282;p8"/>
          <p:cNvSpPr/>
          <p:nvPr/>
        </p:nvSpPr>
        <p:spPr>
          <a:xfrm>
            <a:off x="914400" y="8309223"/>
            <a:ext cx="4512945" cy="507504"/>
          </a:xfrm>
          <a:prstGeom prst="rect">
            <a:avLst/>
          </a:prstGeom>
          <a:noFill/>
          <a:ln>
            <a:noFill/>
          </a:ln>
        </p:spPr>
        <p:txBody>
          <a:bodyPr anchorCtr="0" anchor="t" bIns="25400" lIns="25400" spcFirstLastPara="1" rIns="25400" wrap="square" tIns="25400">
            <a:normAutofit/>
          </a:bodyPr>
          <a:lstStyle/>
          <a:p>
            <a:pPr indent="0" lvl="0" marL="0" marR="0" rtl="0" algn="l">
              <a:lnSpc>
                <a:spcPct val="145000"/>
              </a:lnSpc>
              <a:spcBef>
                <a:spcPts val="0"/>
              </a:spcBef>
              <a:spcAft>
                <a:spcPts val="0"/>
              </a:spcAft>
              <a:buClr>
                <a:srgbClr val="3A4A5A"/>
              </a:buClr>
              <a:buSzPts val="1275"/>
              <a:buFont typeface="Helvetica Neue"/>
              <a:buNone/>
            </a:pPr>
            <a:r>
              <a:rPr b="0" i="0" lang="en-US" sz="1275" u="none" cap="none" strike="noStrike">
                <a:solidFill>
                  <a:srgbClr val="3A4A5A"/>
                </a:solidFill>
                <a:latin typeface="Helvetica Neue"/>
                <a:ea typeface="Helvetica Neue"/>
                <a:cs typeface="Helvetica Neue"/>
                <a:sym typeface="Helvetica Neue"/>
              </a:rPr>
              <a:t>Same DeepAR algorithm, different horizons. Hourly tracks the market; daily surfaces trend + uncertainty.</a:t>
            </a:r>
            <a:endParaRPr b="0" i="0" sz="1275" u="none" cap="none" strike="noStrike">
              <a:solidFill>
                <a:schemeClr val="dk1"/>
              </a:solidFill>
              <a:latin typeface="Calibri"/>
              <a:ea typeface="Calibri"/>
              <a:cs typeface="Calibri"/>
              <a:sym typeface="Calibri"/>
            </a:endParaRPr>
          </a:p>
        </p:txBody>
      </p:sp>
      <p:sp>
        <p:nvSpPr>
          <p:cNvPr id="283" name="Google Shape;283;p8"/>
          <p:cNvSpPr/>
          <p:nvPr/>
        </p:nvSpPr>
        <p:spPr>
          <a:xfrm>
            <a:off x="8610300" y="7524750"/>
            <a:ext cx="5549700" cy="1619100"/>
          </a:xfrm>
          <a:prstGeom prst="roundRect">
            <a:avLst>
              <a:gd fmla="val 2353" name="adj"/>
            </a:avLst>
          </a:prstGeom>
          <a:solidFill>
            <a:srgbClr val="FFFFFF"/>
          </a:solidFill>
          <a:ln cap="flat" cmpd="sng" w="9525">
            <a:solidFill>
              <a:srgbClr val="E2E5EA"/>
            </a:solidFill>
            <a:prstDash val="solid"/>
            <a:round/>
            <a:headEnd len="sm" w="sm" type="none"/>
            <a:tailEnd len="sm" w="sm" type="none"/>
          </a:ln>
          <a:effectLst>
            <a:outerShdw blurRad="76200" rotWithShape="0" algn="bl" dir="5400000" dist="19050">
              <a:srgbClr val="1F2A37">
                <a:alpha val="392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8"/>
          <p:cNvSpPr/>
          <p:nvPr/>
        </p:nvSpPr>
        <p:spPr>
          <a:xfrm>
            <a:off x="8524675" y="7249475"/>
            <a:ext cx="7520700" cy="2618400"/>
          </a:xfrm>
          <a:prstGeom prst="roundRect">
            <a:avLst>
              <a:gd fmla="val 1333"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285" name="Google Shape;285;p8"/>
          <p:cNvPicPr preferRelativeResize="0"/>
          <p:nvPr/>
        </p:nvPicPr>
        <p:blipFill rotWithShape="1">
          <a:blip r:embed="rId3">
            <a:alphaModFix/>
          </a:blip>
          <a:srcRect b="0" l="0" r="0" t="0"/>
          <a:stretch/>
        </p:blipFill>
        <p:spPr>
          <a:xfrm>
            <a:off x="8764650" y="7544550"/>
            <a:ext cx="6434900" cy="2230150"/>
          </a:xfrm>
          <a:prstGeom prst="rect">
            <a:avLst/>
          </a:prstGeom>
          <a:noFill/>
          <a:ln>
            <a:noFill/>
          </a:ln>
        </p:spPr>
      </p:pic>
      <p:sp>
        <p:nvSpPr>
          <p:cNvPr id="286" name="Google Shape;286;p8"/>
          <p:cNvSpPr/>
          <p:nvPr/>
        </p:nvSpPr>
        <p:spPr>
          <a:xfrm>
            <a:off x="914400" y="9496425"/>
            <a:ext cx="16459200" cy="9525"/>
          </a:xfrm>
          <a:prstGeom prst="rect">
            <a:avLst/>
          </a:prstGeom>
          <a:solidFill>
            <a:srgbClr val="E2E5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7" name="Google Shape;287;p8"/>
          <p:cNvSpPr/>
          <p:nvPr/>
        </p:nvSpPr>
        <p:spPr>
          <a:xfrm>
            <a:off x="914400" y="9658350"/>
            <a:ext cx="6985101" cy="2095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975"/>
              <a:buFont typeface="Courier New"/>
              <a:buNone/>
            </a:pPr>
            <a:r>
              <a:rPr b="0" i="0" lang="en-US" sz="975" u="none" cap="none" strike="noStrike">
                <a:solidFill>
                  <a:srgbClr val="8A94A6"/>
                </a:solidFill>
                <a:latin typeface="Courier New"/>
                <a:ea typeface="Courier New"/>
                <a:cs typeface="Courier New"/>
                <a:sym typeface="Courier New"/>
              </a:rPr>
              <a:t>TEAM 11_02 · NEAR-REAL-TIME FINANCIAL FORECASTING ON AWS · CCBDA-MIRI 2026</a:t>
            </a:r>
            <a:endParaRPr b="0" i="0" sz="975" u="none" cap="none" strike="noStrike">
              <a:solidFill>
                <a:schemeClr val="dk1"/>
              </a:solidFill>
              <a:latin typeface="Calibri"/>
              <a:ea typeface="Calibri"/>
              <a:cs typeface="Calibri"/>
              <a:sym typeface="Calibri"/>
            </a:endParaRPr>
          </a:p>
        </p:txBody>
      </p:sp>
      <p:sp>
        <p:nvSpPr>
          <p:cNvPr id="288" name="Google Shape;288;p8"/>
          <p:cNvSpPr/>
          <p:nvPr/>
        </p:nvSpPr>
        <p:spPr>
          <a:xfrm>
            <a:off x="16732002" y="9658350"/>
            <a:ext cx="717798" cy="2095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975"/>
              <a:buFont typeface="Courier New"/>
              <a:buNone/>
            </a:pPr>
            <a:r>
              <a:rPr b="0" i="0" lang="en-US" sz="975" u="none" cap="none" strike="noStrike">
                <a:solidFill>
                  <a:srgbClr val="8A94A6"/>
                </a:solidFill>
                <a:latin typeface="Courier New"/>
                <a:ea typeface="Courier New"/>
                <a:cs typeface="Courier New"/>
                <a:sym typeface="Courier New"/>
              </a:rPr>
              <a:t>08 / 14</a:t>
            </a:r>
            <a:endParaRPr b="0" i="0" sz="975" u="none" cap="none" strike="noStrik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2"/>
        </a:solidFill>
      </p:bgPr>
    </p:bg>
    <p:spTree>
      <p:nvGrpSpPr>
        <p:cNvPr id="293" name="Shape 293"/>
        <p:cNvGrpSpPr/>
        <p:nvPr/>
      </p:nvGrpSpPr>
      <p:grpSpPr>
        <a:xfrm>
          <a:off x="0" y="0"/>
          <a:ext cx="0" cy="0"/>
          <a:chOff x="0" y="0"/>
          <a:chExt cx="0" cy="0"/>
        </a:xfrm>
      </p:grpSpPr>
      <p:sp>
        <p:nvSpPr>
          <p:cNvPr id="294" name="Google Shape;294;p9"/>
          <p:cNvSpPr/>
          <p:nvPr/>
        </p:nvSpPr>
        <p:spPr>
          <a:xfrm>
            <a:off x="914400" y="647700"/>
            <a:ext cx="5142826" cy="2571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F2A37"/>
              </a:buClr>
              <a:buSzPts val="1500"/>
              <a:buFont typeface="Helvetica Neue"/>
              <a:buNone/>
            </a:pPr>
            <a:r>
              <a:rPr b="1" i="0" lang="en-US" sz="1500" u="none" cap="none" strike="noStrike">
                <a:solidFill>
                  <a:srgbClr val="1F2A37"/>
                </a:solidFill>
                <a:latin typeface="Helvetica Neue"/>
                <a:ea typeface="Helvetica Neue"/>
                <a:cs typeface="Helvetica Neue"/>
                <a:sym typeface="Helvetica Neue"/>
              </a:rPr>
              <a:t>09 · STORAGE &amp; ANOMALY DETECTION (</a:t>
            </a:r>
            <a:r>
              <a:rPr b="1" lang="en-US" sz="1500">
                <a:solidFill>
                  <a:srgbClr val="1F2A37"/>
                </a:solidFill>
                <a:latin typeface="Helvetica Neue"/>
                <a:ea typeface="Helvetica Neue"/>
                <a:cs typeface="Helvetica Neue"/>
                <a:sym typeface="Helvetica Neue"/>
              </a:rPr>
              <a:t>1/2</a:t>
            </a:r>
            <a:r>
              <a:rPr b="1" lang="en-US" sz="1500">
                <a:solidFill>
                  <a:srgbClr val="1F2A37"/>
                </a:solidFill>
                <a:latin typeface="Helvetica Neue"/>
                <a:ea typeface="Helvetica Neue"/>
                <a:cs typeface="Helvetica Neue"/>
                <a:sym typeface="Helvetica Neue"/>
              </a:rPr>
              <a:t>)</a:t>
            </a:r>
            <a:endParaRPr b="0" i="0" sz="1500" u="none" cap="none" strike="noStrike">
              <a:solidFill>
                <a:schemeClr val="dk1"/>
              </a:solidFill>
              <a:latin typeface="Calibri"/>
              <a:ea typeface="Calibri"/>
              <a:cs typeface="Calibri"/>
              <a:sym typeface="Calibri"/>
            </a:endParaRPr>
          </a:p>
        </p:txBody>
      </p:sp>
      <p:sp>
        <p:nvSpPr>
          <p:cNvPr id="295" name="Google Shape;295;p9"/>
          <p:cNvSpPr/>
          <p:nvPr/>
        </p:nvSpPr>
        <p:spPr>
          <a:xfrm>
            <a:off x="15361593" y="647700"/>
            <a:ext cx="2088207" cy="2381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1200"/>
              <a:buFont typeface="Courier New"/>
              <a:buNone/>
            </a:pPr>
            <a:r>
              <a:rPr b="0" i="0" lang="en-US" sz="1200" u="none" cap="none" strike="noStrike">
                <a:solidFill>
                  <a:srgbClr val="8A94A6"/>
                </a:solidFill>
                <a:latin typeface="Courier New"/>
                <a:ea typeface="Courier New"/>
                <a:cs typeface="Courier New"/>
                <a:sym typeface="Courier New"/>
              </a:rPr>
              <a:t>SPEAKER · </a:t>
            </a:r>
            <a:r>
              <a:rPr b="1" i="0" lang="en-US" sz="1200" u="none" cap="none" strike="noStrike">
                <a:solidFill>
                  <a:srgbClr val="1F2A37"/>
                </a:solidFill>
                <a:latin typeface="Courier New"/>
                <a:ea typeface="Courier New"/>
                <a:cs typeface="Courier New"/>
                <a:sym typeface="Courier New"/>
              </a:rPr>
              <a:t>ARTHUR</a:t>
            </a:r>
            <a:endParaRPr b="0" i="0" sz="1200" u="none" cap="none" strike="noStrike">
              <a:solidFill>
                <a:schemeClr val="dk1"/>
              </a:solidFill>
              <a:latin typeface="Calibri"/>
              <a:ea typeface="Calibri"/>
              <a:cs typeface="Calibri"/>
              <a:sym typeface="Calibri"/>
            </a:endParaRPr>
          </a:p>
        </p:txBody>
      </p:sp>
      <p:sp>
        <p:nvSpPr>
          <p:cNvPr id="296" name="Google Shape;296;p9"/>
          <p:cNvSpPr/>
          <p:nvPr/>
        </p:nvSpPr>
        <p:spPr>
          <a:xfrm>
            <a:off x="914400" y="1143000"/>
            <a:ext cx="16952976" cy="592782"/>
          </a:xfrm>
          <a:prstGeom prst="rect">
            <a:avLst/>
          </a:prstGeom>
          <a:noFill/>
          <a:ln>
            <a:noFill/>
          </a:ln>
        </p:spPr>
        <p:txBody>
          <a:bodyPr anchorCtr="0" anchor="t" bIns="25400" lIns="25400" spcFirstLastPara="1" rIns="25400" wrap="square" tIns="25400">
            <a:normAutofit/>
          </a:bodyPr>
          <a:lstStyle/>
          <a:p>
            <a:pPr indent="0" lvl="0" marL="0" marR="0" rtl="0" algn="l">
              <a:lnSpc>
                <a:spcPct val="104000"/>
              </a:lnSpc>
              <a:spcBef>
                <a:spcPts val="0"/>
              </a:spcBef>
              <a:spcAft>
                <a:spcPts val="0"/>
              </a:spcAft>
              <a:buClr>
                <a:srgbClr val="1F2A37"/>
              </a:buClr>
              <a:buSzPts val="4200"/>
              <a:buFont typeface="Helvetica Neue"/>
              <a:buNone/>
            </a:pPr>
            <a:r>
              <a:rPr b="1" i="0" lang="en-US" sz="4200" u="none" cap="none" strike="noStrike">
                <a:solidFill>
                  <a:srgbClr val="1F2A37"/>
                </a:solidFill>
                <a:latin typeface="Helvetica Neue"/>
                <a:ea typeface="Helvetica Neue"/>
                <a:cs typeface="Helvetica Neue"/>
                <a:sym typeface="Helvetica Neue"/>
              </a:rPr>
              <a:t>DynamoDB → Streams → anomaly Lambda → SNS email.</a:t>
            </a:r>
            <a:endParaRPr b="0" i="0" sz="4200" u="none" cap="none" strike="noStrike">
              <a:solidFill>
                <a:schemeClr val="dk1"/>
              </a:solidFill>
              <a:latin typeface="Calibri"/>
              <a:ea typeface="Calibri"/>
              <a:cs typeface="Calibri"/>
              <a:sym typeface="Calibri"/>
            </a:endParaRPr>
          </a:p>
        </p:txBody>
      </p:sp>
      <p:sp>
        <p:nvSpPr>
          <p:cNvPr id="297" name="Google Shape;297;p9"/>
          <p:cNvSpPr/>
          <p:nvPr/>
        </p:nvSpPr>
        <p:spPr>
          <a:xfrm>
            <a:off x="914400" y="2349333"/>
            <a:ext cx="8196300" cy="3445200"/>
          </a:xfrm>
          <a:prstGeom prst="rect">
            <a:avLst/>
          </a:prstGeom>
          <a:noFill/>
          <a:ln>
            <a:noFill/>
          </a:ln>
        </p:spPr>
        <p:txBody>
          <a:bodyPr anchorCtr="0" anchor="t" bIns="25400" lIns="25400" spcFirstLastPara="1" rIns="25400" wrap="square" tIns="25400">
            <a:normAutofit/>
          </a:bodyPr>
          <a:lstStyle/>
          <a:p>
            <a:pPr indent="-352425" lvl="0" marL="457200" marR="0" rtl="0" algn="l">
              <a:lnSpc>
                <a:spcPct val="140000"/>
              </a:lnSpc>
              <a:spcBef>
                <a:spcPts val="0"/>
              </a:spcBef>
              <a:spcAft>
                <a:spcPts val="0"/>
              </a:spcAft>
              <a:buSzPts val="1950"/>
              <a:buFont typeface="Helvetica Neue"/>
              <a:buAutoNum type="arabicPeriod"/>
            </a:pPr>
            <a:r>
              <a:rPr b="1" i="0" lang="en-US" sz="1950" u="none" cap="none" strike="noStrike">
                <a:solidFill>
                  <a:srgbClr val="1F2A37"/>
                </a:solidFill>
                <a:latin typeface="Helvetica Neue"/>
                <a:ea typeface="Helvetica Neue"/>
                <a:cs typeface="Helvetica Neue"/>
                <a:sym typeface="Helvetica Neue"/>
              </a:rPr>
              <a:t>DynamoDB · on demand </a:t>
            </a:r>
            <a:r>
              <a:rPr b="0" i="0" lang="en-US" sz="1950" u="none" cap="none" strike="noStrike">
                <a:solidFill>
                  <a:srgbClr val="3A4A5A"/>
                </a:solidFill>
                <a:latin typeface="Helvetica Neue"/>
                <a:ea typeface="Helvetica Neue"/>
                <a:cs typeface="Helvetica Neue"/>
                <a:sym typeface="Helvetica Neue"/>
              </a:rPr>
              <a:t>· pay-per-write, no capacity to manage.</a:t>
            </a:r>
            <a:endParaRPr b="0" i="0" sz="1950" u="none" cap="none" strike="noStrike">
              <a:solidFill>
                <a:srgbClr val="3A4A5A"/>
              </a:solidFill>
              <a:latin typeface="Helvetica Neue"/>
              <a:ea typeface="Helvetica Neue"/>
              <a:cs typeface="Helvetica Neue"/>
              <a:sym typeface="Helvetica Neue"/>
            </a:endParaRPr>
          </a:p>
          <a:p>
            <a:pPr indent="0" lvl="0" marL="457200" marR="0" rtl="0" algn="l">
              <a:lnSpc>
                <a:spcPct val="140000"/>
              </a:lnSpc>
              <a:spcBef>
                <a:spcPts val="0"/>
              </a:spcBef>
              <a:spcAft>
                <a:spcPts val="0"/>
              </a:spcAft>
              <a:buNone/>
            </a:pPr>
            <a:r>
              <a:t/>
            </a:r>
            <a:endParaRPr sz="1950">
              <a:solidFill>
                <a:srgbClr val="3A4A5A"/>
              </a:solidFill>
              <a:latin typeface="Helvetica Neue"/>
              <a:ea typeface="Helvetica Neue"/>
              <a:cs typeface="Helvetica Neue"/>
              <a:sym typeface="Helvetica Neue"/>
            </a:endParaRPr>
          </a:p>
          <a:p>
            <a:pPr indent="-352425" lvl="0" marL="457200" rtl="0" algn="l">
              <a:lnSpc>
                <a:spcPct val="140000"/>
              </a:lnSpc>
              <a:spcBef>
                <a:spcPts val="0"/>
              </a:spcBef>
              <a:spcAft>
                <a:spcPts val="0"/>
              </a:spcAft>
              <a:buSzPts val="1950"/>
              <a:buFont typeface="Helvetica Neue"/>
              <a:buAutoNum type="arabicPeriod"/>
            </a:pPr>
            <a:r>
              <a:rPr lang="en-US" sz="1950">
                <a:solidFill>
                  <a:srgbClr val="3A4A5A"/>
                </a:solidFill>
                <a:latin typeface="Helvetica Neue"/>
                <a:ea typeface="Helvetica Neue"/>
                <a:cs typeface="Helvetica Neue"/>
                <a:sym typeface="Helvetica Neue"/>
              </a:rPr>
              <a:t>2.Look at the section </a:t>
            </a:r>
            <a:r>
              <a:rPr b="1" lang="en-US" sz="1950">
                <a:solidFill>
                  <a:srgbClr val="3A4A5A"/>
                </a:solidFill>
                <a:latin typeface="Helvetica Neue"/>
                <a:ea typeface="Helvetica Neue"/>
                <a:cs typeface="Helvetica Neue"/>
                <a:sym typeface="Helvetica Neue"/>
              </a:rPr>
              <a:t>is_anomaly</a:t>
            </a:r>
            <a:r>
              <a:rPr lang="en-US" sz="1950">
                <a:solidFill>
                  <a:srgbClr val="3A4A5A"/>
                </a:solidFill>
                <a:latin typeface="Helvetica Neue"/>
                <a:ea typeface="Helvetica Neue"/>
                <a:cs typeface="Helvetica Neue"/>
                <a:sym typeface="Helvetica Neue"/>
              </a:rPr>
              <a:t> for each data.</a:t>
            </a:r>
            <a:endParaRPr sz="1950">
              <a:solidFill>
                <a:srgbClr val="3A4A5A"/>
              </a:solidFill>
              <a:latin typeface="Helvetica Neue"/>
              <a:ea typeface="Helvetica Neue"/>
              <a:cs typeface="Helvetica Neue"/>
              <a:sym typeface="Helvetica Neue"/>
            </a:endParaRPr>
          </a:p>
          <a:p>
            <a:pPr indent="0" lvl="0" marL="457200" rtl="0" algn="l">
              <a:lnSpc>
                <a:spcPct val="140000"/>
              </a:lnSpc>
              <a:spcBef>
                <a:spcPts val="0"/>
              </a:spcBef>
              <a:spcAft>
                <a:spcPts val="0"/>
              </a:spcAft>
              <a:buNone/>
            </a:pPr>
            <a:r>
              <a:t/>
            </a:r>
            <a:endParaRPr sz="1950">
              <a:solidFill>
                <a:srgbClr val="3A4A5A"/>
              </a:solidFill>
              <a:latin typeface="Helvetica Neue"/>
              <a:ea typeface="Helvetica Neue"/>
              <a:cs typeface="Helvetica Neue"/>
              <a:sym typeface="Helvetica Neue"/>
            </a:endParaRPr>
          </a:p>
          <a:p>
            <a:pPr indent="-352425" lvl="0" marL="457200" rtl="0" algn="l">
              <a:lnSpc>
                <a:spcPct val="140000"/>
              </a:lnSpc>
              <a:spcBef>
                <a:spcPts val="0"/>
              </a:spcBef>
              <a:spcAft>
                <a:spcPts val="0"/>
              </a:spcAft>
              <a:buClr>
                <a:srgbClr val="3A4A5A"/>
              </a:buClr>
              <a:buSzPts val="1950"/>
              <a:buFont typeface="Helvetica Neue"/>
              <a:buAutoNum type="arabicPeriod"/>
            </a:pPr>
            <a:r>
              <a:rPr lang="en-US" sz="1950">
                <a:solidFill>
                  <a:srgbClr val="3A4A5A"/>
                </a:solidFill>
                <a:latin typeface="Helvetica Neue"/>
                <a:ea typeface="Helvetica Neue"/>
                <a:cs typeface="Helvetica Neue"/>
                <a:sym typeface="Helvetica Neue"/>
              </a:rPr>
              <a:t>If true, then extract all the </a:t>
            </a:r>
            <a:r>
              <a:rPr b="1" lang="en-US" sz="1950">
                <a:solidFill>
                  <a:srgbClr val="3A4A5A"/>
                </a:solidFill>
                <a:latin typeface="Helvetica Neue"/>
                <a:ea typeface="Helvetica Neue"/>
                <a:cs typeface="Helvetica Neue"/>
                <a:sym typeface="Helvetica Neue"/>
              </a:rPr>
              <a:t>financial data</a:t>
            </a:r>
            <a:r>
              <a:rPr lang="en-US" sz="1950">
                <a:solidFill>
                  <a:srgbClr val="3A4A5A"/>
                </a:solidFill>
                <a:latin typeface="Helvetica Neue"/>
                <a:ea typeface="Helvetica Neue"/>
                <a:cs typeface="Helvetica Neue"/>
                <a:sym typeface="Helvetica Neue"/>
              </a:rPr>
              <a:t> of the entry (p50, p10, p90, ticker, actual).</a:t>
            </a:r>
            <a:endParaRPr sz="1950">
              <a:solidFill>
                <a:srgbClr val="3A4A5A"/>
              </a:solidFill>
              <a:latin typeface="Helvetica Neue"/>
              <a:ea typeface="Helvetica Neue"/>
              <a:cs typeface="Helvetica Neue"/>
              <a:sym typeface="Helvetica Neue"/>
            </a:endParaRPr>
          </a:p>
          <a:p>
            <a:pPr indent="0" lvl="0" marL="457200" rtl="0" algn="l">
              <a:lnSpc>
                <a:spcPct val="140000"/>
              </a:lnSpc>
              <a:spcBef>
                <a:spcPts val="0"/>
              </a:spcBef>
              <a:spcAft>
                <a:spcPts val="0"/>
              </a:spcAft>
              <a:buNone/>
            </a:pPr>
            <a:r>
              <a:t/>
            </a:r>
            <a:endParaRPr sz="1950">
              <a:solidFill>
                <a:srgbClr val="3A4A5A"/>
              </a:solidFill>
              <a:latin typeface="Helvetica Neue"/>
              <a:ea typeface="Helvetica Neue"/>
              <a:cs typeface="Helvetica Neue"/>
              <a:sym typeface="Helvetica Neue"/>
            </a:endParaRPr>
          </a:p>
          <a:p>
            <a:pPr indent="-352425" lvl="0" marL="457200" rtl="0" algn="l">
              <a:lnSpc>
                <a:spcPct val="140000"/>
              </a:lnSpc>
              <a:spcBef>
                <a:spcPts val="0"/>
              </a:spcBef>
              <a:spcAft>
                <a:spcPts val="0"/>
              </a:spcAft>
              <a:buClr>
                <a:srgbClr val="3A4A5A"/>
              </a:buClr>
              <a:buSzPts val="1950"/>
              <a:buFont typeface="Helvetica Neue"/>
              <a:buAutoNum type="arabicPeriod"/>
            </a:pPr>
            <a:r>
              <a:rPr b="1" lang="en-US" sz="1950">
                <a:solidFill>
                  <a:srgbClr val="3A4A5A"/>
                </a:solidFill>
                <a:latin typeface="Helvetica Neue"/>
                <a:ea typeface="Helvetica Neue"/>
                <a:cs typeface="Helvetica Neue"/>
                <a:sym typeface="Helvetica Neue"/>
              </a:rPr>
              <a:t>Send a SNS alert</a:t>
            </a:r>
            <a:r>
              <a:rPr lang="en-US" sz="1950">
                <a:solidFill>
                  <a:srgbClr val="3A4A5A"/>
                </a:solidFill>
                <a:latin typeface="Helvetica Neue"/>
                <a:ea typeface="Helvetica Neue"/>
                <a:cs typeface="Helvetica Neue"/>
                <a:sym typeface="Helvetica Neue"/>
              </a:rPr>
              <a:t> to every group members with all the data inside. </a:t>
            </a:r>
            <a:endParaRPr sz="1950">
              <a:solidFill>
                <a:srgbClr val="3A4A5A"/>
              </a:solidFill>
              <a:latin typeface="Helvetica Neue"/>
              <a:ea typeface="Helvetica Neue"/>
              <a:cs typeface="Helvetica Neue"/>
              <a:sym typeface="Helvetica Neue"/>
            </a:endParaRPr>
          </a:p>
          <a:p>
            <a:pPr indent="0" lvl="0" marL="0" marR="0" rtl="0" algn="l">
              <a:lnSpc>
                <a:spcPct val="140000"/>
              </a:lnSpc>
              <a:spcBef>
                <a:spcPts val="0"/>
              </a:spcBef>
              <a:spcAft>
                <a:spcPts val="0"/>
              </a:spcAft>
              <a:buNone/>
            </a:pPr>
            <a:r>
              <a:t/>
            </a:r>
            <a:endParaRPr sz="1950">
              <a:solidFill>
                <a:srgbClr val="3A4A5A"/>
              </a:solidFill>
              <a:latin typeface="Helvetica Neue"/>
              <a:ea typeface="Helvetica Neue"/>
              <a:cs typeface="Helvetica Neue"/>
              <a:sym typeface="Helvetica Neue"/>
            </a:endParaRPr>
          </a:p>
        </p:txBody>
      </p:sp>
      <p:sp>
        <p:nvSpPr>
          <p:cNvPr id="298" name="Google Shape;298;p9"/>
          <p:cNvSpPr/>
          <p:nvPr/>
        </p:nvSpPr>
        <p:spPr>
          <a:xfrm>
            <a:off x="11087350" y="3189074"/>
            <a:ext cx="7430100" cy="384600"/>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3A4A5A"/>
              </a:buClr>
              <a:buSzPts val="1950"/>
              <a:buFont typeface="Helvetica Neue"/>
              <a:buNone/>
            </a:pPr>
            <a:r>
              <a:rPr b="0" i="0" lang="en-US" sz="1950" u="none" cap="none" strike="noStrike">
                <a:solidFill>
                  <a:srgbClr val="3A4A5A"/>
                </a:solidFill>
                <a:latin typeface="Helvetica Neue"/>
                <a:ea typeface="Helvetica Neue"/>
                <a:cs typeface="Helvetica Neue"/>
                <a:sym typeface="Helvetica Neue"/>
              </a:rPr>
              <a:t>Out-of-band → </a:t>
            </a:r>
            <a:r>
              <a:rPr b="1" i="0" lang="en-US" sz="1950" u="none" cap="none" strike="noStrike">
                <a:solidFill>
                  <a:srgbClr val="1F2A37"/>
                </a:solidFill>
                <a:latin typeface="Helvetica Neue"/>
                <a:ea typeface="Helvetica Neue"/>
                <a:cs typeface="Helvetica Neue"/>
                <a:sym typeface="Helvetica Neue"/>
              </a:rPr>
              <a:t>SNS </a:t>
            </a:r>
            <a:r>
              <a:rPr b="0" i="0" lang="en-US" sz="1950" u="none" cap="none" strike="noStrike">
                <a:solidFill>
                  <a:srgbClr val="3A4A5A"/>
                </a:solidFill>
                <a:latin typeface="Helvetica Neue"/>
                <a:ea typeface="Helvetica Neue"/>
                <a:cs typeface="Helvetica Neue"/>
                <a:sym typeface="Helvetica Neue"/>
              </a:rPr>
              <a:t>publish → team email.</a:t>
            </a:r>
            <a:endParaRPr b="0" i="0" sz="1950" u="none" cap="none" strike="noStrike">
              <a:solidFill>
                <a:schemeClr val="dk1"/>
              </a:solidFill>
              <a:latin typeface="Calibri"/>
              <a:ea typeface="Calibri"/>
              <a:cs typeface="Calibri"/>
              <a:sym typeface="Calibri"/>
            </a:endParaRPr>
          </a:p>
        </p:txBody>
      </p:sp>
      <p:sp>
        <p:nvSpPr>
          <p:cNvPr id="299" name="Google Shape;299;p9"/>
          <p:cNvSpPr/>
          <p:nvPr/>
        </p:nvSpPr>
        <p:spPr>
          <a:xfrm>
            <a:off x="9032528" y="2476500"/>
            <a:ext cx="8341200" cy="3190800"/>
          </a:xfrm>
          <a:prstGeom prst="roundRect">
            <a:avLst>
              <a:gd fmla="val 1194" name="adj"/>
            </a:avLst>
          </a:prstGeom>
          <a:solidFill>
            <a:srgbClr val="FFFFFF"/>
          </a:solidFill>
          <a:ln cap="flat" cmpd="sng" w="9525">
            <a:solidFill>
              <a:srgbClr val="E2E5EA"/>
            </a:solidFill>
            <a:prstDash val="solid"/>
            <a:round/>
            <a:headEnd len="sm" w="sm" type="none"/>
            <a:tailEnd len="sm" w="sm" type="none"/>
          </a:ln>
          <a:effectLst>
            <a:outerShdw blurRad="76200" rotWithShape="0" algn="bl" dir="5400000" dist="19050">
              <a:srgbClr val="1F2A37">
                <a:alpha val="3921"/>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9"/>
          <p:cNvSpPr/>
          <p:nvPr/>
        </p:nvSpPr>
        <p:spPr>
          <a:xfrm>
            <a:off x="9175403" y="2619375"/>
            <a:ext cx="8296982" cy="1905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900"/>
              <a:buFont typeface="Courier New"/>
              <a:buNone/>
            </a:pPr>
            <a:r>
              <a:rPr b="0" i="0" lang="en-US" sz="900" u="none" cap="none" strike="noStrike">
                <a:solidFill>
                  <a:srgbClr val="8A94A6"/>
                </a:solidFill>
                <a:latin typeface="Courier New"/>
                <a:ea typeface="Courier New"/>
                <a:cs typeface="Courier New"/>
                <a:sym typeface="Courier New"/>
              </a:rPr>
              <a:t>STREAM TRIGGER</a:t>
            </a:r>
            <a:endParaRPr b="0" i="0" sz="900" u="none" cap="none" strike="noStrike">
              <a:solidFill>
                <a:schemeClr val="dk1"/>
              </a:solidFill>
              <a:latin typeface="Calibri"/>
              <a:ea typeface="Calibri"/>
              <a:cs typeface="Calibri"/>
              <a:sym typeface="Calibri"/>
            </a:endParaRPr>
          </a:p>
        </p:txBody>
      </p:sp>
      <p:sp>
        <p:nvSpPr>
          <p:cNvPr id="301" name="Google Shape;301;p9"/>
          <p:cNvSpPr/>
          <p:nvPr/>
        </p:nvSpPr>
        <p:spPr>
          <a:xfrm>
            <a:off x="9175403" y="2867025"/>
            <a:ext cx="8055300" cy="2667000"/>
          </a:xfrm>
          <a:prstGeom prst="roundRect">
            <a:avLst>
              <a:gd fmla="val 714"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02" name="Google Shape;302;p9"/>
          <p:cNvPicPr preferRelativeResize="0"/>
          <p:nvPr/>
        </p:nvPicPr>
        <p:blipFill rotWithShape="1">
          <a:blip r:embed="rId3">
            <a:alphaModFix/>
          </a:blip>
          <a:srcRect b="0" l="0" r="0" t="0"/>
          <a:stretch/>
        </p:blipFill>
        <p:spPr>
          <a:xfrm>
            <a:off x="9175403" y="2867025"/>
            <a:ext cx="8055322" cy="2667000"/>
          </a:xfrm>
          <a:prstGeom prst="rect">
            <a:avLst/>
          </a:prstGeom>
          <a:noFill/>
          <a:ln>
            <a:noFill/>
          </a:ln>
        </p:spPr>
      </p:pic>
      <p:sp>
        <p:nvSpPr>
          <p:cNvPr id="303" name="Google Shape;303;p9"/>
          <p:cNvSpPr/>
          <p:nvPr/>
        </p:nvSpPr>
        <p:spPr>
          <a:xfrm>
            <a:off x="914400" y="9496425"/>
            <a:ext cx="16459200" cy="9525"/>
          </a:xfrm>
          <a:prstGeom prst="rect">
            <a:avLst/>
          </a:prstGeom>
          <a:solidFill>
            <a:srgbClr val="E2E5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9"/>
          <p:cNvSpPr/>
          <p:nvPr/>
        </p:nvSpPr>
        <p:spPr>
          <a:xfrm>
            <a:off x="914400" y="9658350"/>
            <a:ext cx="6985101" cy="2095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975"/>
              <a:buFont typeface="Courier New"/>
              <a:buNone/>
            </a:pPr>
            <a:r>
              <a:rPr b="0" i="0" lang="en-US" sz="975" u="none" cap="none" strike="noStrike">
                <a:solidFill>
                  <a:srgbClr val="8A94A6"/>
                </a:solidFill>
                <a:latin typeface="Courier New"/>
                <a:ea typeface="Courier New"/>
                <a:cs typeface="Courier New"/>
                <a:sym typeface="Courier New"/>
              </a:rPr>
              <a:t>TEAM 11_02 · NEAR-REAL-TIME FINANCIAL FORECASTING ON AWS · CCBDA-MIRI 2026</a:t>
            </a:r>
            <a:endParaRPr b="0" i="0" sz="975" u="none" cap="none" strike="noStrike">
              <a:solidFill>
                <a:schemeClr val="dk1"/>
              </a:solidFill>
              <a:latin typeface="Calibri"/>
              <a:ea typeface="Calibri"/>
              <a:cs typeface="Calibri"/>
              <a:sym typeface="Calibri"/>
            </a:endParaRPr>
          </a:p>
        </p:txBody>
      </p:sp>
      <p:sp>
        <p:nvSpPr>
          <p:cNvPr id="305" name="Google Shape;305;p9"/>
          <p:cNvSpPr/>
          <p:nvPr/>
        </p:nvSpPr>
        <p:spPr>
          <a:xfrm>
            <a:off x="16732002" y="9658350"/>
            <a:ext cx="717798" cy="2095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975"/>
              <a:buFont typeface="Courier New"/>
              <a:buNone/>
            </a:pPr>
            <a:r>
              <a:rPr b="0" i="0" lang="en-US" sz="975" u="none" cap="none" strike="noStrike">
                <a:solidFill>
                  <a:srgbClr val="8A94A6"/>
                </a:solidFill>
                <a:latin typeface="Courier New"/>
                <a:ea typeface="Courier New"/>
                <a:cs typeface="Courier New"/>
                <a:sym typeface="Courier New"/>
              </a:rPr>
              <a:t>09 / 14</a:t>
            </a:r>
            <a:endParaRPr b="0" i="0" sz="975" u="none" cap="none" strike="noStrike">
              <a:solidFill>
                <a:schemeClr val="dk1"/>
              </a:solidFill>
              <a:latin typeface="Calibri"/>
              <a:ea typeface="Calibri"/>
              <a:cs typeface="Calibri"/>
              <a:sym typeface="Calibri"/>
            </a:endParaRPr>
          </a:p>
        </p:txBody>
      </p:sp>
      <p:sp>
        <p:nvSpPr>
          <p:cNvPr id="306" name="Google Shape;306;p9"/>
          <p:cNvSpPr/>
          <p:nvPr/>
        </p:nvSpPr>
        <p:spPr>
          <a:xfrm>
            <a:off x="3766049" y="5816177"/>
            <a:ext cx="10755900" cy="3398100"/>
          </a:xfrm>
          <a:prstGeom prst="roundRect">
            <a:avLst>
              <a:gd fmla="val 1324" name="adj"/>
            </a:avLst>
          </a:prstGeom>
          <a:solidFill>
            <a:srgbClr val="FFFFFF"/>
          </a:solidFill>
          <a:ln cap="flat" cmpd="sng" w="9525">
            <a:solidFill>
              <a:srgbClr val="E2E5EA"/>
            </a:solidFill>
            <a:prstDash val="solid"/>
            <a:round/>
            <a:headEnd len="sm" w="sm" type="none"/>
            <a:tailEnd len="sm" w="sm" type="none"/>
          </a:ln>
          <a:effectLst>
            <a:outerShdw blurRad="76200" rotWithShape="0" algn="bl" dir="5400000" dist="19050">
              <a:srgbClr val="1F2A37">
                <a:alpha val="392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7" name="Google Shape;307;p9"/>
          <p:cNvSpPr/>
          <p:nvPr/>
        </p:nvSpPr>
        <p:spPr>
          <a:xfrm>
            <a:off x="3908928" y="5959038"/>
            <a:ext cx="8297100" cy="190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8A94A6"/>
              </a:buClr>
              <a:buSzPts val="900"/>
              <a:buFont typeface="Courier New"/>
              <a:buNone/>
            </a:pPr>
            <a:r>
              <a:rPr b="0" i="0" lang="en-US" sz="900" u="none" cap="none" strike="noStrike">
                <a:solidFill>
                  <a:srgbClr val="8A94A6"/>
                </a:solidFill>
                <a:latin typeface="Courier New"/>
                <a:ea typeface="Courier New"/>
                <a:cs typeface="Courier New"/>
                <a:sym typeface="Courier New"/>
              </a:rPr>
              <a:t>DYNAMODB STREAM · RESOURCE POLICY</a:t>
            </a:r>
            <a:endParaRPr b="0" i="0" sz="900" u="none" cap="none" strike="noStrike">
              <a:solidFill>
                <a:schemeClr val="dk1"/>
              </a:solidFill>
              <a:latin typeface="Calibri"/>
              <a:ea typeface="Calibri"/>
              <a:cs typeface="Calibri"/>
              <a:sym typeface="Calibri"/>
            </a:endParaRPr>
          </a:p>
        </p:txBody>
      </p:sp>
      <p:sp>
        <p:nvSpPr>
          <p:cNvPr id="308" name="Google Shape;308;p9"/>
          <p:cNvSpPr/>
          <p:nvPr/>
        </p:nvSpPr>
        <p:spPr>
          <a:xfrm>
            <a:off x="3908928" y="6206688"/>
            <a:ext cx="8055300" cy="2344200"/>
          </a:xfrm>
          <a:prstGeom prst="roundRect">
            <a:avLst>
              <a:gd fmla="val 813"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pic>
        <p:nvPicPr>
          <p:cNvPr descr="preencoded.png" id="309" name="Google Shape;309;p9"/>
          <p:cNvPicPr preferRelativeResize="0"/>
          <p:nvPr/>
        </p:nvPicPr>
        <p:blipFill rotWithShape="1">
          <a:blip r:embed="rId4">
            <a:alphaModFix/>
          </a:blip>
          <a:srcRect b="0" l="0" r="0" t="0"/>
          <a:stretch/>
        </p:blipFill>
        <p:spPr>
          <a:xfrm>
            <a:off x="3976512" y="6163341"/>
            <a:ext cx="10334977" cy="30075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2"/>
        </a:solidFill>
      </p:bgPr>
    </p:bg>
    <p:spTree>
      <p:nvGrpSpPr>
        <p:cNvPr id="314" name="Shape 314"/>
        <p:cNvGrpSpPr/>
        <p:nvPr/>
      </p:nvGrpSpPr>
      <p:grpSpPr>
        <a:xfrm>
          <a:off x="0" y="0"/>
          <a:ext cx="0" cy="0"/>
          <a:chOff x="0" y="0"/>
          <a:chExt cx="0" cy="0"/>
        </a:xfrm>
      </p:grpSpPr>
      <p:sp>
        <p:nvSpPr>
          <p:cNvPr id="315" name="Google Shape;315;g3e45e5cf2c2_0_4"/>
          <p:cNvSpPr/>
          <p:nvPr/>
        </p:nvSpPr>
        <p:spPr>
          <a:xfrm>
            <a:off x="914400" y="647700"/>
            <a:ext cx="5142900" cy="2571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1F2A37"/>
              </a:buClr>
              <a:buSzPts val="1500"/>
              <a:buFont typeface="Helvetica Neue"/>
              <a:buNone/>
            </a:pPr>
            <a:r>
              <a:rPr b="1" i="0" lang="en-US" sz="1500" u="none" cap="none" strike="noStrike">
                <a:solidFill>
                  <a:srgbClr val="1F2A37"/>
                </a:solidFill>
                <a:latin typeface="Helvetica Neue"/>
                <a:ea typeface="Helvetica Neue"/>
                <a:cs typeface="Helvetica Neue"/>
                <a:sym typeface="Helvetica Neue"/>
              </a:rPr>
              <a:t>09 · STORAGE &amp; ANOMALY DETECTION (2/2)</a:t>
            </a:r>
            <a:endParaRPr b="0" i="0" sz="1500" u="none" cap="none" strike="noStrike">
              <a:solidFill>
                <a:schemeClr val="dk1"/>
              </a:solidFill>
              <a:latin typeface="Calibri"/>
              <a:ea typeface="Calibri"/>
              <a:cs typeface="Calibri"/>
              <a:sym typeface="Calibri"/>
            </a:endParaRPr>
          </a:p>
        </p:txBody>
      </p:sp>
      <p:sp>
        <p:nvSpPr>
          <p:cNvPr id="316" name="Google Shape;316;g3e45e5cf2c2_0_4"/>
          <p:cNvSpPr/>
          <p:nvPr/>
        </p:nvSpPr>
        <p:spPr>
          <a:xfrm>
            <a:off x="15361593" y="647700"/>
            <a:ext cx="2088300" cy="2382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8A94A6"/>
              </a:buClr>
              <a:buSzPts val="1200"/>
              <a:buFont typeface="Courier New"/>
              <a:buNone/>
            </a:pPr>
            <a:r>
              <a:rPr b="0" i="0" lang="en-US" sz="1200" u="none" cap="none" strike="noStrike">
                <a:solidFill>
                  <a:srgbClr val="8A94A6"/>
                </a:solidFill>
                <a:latin typeface="Courier New"/>
                <a:ea typeface="Courier New"/>
                <a:cs typeface="Courier New"/>
                <a:sym typeface="Courier New"/>
              </a:rPr>
              <a:t>SPEAKER · </a:t>
            </a:r>
            <a:r>
              <a:rPr b="1" i="0" lang="en-US" sz="1200" u="none" cap="none" strike="noStrike">
                <a:solidFill>
                  <a:srgbClr val="1F2A37"/>
                </a:solidFill>
                <a:latin typeface="Courier New"/>
                <a:ea typeface="Courier New"/>
                <a:cs typeface="Courier New"/>
                <a:sym typeface="Courier New"/>
              </a:rPr>
              <a:t>ARTHUR</a:t>
            </a:r>
            <a:endParaRPr b="0" i="0" sz="1200" u="none" cap="none" strike="noStrike">
              <a:solidFill>
                <a:schemeClr val="dk1"/>
              </a:solidFill>
              <a:latin typeface="Calibri"/>
              <a:ea typeface="Calibri"/>
              <a:cs typeface="Calibri"/>
              <a:sym typeface="Calibri"/>
            </a:endParaRPr>
          </a:p>
        </p:txBody>
      </p:sp>
      <p:sp>
        <p:nvSpPr>
          <p:cNvPr id="317" name="Google Shape;317;g3e45e5cf2c2_0_4"/>
          <p:cNvSpPr/>
          <p:nvPr/>
        </p:nvSpPr>
        <p:spPr>
          <a:xfrm>
            <a:off x="914400" y="1143000"/>
            <a:ext cx="16953000" cy="592800"/>
          </a:xfrm>
          <a:prstGeom prst="rect">
            <a:avLst/>
          </a:prstGeom>
          <a:noFill/>
          <a:ln>
            <a:noFill/>
          </a:ln>
        </p:spPr>
        <p:txBody>
          <a:bodyPr anchorCtr="0" anchor="t" bIns="25400" lIns="25400" spcFirstLastPara="1" rIns="25400" wrap="square" tIns="25400">
            <a:noAutofit/>
          </a:bodyPr>
          <a:lstStyle/>
          <a:p>
            <a:pPr indent="0" lvl="0" marL="0" marR="0" rtl="0" algn="l">
              <a:lnSpc>
                <a:spcPct val="104000"/>
              </a:lnSpc>
              <a:spcBef>
                <a:spcPts val="0"/>
              </a:spcBef>
              <a:spcAft>
                <a:spcPts val="0"/>
              </a:spcAft>
              <a:buClr>
                <a:srgbClr val="1F2A37"/>
              </a:buClr>
              <a:buSzPts val="4200"/>
              <a:buFont typeface="Helvetica Neue"/>
              <a:buNone/>
            </a:pPr>
            <a:r>
              <a:rPr b="1" lang="en-US" sz="4200">
                <a:solidFill>
                  <a:srgbClr val="1F2A37"/>
                </a:solidFill>
                <a:latin typeface="Helvetica Neue"/>
                <a:ea typeface="Helvetica Neue"/>
                <a:cs typeface="Helvetica Neue"/>
                <a:sym typeface="Helvetica Neue"/>
              </a:rPr>
              <a:t>Alert Example</a:t>
            </a:r>
            <a:endParaRPr b="0" i="0" sz="4200" u="none" cap="none" strike="noStrike">
              <a:solidFill>
                <a:schemeClr val="dk1"/>
              </a:solidFill>
              <a:latin typeface="Calibri"/>
              <a:ea typeface="Calibri"/>
              <a:cs typeface="Calibri"/>
              <a:sym typeface="Calibri"/>
            </a:endParaRPr>
          </a:p>
        </p:txBody>
      </p:sp>
      <p:sp>
        <p:nvSpPr>
          <p:cNvPr id="318" name="Google Shape;318;g3e45e5cf2c2_0_4"/>
          <p:cNvSpPr/>
          <p:nvPr/>
        </p:nvSpPr>
        <p:spPr>
          <a:xfrm>
            <a:off x="799200" y="2254500"/>
            <a:ext cx="16332300" cy="6111000"/>
          </a:xfrm>
          <a:prstGeom prst="roundRect">
            <a:avLst>
              <a:gd fmla="val 1194" name="adj"/>
            </a:avLst>
          </a:prstGeom>
          <a:solidFill>
            <a:srgbClr val="FFFFFF"/>
          </a:solidFill>
          <a:ln cap="flat" cmpd="sng" w="9525">
            <a:solidFill>
              <a:srgbClr val="E2E5EA"/>
            </a:solidFill>
            <a:prstDash val="solid"/>
            <a:round/>
            <a:headEnd len="sm" w="sm" type="none"/>
            <a:tailEnd len="sm" w="sm" type="none"/>
          </a:ln>
          <a:effectLst>
            <a:outerShdw blurRad="76200" rotWithShape="0" algn="bl" dir="5400000" dist="19050">
              <a:srgbClr val="1F2A37">
                <a:alpha val="3920"/>
              </a:srgbClr>
            </a:outerShdw>
          </a:effectLst>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g3e45e5cf2c2_0_4"/>
          <p:cNvSpPr/>
          <p:nvPr/>
        </p:nvSpPr>
        <p:spPr>
          <a:xfrm>
            <a:off x="1976266" y="2986305"/>
            <a:ext cx="8297100" cy="1905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8A94A6"/>
              </a:buClr>
              <a:buSzPts val="900"/>
              <a:buFont typeface="Courier New"/>
              <a:buNone/>
            </a:pPr>
            <a:r>
              <a:rPr b="0" i="0" lang="en-US" sz="1200" u="none" cap="none" strike="noStrike">
                <a:solidFill>
                  <a:srgbClr val="8A94A6"/>
                </a:solidFill>
                <a:latin typeface="Courier New"/>
                <a:ea typeface="Courier New"/>
                <a:cs typeface="Courier New"/>
                <a:sym typeface="Courier New"/>
              </a:rPr>
              <a:t>REAL ALERT EMAIL</a:t>
            </a:r>
            <a:endParaRPr b="0" i="0" sz="1200" u="none" cap="none" strike="noStrike">
              <a:solidFill>
                <a:schemeClr val="dk1"/>
              </a:solidFill>
              <a:latin typeface="Calibri"/>
              <a:ea typeface="Calibri"/>
              <a:cs typeface="Calibri"/>
              <a:sym typeface="Calibri"/>
            </a:endParaRPr>
          </a:p>
        </p:txBody>
      </p:sp>
      <p:pic>
        <p:nvPicPr>
          <p:cNvPr descr="preencoded.png" id="320" name="Google Shape;320;g3e45e5cf2c2_0_4"/>
          <p:cNvPicPr preferRelativeResize="0"/>
          <p:nvPr/>
        </p:nvPicPr>
        <p:blipFill rotWithShape="1">
          <a:blip r:embed="rId3">
            <a:alphaModFix/>
          </a:blip>
          <a:srcRect b="0" l="0" r="0" t="0"/>
          <a:stretch/>
        </p:blipFill>
        <p:spPr>
          <a:xfrm>
            <a:off x="1583598" y="3072424"/>
            <a:ext cx="14549151" cy="4816999"/>
          </a:xfrm>
          <a:prstGeom prst="rect">
            <a:avLst/>
          </a:prstGeom>
          <a:noFill/>
          <a:ln>
            <a:noFill/>
          </a:ln>
        </p:spPr>
      </p:pic>
      <p:sp>
        <p:nvSpPr>
          <p:cNvPr id="321" name="Google Shape;321;g3e45e5cf2c2_0_4"/>
          <p:cNvSpPr/>
          <p:nvPr/>
        </p:nvSpPr>
        <p:spPr>
          <a:xfrm>
            <a:off x="914400" y="9496425"/>
            <a:ext cx="16459200" cy="9600"/>
          </a:xfrm>
          <a:prstGeom prst="rect">
            <a:avLst/>
          </a:prstGeom>
          <a:solidFill>
            <a:srgbClr val="E2E5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2" name="Google Shape;322;g3e45e5cf2c2_0_4"/>
          <p:cNvSpPr/>
          <p:nvPr/>
        </p:nvSpPr>
        <p:spPr>
          <a:xfrm>
            <a:off x="914400" y="9658350"/>
            <a:ext cx="6985200" cy="209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8A94A6"/>
              </a:buClr>
              <a:buSzPts val="975"/>
              <a:buFont typeface="Courier New"/>
              <a:buNone/>
            </a:pPr>
            <a:r>
              <a:rPr b="0" i="0" lang="en-US" sz="975" u="none" cap="none" strike="noStrike">
                <a:solidFill>
                  <a:srgbClr val="8A94A6"/>
                </a:solidFill>
                <a:latin typeface="Courier New"/>
                <a:ea typeface="Courier New"/>
                <a:cs typeface="Courier New"/>
                <a:sym typeface="Courier New"/>
              </a:rPr>
              <a:t>TEAM 11_02 · NEAR-REAL-TIME FINANCIAL FORECASTING ON AWS · CCBDA-MIRI 2026</a:t>
            </a:r>
            <a:endParaRPr b="0" i="0" sz="975" u="none" cap="none" strike="noStrike">
              <a:solidFill>
                <a:schemeClr val="dk1"/>
              </a:solidFill>
              <a:latin typeface="Calibri"/>
              <a:ea typeface="Calibri"/>
              <a:cs typeface="Calibri"/>
              <a:sym typeface="Calibri"/>
            </a:endParaRPr>
          </a:p>
        </p:txBody>
      </p:sp>
      <p:sp>
        <p:nvSpPr>
          <p:cNvPr id="323" name="Google Shape;323;g3e45e5cf2c2_0_4"/>
          <p:cNvSpPr/>
          <p:nvPr/>
        </p:nvSpPr>
        <p:spPr>
          <a:xfrm>
            <a:off x="16732002" y="9658350"/>
            <a:ext cx="717900" cy="209700"/>
          </a:xfrm>
          <a:prstGeom prst="rect">
            <a:avLst/>
          </a:prstGeom>
          <a:noFill/>
          <a:ln>
            <a:noFill/>
          </a:ln>
        </p:spPr>
        <p:txBody>
          <a:bodyPr anchorCtr="0" anchor="t" bIns="25400" lIns="25400" spcFirstLastPara="1" rIns="25400" wrap="square" tIns="25400">
            <a:noAutofit/>
          </a:bodyPr>
          <a:lstStyle/>
          <a:p>
            <a:pPr indent="0" lvl="0" marL="0" marR="0" rtl="0" algn="l">
              <a:spcBef>
                <a:spcPts val="0"/>
              </a:spcBef>
              <a:spcAft>
                <a:spcPts val="0"/>
              </a:spcAft>
              <a:buClr>
                <a:srgbClr val="8A94A6"/>
              </a:buClr>
              <a:buSzPts val="975"/>
              <a:buFont typeface="Courier New"/>
              <a:buNone/>
            </a:pPr>
            <a:r>
              <a:rPr lang="en-US" sz="975">
                <a:solidFill>
                  <a:srgbClr val="8A94A6"/>
                </a:solidFill>
                <a:latin typeface="Courier New"/>
                <a:ea typeface="Courier New"/>
                <a:cs typeface="Courier New"/>
                <a:sym typeface="Courier New"/>
              </a:rPr>
              <a:t>10</a:t>
            </a:r>
            <a:r>
              <a:rPr b="0" i="0" lang="en-US" sz="975" u="none" cap="none" strike="noStrike">
                <a:solidFill>
                  <a:srgbClr val="8A94A6"/>
                </a:solidFill>
                <a:latin typeface="Courier New"/>
                <a:ea typeface="Courier New"/>
                <a:cs typeface="Courier New"/>
                <a:sym typeface="Courier New"/>
              </a:rPr>
              <a:t> / 14</a:t>
            </a:r>
            <a:endParaRPr b="0" i="0" sz="975" u="none" cap="none" strike="noStrike">
              <a:solidFill>
                <a:schemeClr val="dk1"/>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2"/>
        </a:solidFill>
      </p:bgPr>
    </p:bg>
    <p:spTree>
      <p:nvGrpSpPr>
        <p:cNvPr id="328" name="Shape 328"/>
        <p:cNvGrpSpPr/>
        <p:nvPr/>
      </p:nvGrpSpPr>
      <p:grpSpPr>
        <a:xfrm>
          <a:off x="0" y="0"/>
          <a:ext cx="0" cy="0"/>
          <a:chOff x="0" y="0"/>
          <a:chExt cx="0" cy="0"/>
        </a:xfrm>
      </p:grpSpPr>
      <p:sp>
        <p:nvSpPr>
          <p:cNvPr id="329" name="Google Shape;329;p10"/>
          <p:cNvSpPr/>
          <p:nvPr/>
        </p:nvSpPr>
        <p:spPr>
          <a:xfrm>
            <a:off x="914400" y="647700"/>
            <a:ext cx="5552118" cy="2571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F2A37"/>
              </a:buClr>
              <a:buSzPts val="1500"/>
              <a:buFont typeface="Helvetica Neue"/>
              <a:buNone/>
            </a:pPr>
            <a:r>
              <a:rPr b="1" i="0" lang="en-US" sz="1500" u="none" cap="none" strike="noStrike">
                <a:solidFill>
                  <a:srgbClr val="1F2A37"/>
                </a:solidFill>
                <a:latin typeface="Helvetica Neue"/>
                <a:ea typeface="Helvetica Neue"/>
                <a:cs typeface="Helvetica Neue"/>
                <a:sym typeface="Helvetica Neue"/>
              </a:rPr>
              <a:t>10 · ORCHESTRATION &amp; CROSS-ACCOUNT</a:t>
            </a:r>
            <a:endParaRPr b="0" i="0" sz="1500" u="none" cap="none" strike="noStrike">
              <a:solidFill>
                <a:schemeClr val="dk1"/>
              </a:solidFill>
              <a:latin typeface="Calibri"/>
              <a:ea typeface="Calibri"/>
              <a:cs typeface="Calibri"/>
              <a:sym typeface="Calibri"/>
            </a:endParaRPr>
          </a:p>
        </p:txBody>
      </p:sp>
      <p:sp>
        <p:nvSpPr>
          <p:cNvPr id="330" name="Google Shape;330;p10"/>
          <p:cNvSpPr/>
          <p:nvPr/>
        </p:nvSpPr>
        <p:spPr>
          <a:xfrm>
            <a:off x="15361593" y="647700"/>
            <a:ext cx="2088207" cy="2381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1200"/>
              <a:buFont typeface="Courier New"/>
              <a:buNone/>
            </a:pPr>
            <a:r>
              <a:rPr b="0" i="0" lang="en-US" sz="1200" u="none" cap="none" strike="noStrike">
                <a:solidFill>
                  <a:srgbClr val="8A94A6"/>
                </a:solidFill>
                <a:latin typeface="Courier New"/>
                <a:ea typeface="Courier New"/>
                <a:cs typeface="Courier New"/>
                <a:sym typeface="Courier New"/>
              </a:rPr>
              <a:t>SPEAKER · </a:t>
            </a:r>
            <a:r>
              <a:rPr b="1" i="0" lang="en-US" sz="1200" u="none" cap="none" strike="noStrike">
                <a:solidFill>
                  <a:srgbClr val="1F2A37"/>
                </a:solidFill>
                <a:latin typeface="Courier New"/>
                <a:ea typeface="Courier New"/>
                <a:cs typeface="Courier New"/>
                <a:sym typeface="Courier New"/>
              </a:rPr>
              <a:t>ARTHUR</a:t>
            </a:r>
            <a:endParaRPr b="0" i="0" sz="1200" u="none" cap="none" strike="noStrike">
              <a:solidFill>
                <a:schemeClr val="dk1"/>
              </a:solidFill>
              <a:latin typeface="Calibri"/>
              <a:ea typeface="Calibri"/>
              <a:cs typeface="Calibri"/>
              <a:sym typeface="Calibri"/>
            </a:endParaRPr>
          </a:p>
        </p:txBody>
      </p:sp>
      <p:sp>
        <p:nvSpPr>
          <p:cNvPr id="331" name="Google Shape;331;p10"/>
          <p:cNvSpPr/>
          <p:nvPr/>
        </p:nvSpPr>
        <p:spPr>
          <a:xfrm>
            <a:off x="914400" y="1143000"/>
            <a:ext cx="16952976" cy="1147465"/>
          </a:xfrm>
          <a:prstGeom prst="rect">
            <a:avLst/>
          </a:prstGeom>
          <a:noFill/>
          <a:ln>
            <a:noFill/>
          </a:ln>
        </p:spPr>
        <p:txBody>
          <a:bodyPr anchorCtr="0" anchor="t" bIns="25400" lIns="25400" spcFirstLastPara="1" rIns="25400" wrap="square" tIns="25400">
            <a:normAutofit/>
          </a:bodyPr>
          <a:lstStyle/>
          <a:p>
            <a:pPr indent="0" lvl="0" marL="0" marR="0" rtl="0" algn="l">
              <a:lnSpc>
                <a:spcPct val="104000"/>
              </a:lnSpc>
              <a:spcBef>
                <a:spcPts val="0"/>
              </a:spcBef>
              <a:spcAft>
                <a:spcPts val="0"/>
              </a:spcAft>
              <a:buClr>
                <a:srgbClr val="1F2A37"/>
              </a:buClr>
              <a:buSzPts val="4200"/>
              <a:buFont typeface="Helvetica Neue"/>
              <a:buNone/>
            </a:pPr>
            <a:r>
              <a:rPr b="1" i="0" lang="en-US" sz="4200" u="none" cap="none" strike="noStrike">
                <a:solidFill>
                  <a:srgbClr val="1F2A37"/>
                </a:solidFill>
                <a:latin typeface="Helvetica Neue"/>
                <a:ea typeface="Helvetica Neue"/>
                <a:cs typeface="Helvetica Neue"/>
                <a:sym typeface="Helvetica Neue"/>
              </a:rPr>
              <a:t>Step Functions</a:t>
            </a:r>
            <a:r>
              <a:rPr b="1" lang="en-US" sz="4200">
                <a:solidFill>
                  <a:srgbClr val="1F2A37"/>
                </a:solidFill>
                <a:latin typeface="Helvetica Neue"/>
                <a:ea typeface="Helvetica Neue"/>
                <a:cs typeface="Helvetica Neue"/>
                <a:sym typeface="Helvetica Neue"/>
              </a:rPr>
              <a:t> : Orchestration of the pipeline</a:t>
            </a:r>
            <a:endParaRPr b="0" i="0" sz="4200" u="none" cap="none" strike="noStrike">
              <a:solidFill>
                <a:schemeClr val="dk1"/>
              </a:solidFill>
              <a:latin typeface="Calibri"/>
              <a:ea typeface="Calibri"/>
              <a:cs typeface="Calibri"/>
              <a:sym typeface="Calibri"/>
            </a:endParaRPr>
          </a:p>
        </p:txBody>
      </p:sp>
      <p:sp>
        <p:nvSpPr>
          <p:cNvPr id="332" name="Google Shape;332;p10"/>
          <p:cNvSpPr/>
          <p:nvPr/>
        </p:nvSpPr>
        <p:spPr>
          <a:xfrm>
            <a:off x="890188" y="6463162"/>
            <a:ext cx="7430100" cy="384600"/>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1F2A37"/>
              </a:buClr>
              <a:buSzPts val="1950"/>
              <a:buFont typeface="Helvetica Neue"/>
              <a:buNone/>
            </a:pPr>
            <a:r>
              <a:rPr b="1" lang="en-US" sz="1950">
                <a:solidFill>
                  <a:srgbClr val="1F2A37"/>
                </a:solidFill>
                <a:latin typeface="Helvetica Neue"/>
                <a:ea typeface="Helvetica Neue"/>
                <a:cs typeface="Helvetica Neue"/>
                <a:sym typeface="Helvetica Neue"/>
              </a:rPr>
              <a:t>Graph View :</a:t>
            </a:r>
            <a:endParaRPr b="0" i="0" sz="1950" u="none" cap="none" strike="noStrike">
              <a:solidFill>
                <a:schemeClr val="dk1"/>
              </a:solidFill>
              <a:latin typeface="Calibri"/>
              <a:ea typeface="Calibri"/>
              <a:cs typeface="Calibri"/>
              <a:sym typeface="Calibri"/>
            </a:endParaRPr>
          </a:p>
        </p:txBody>
      </p:sp>
      <p:sp>
        <p:nvSpPr>
          <p:cNvPr id="333" name="Google Shape;333;p10"/>
          <p:cNvSpPr/>
          <p:nvPr/>
        </p:nvSpPr>
        <p:spPr>
          <a:xfrm>
            <a:off x="914400" y="9496425"/>
            <a:ext cx="16459200" cy="9525"/>
          </a:xfrm>
          <a:prstGeom prst="rect">
            <a:avLst/>
          </a:prstGeom>
          <a:solidFill>
            <a:srgbClr val="E2E5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4" name="Google Shape;334;p10"/>
          <p:cNvSpPr/>
          <p:nvPr/>
        </p:nvSpPr>
        <p:spPr>
          <a:xfrm>
            <a:off x="914400" y="9658350"/>
            <a:ext cx="6985101" cy="2095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975"/>
              <a:buFont typeface="Courier New"/>
              <a:buNone/>
            </a:pPr>
            <a:r>
              <a:rPr b="0" i="0" lang="en-US" sz="975" u="none" cap="none" strike="noStrike">
                <a:solidFill>
                  <a:srgbClr val="8A94A6"/>
                </a:solidFill>
                <a:latin typeface="Courier New"/>
                <a:ea typeface="Courier New"/>
                <a:cs typeface="Courier New"/>
                <a:sym typeface="Courier New"/>
              </a:rPr>
              <a:t>TEAM 11_02 · NEAR-REAL-TIME FINANCIAL FORECASTING ON AWS · CCBDA-MIRI 2026</a:t>
            </a:r>
            <a:endParaRPr b="0" i="0" sz="975" u="none" cap="none" strike="noStrike">
              <a:solidFill>
                <a:schemeClr val="dk1"/>
              </a:solidFill>
              <a:latin typeface="Calibri"/>
              <a:ea typeface="Calibri"/>
              <a:cs typeface="Calibri"/>
              <a:sym typeface="Calibri"/>
            </a:endParaRPr>
          </a:p>
        </p:txBody>
      </p:sp>
      <p:sp>
        <p:nvSpPr>
          <p:cNvPr id="335" name="Google Shape;335;p10"/>
          <p:cNvSpPr/>
          <p:nvPr/>
        </p:nvSpPr>
        <p:spPr>
          <a:xfrm>
            <a:off x="16732002" y="9658350"/>
            <a:ext cx="717798" cy="2095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975"/>
              <a:buFont typeface="Courier New"/>
              <a:buNone/>
            </a:pPr>
            <a:r>
              <a:rPr b="0" i="0" lang="en-US" sz="975" u="none" cap="none" strike="noStrike">
                <a:solidFill>
                  <a:srgbClr val="8A94A6"/>
                </a:solidFill>
                <a:latin typeface="Courier New"/>
                <a:ea typeface="Courier New"/>
                <a:cs typeface="Courier New"/>
                <a:sym typeface="Courier New"/>
              </a:rPr>
              <a:t>1</a:t>
            </a:r>
            <a:r>
              <a:rPr lang="en-US" sz="975">
                <a:solidFill>
                  <a:srgbClr val="8A94A6"/>
                </a:solidFill>
                <a:latin typeface="Courier New"/>
                <a:ea typeface="Courier New"/>
                <a:cs typeface="Courier New"/>
                <a:sym typeface="Courier New"/>
              </a:rPr>
              <a:t>1</a:t>
            </a:r>
            <a:r>
              <a:rPr b="0" i="0" lang="en-US" sz="975" u="none" cap="none" strike="noStrike">
                <a:solidFill>
                  <a:srgbClr val="8A94A6"/>
                </a:solidFill>
                <a:latin typeface="Courier New"/>
                <a:ea typeface="Courier New"/>
                <a:cs typeface="Courier New"/>
                <a:sym typeface="Courier New"/>
              </a:rPr>
              <a:t> / 14</a:t>
            </a:r>
            <a:endParaRPr b="0" i="0" sz="975" u="none" cap="none" strike="noStrike">
              <a:solidFill>
                <a:schemeClr val="dk1"/>
              </a:solidFill>
              <a:latin typeface="Calibri"/>
              <a:ea typeface="Calibri"/>
              <a:cs typeface="Calibri"/>
              <a:sym typeface="Calibri"/>
            </a:endParaRPr>
          </a:p>
        </p:txBody>
      </p:sp>
      <p:sp>
        <p:nvSpPr>
          <p:cNvPr id="336" name="Google Shape;336;p10"/>
          <p:cNvSpPr txBox="1"/>
          <p:nvPr/>
        </p:nvSpPr>
        <p:spPr>
          <a:xfrm>
            <a:off x="409225" y="2384775"/>
            <a:ext cx="8339700" cy="1859100"/>
          </a:xfrm>
          <a:prstGeom prst="rect">
            <a:avLst/>
          </a:prstGeom>
          <a:noFill/>
          <a:ln>
            <a:noFill/>
          </a:ln>
        </p:spPr>
        <p:txBody>
          <a:bodyPr anchorCtr="0" anchor="t" bIns="91425" lIns="91425" spcFirstLastPara="1" rIns="91425" wrap="square" tIns="91425">
            <a:noAutofit/>
          </a:bodyPr>
          <a:lstStyle/>
          <a:p>
            <a:pPr indent="-349250" lvl="0" marL="457200" rtl="0" algn="l">
              <a:spcBef>
                <a:spcPts val="0"/>
              </a:spcBef>
              <a:spcAft>
                <a:spcPts val="0"/>
              </a:spcAft>
              <a:buSzPts val="1900"/>
              <a:buChar char="-"/>
            </a:pPr>
            <a:r>
              <a:rPr b="1" lang="en-US" sz="1900"/>
              <a:t>Organisation : </a:t>
            </a:r>
            <a:r>
              <a:rPr lang="en-US" sz="1900"/>
              <a:t>Chain AWS services (Lambda, Glue, Forecast)</a:t>
            </a:r>
            <a:endParaRPr sz="1900"/>
          </a:p>
          <a:p>
            <a:pPr indent="0" lvl="0" marL="457200" rtl="0" algn="l">
              <a:spcBef>
                <a:spcPts val="0"/>
              </a:spcBef>
              <a:spcAft>
                <a:spcPts val="0"/>
              </a:spcAft>
              <a:buNone/>
            </a:pPr>
            <a:r>
              <a:t/>
            </a:r>
            <a:endParaRPr sz="1900"/>
          </a:p>
          <a:p>
            <a:pPr indent="-349250" lvl="0" marL="457200" rtl="0" algn="l">
              <a:spcBef>
                <a:spcPts val="0"/>
              </a:spcBef>
              <a:spcAft>
                <a:spcPts val="0"/>
              </a:spcAft>
              <a:buSzPts val="1900"/>
              <a:buChar char="-"/>
            </a:pPr>
            <a:r>
              <a:rPr b="1" lang="en-US" sz="1900">
                <a:solidFill>
                  <a:srgbClr val="222C31"/>
                </a:solidFill>
                <a:highlight>
                  <a:srgbClr val="FFFFFF"/>
                </a:highlight>
                <a:latin typeface="Roboto"/>
                <a:ea typeface="Roboto"/>
                <a:cs typeface="Roboto"/>
                <a:sym typeface="Roboto"/>
              </a:rPr>
              <a:t>Resilience</a:t>
            </a:r>
            <a:r>
              <a:rPr b="1" lang="en-US" sz="1900">
                <a:solidFill>
                  <a:schemeClr val="dk1"/>
                </a:solidFill>
              </a:rPr>
              <a:t> : </a:t>
            </a:r>
            <a:r>
              <a:rPr lang="en-US" sz="1900">
                <a:solidFill>
                  <a:srgbClr val="222C31"/>
                </a:solidFill>
                <a:highlight>
                  <a:srgbClr val="FFFFFF"/>
                </a:highlight>
                <a:latin typeface="Roboto"/>
                <a:ea typeface="Roboto"/>
                <a:cs typeface="Roboto"/>
                <a:sym typeface="Roboto"/>
              </a:rPr>
              <a:t>error handling (Retry and Catch </a:t>
            </a:r>
            <a:r>
              <a:rPr lang="en-US" sz="1900">
                <a:solidFill>
                  <a:srgbClr val="222C31"/>
                </a:solidFill>
                <a:highlight>
                  <a:srgbClr val="FFFFFF"/>
                </a:highlight>
                <a:latin typeface="Roboto"/>
                <a:ea typeface="Roboto"/>
                <a:cs typeface="Roboto"/>
                <a:sym typeface="Roboto"/>
              </a:rPr>
              <a:t>mechanism</a:t>
            </a:r>
            <a:r>
              <a:rPr lang="en-US" sz="1900">
                <a:solidFill>
                  <a:srgbClr val="222C31"/>
                </a:solidFill>
                <a:highlight>
                  <a:srgbClr val="FFFFFF"/>
                </a:highlight>
                <a:latin typeface="Roboto"/>
                <a:ea typeface="Roboto"/>
                <a:cs typeface="Roboto"/>
                <a:sym typeface="Roboto"/>
              </a:rPr>
              <a:t>)</a:t>
            </a:r>
            <a:endParaRPr sz="1900">
              <a:solidFill>
                <a:srgbClr val="222C31"/>
              </a:solidFill>
              <a:highlight>
                <a:srgbClr val="FFFFFF"/>
              </a:highlight>
              <a:latin typeface="Roboto"/>
              <a:ea typeface="Roboto"/>
              <a:cs typeface="Roboto"/>
              <a:sym typeface="Roboto"/>
            </a:endParaRPr>
          </a:p>
          <a:p>
            <a:pPr indent="0" lvl="0" marL="457200" rtl="0" algn="l">
              <a:spcBef>
                <a:spcPts val="0"/>
              </a:spcBef>
              <a:spcAft>
                <a:spcPts val="0"/>
              </a:spcAft>
              <a:buNone/>
            </a:pPr>
            <a:r>
              <a:t/>
            </a:r>
            <a:endParaRPr sz="1900">
              <a:solidFill>
                <a:srgbClr val="222C31"/>
              </a:solidFill>
              <a:highlight>
                <a:srgbClr val="FFFFFF"/>
              </a:highlight>
              <a:latin typeface="Roboto"/>
              <a:ea typeface="Roboto"/>
              <a:cs typeface="Roboto"/>
              <a:sym typeface="Roboto"/>
            </a:endParaRPr>
          </a:p>
          <a:p>
            <a:pPr indent="-349250" lvl="0" marL="457200" rtl="0" algn="l">
              <a:spcBef>
                <a:spcPts val="0"/>
              </a:spcBef>
              <a:spcAft>
                <a:spcPts val="0"/>
              </a:spcAft>
              <a:buClr>
                <a:schemeClr val="dk1"/>
              </a:buClr>
              <a:buSzPts val="1900"/>
              <a:buChar char="-"/>
            </a:pPr>
            <a:r>
              <a:rPr b="1" lang="en-US" sz="1900">
                <a:solidFill>
                  <a:srgbClr val="222C31"/>
                </a:solidFill>
                <a:highlight>
                  <a:srgbClr val="FFFFFF"/>
                </a:highlight>
                <a:latin typeface="Roboto"/>
                <a:ea typeface="Roboto"/>
                <a:cs typeface="Roboto"/>
                <a:sym typeface="Roboto"/>
              </a:rPr>
              <a:t>Visibility</a:t>
            </a:r>
            <a:r>
              <a:rPr b="1" lang="en-US" sz="1900">
                <a:solidFill>
                  <a:schemeClr val="dk1"/>
                </a:solidFill>
              </a:rPr>
              <a:t> : </a:t>
            </a:r>
            <a:r>
              <a:rPr lang="en-US" sz="1900">
                <a:solidFill>
                  <a:schemeClr val="dk1"/>
                </a:solidFill>
              </a:rPr>
              <a:t>Track executions, identify problems (visual interface)</a:t>
            </a:r>
            <a:endParaRPr sz="1900">
              <a:solidFill>
                <a:schemeClr val="dk1"/>
              </a:solidFill>
            </a:endParaRPr>
          </a:p>
        </p:txBody>
      </p:sp>
      <p:sp>
        <p:nvSpPr>
          <p:cNvPr id="337" name="Google Shape;337;p10"/>
          <p:cNvSpPr txBox="1"/>
          <p:nvPr/>
        </p:nvSpPr>
        <p:spPr>
          <a:xfrm>
            <a:off x="9660675" y="2209450"/>
            <a:ext cx="7173900" cy="3029400"/>
          </a:xfrm>
          <a:prstGeom prst="rect">
            <a:avLst/>
          </a:prstGeom>
          <a:noFill/>
          <a:ln>
            <a:noFill/>
          </a:ln>
        </p:spPr>
        <p:txBody>
          <a:bodyPr anchorCtr="0" anchor="t" bIns="91425" lIns="91425" spcFirstLastPara="1" rIns="91425" wrap="square" tIns="91425">
            <a:noAutofit/>
          </a:bodyPr>
          <a:lstStyle/>
          <a:p>
            <a:pPr indent="0" lvl="0" marL="457200" rtl="0" algn="l">
              <a:spcBef>
                <a:spcPts val="0"/>
              </a:spcBef>
              <a:spcAft>
                <a:spcPts val="0"/>
              </a:spcAft>
              <a:buNone/>
            </a:pPr>
            <a:r>
              <a:rPr b="1" lang="en-US" sz="1900"/>
              <a:t>Steps :</a:t>
            </a:r>
            <a:endParaRPr b="1" sz="1900"/>
          </a:p>
          <a:p>
            <a:pPr indent="0" lvl="0" marL="0" rtl="0" algn="l">
              <a:spcBef>
                <a:spcPts val="0"/>
              </a:spcBef>
              <a:spcAft>
                <a:spcPts val="0"/>
              </a:spcAft>
              <a:buNone/>
            </a:pPr>
            <a:r>
              <a:t/>
            </a:r>
            <a:endParaRPr b="1" sz="1900"/>
          </a:p>
          <a:p>
            <a:pPr indent="-349250" lvl="0" marL="457200" rtl="0" algn="l">
              <a:spcBef>
                <a:spcPts val="0"/>
              </a:spcBef>
              <a:spcAft>
                <a:spcPts val="0"/>
              </a:spcAft>
              <a:buSzPts val="1900"/>
              <a:buAutoNum type="arabicPeriod"/>
            </a:pPr>
            <a:r>
              <a:rPr b="1" lang="en-US" sz="1900"/>
              <a:t>Design : </a:t>
            </a:r>
            <a:r>
              <a:rPr lang="en-US" sz="1900"/>
              <a:t>Define logical steps of the pipeline</a:t>
            </a:r>
            <a:endParaRPr sz="1900"/>
          </a:p>
          <a:p>
            <a:pPr indent="0" lvl="0" marL="457200" rtl="0" algn="l">
              <a:spcBef>
                <a:spcPts val="0"/>
              </a:spcBef>
              <a:spcAft>
                <a:spcPts val="0"/>
              </a:spcAft>
              <a:buNone/>
            </a:pPr>
            <a:r>
              <a:t/>
            </a:r>
            <a:endParaRPr sz="1900"/>
          </a:p>
          <a:p>
            <a:pPr indent="-349250" lvl="0" marL="457200" rtl="0" algn="l">
              <a:spcBef>
                <a:spcPts val="0"/>
              </a:spcBef>
              <a:spcAft>
                <a:spcPts val="0"/>
              </a:spcAft>
              <a:buSzPts val="1900"/>
              <a:buAutoNum type="arabicPeriod"/>
            </a:pPr>
            <a:r>
              <a:rPr b="1" lang="en-US" sz="1900"/>
              <a:t>Connect : </a:t>
            </a:r>
            <a:r>
              <a:rPr lang="en-US" sz="1900"/>
              <a:t>Link all AWS services</a:t>
            </a:r>
            <a:endParaRPr sz="1900"/>
          </a:p>
          <a:p>
            <a:pPr indent="0" lvl="0" marL="457200" rtl="0" algn="l">
              <a:spcBef>
                <a:spcPts val="0"/>
              </a:spcBef>
              <a:spcAft>
                <a:spcPts val="0"/>
              </a:spcAft>
              <a:buNone/>
            </a:pPr>
            <a:r>
              <a:t/>
            </a:r>
            <a:endParaRPr sz="1900"/>
          </a:p>
          <a:p>
            <a:pPr indent="-349250" lvl="0" marL="457200" rtl="0" algn="l">
              <a:spcBef>
                <a:spcPts val="0"/>
              </a:spcBef>
              <a:spcAft>
                <a:spcPts val="0"/>
              </a:spcAft>
              <a:buSzPts val="1900"/>
              <a:buAutoNum type="arabicPeriod"/>
            </a:pPr>
            <a:r>
              <a:rPr b="1" lang="en-US" sz="1900"/>
              <a:t>Logic : </a:t>
            </a:r>
            <a:r>
              <a:rPr lang="en-US" sz="1900"/>
              <a:t>Manage conditional branching and errors</a:t>
            </a:r>
            <a:endParaRPr sz="1900"/>
          </a:p>
          <a:p>
            <a:pPr indent="0" lvl="0" marL="457200" rtl="0" algn="l">
              <a:spcBef>
                <a:spcPts val="0"/>
              </a:spcBef>
              <a:spcAft>
                <a:spcPts val="0"/>
              </a:spcAft>
              <a:buNone/>
            </a:pPr>
            <a:r>
              <a:t/>
            </a:r>
            <a:endParaRPr sz="1900"/>
          </a:p>
          <a:p>
            <a:pPr indent="-349250" lvl="0" marL="457200" rtl="0" algn="l">
              <a:spcBef>
                <a:spcPts val="0"/>
              </a:spcBef>
              <a:spcAft>
                <a:spcPts val="0"/>
              </a:spcAft>
              <a:buSzPts val="1900"/>
              <a:buAutoNum type="arabicPeriod"/>
            </a:pPr>
            <a:r>
              <a:rPr b="1" lang="en-US" sz="1900">
                <a:solidFill>
                  <a:srgbClr val="222C31"/>
                </a:solidFill>
                <a:highlight>
                  <a:srgbClr val="FFFFFF"/>
                </a:highlight>
                <a:latin typeface="Roboto"/>
                <a:ea typeface="Roboto"/>
                <a:cs typeface="Roboto"/>
                <a:sym typeface="Roboto"/>
              </a:rPr>
              <a:t>Deployment : </a:t>
            </a:r>
            <a:r>
              <a:rPr lang="en-US" sz="1900">
                <a:solidFill>
                  <a:srgbClr val="222C31"/>
                </a:solidFill>
                <a:highlight>
                  <a:srgbClr val="FFFFFF"/>
                </a:highlight>
                <a:latin typeface="Roboto"/>
                <a:ea typeface="Roboto"/>
                <a:cs typeface="Roboto"/>
                <a:sym typeface="Roboto"/>
              </a:rPr>
              <a:t>Launch and monitor the process in real time</a:t>
            </a:r>
            <a:endParaRPr sz="1900"/>
          </a:p>
        </p:txBody>
      </p:sp>
      <p:pic>
        <p:nvPicPr>
          <p:cNvPr id="338" name="Google Shape;338;p10"/>
          <p:cNvPicPr preferRelativeResize="0"/>
          <p:nvPr/>
        </p:nvPicPr>
        <p:blipFill>
          <a:blip r:embed="rId3">
            <a:alphaModFix/>
          </a:blip>
          <a:stretch>
            <a:fillRect/>
          </a:stretch>
        </p:blipFill>
        <p:spPr>
          <a:xfrm>
            <a:off x="3089113" y="4338175"/>
            <a:ext cx="5075434" cy="4947750"/>
          </a:xfrm>
          <a:prstGeom prst="rect">
            <a:avLst/>
          </a:prstGeom>
          <a:noFill/>
          <a:ln>
            <a:noFill/>
          </a:ln>
        </p:spPr>
      </p:pic>
      <p:sp>
        <p:nvSpPr>
          <p:cNvPr id="339" name="Google Shape;339;p10"/>
          <p:cNvSpPr/>
          <p:nvPr/>
        </p:nvSpPr>
        <p:spPr>
          <a:xfrm>
            <a:off x="9532563" y="6847762"/>
            <a:ext cx="7430100" cy="384600"/>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1F2A37"/>
              </a:buClr>
              <a:buSzPts val="1950"/>
              <a:buFont typeface="Helvetica Neue"/>
              <a:buNone/>
            </a:pPr>
            <a:r>
              <a:rPr b="1" lang="en-US" sz="1950">
                <a:solidFill>
                  <a:srgbClr val="1F2A37"/>
                </a:solidFill>
                <a:latin typeface="Helvetica Neue"/>
                <a:ea typeface="Helvetica Neue"/>
                <a:cs typeface="Helvetica Neue"/>
                <a:sym typeface="Helvetica Neue"/>
              </a:rPr>
              <a:t>Really </a:t>
            </a:r>
            <a:r>
              <a:rPr b="1" lang="en-US" sz="1950">
                <a:solidFill>
                  <a:srgbClr val="1F2A37"/>
                </a:solidFill>
                <a:latin typeface="Helvetica Neue"/>
                <a:ea typeface="Helvetica Neue"/>
                <a:cs typeface="Helvetica Neue"/>
                <a:sym typeface="Helvetica Neue"/>
              </a:rPr>
              <a:t>useful</a:t>
            </a:r>
            <a:r>
              <a:rPr b="1" lang="en-US" sz="1950">
                <a:solidFill>
                  <a:srgbClr val="1F2A37"/>
                </a:solidFill>
                <a:latin typeface="Helvetica Neue"/>
                <a:ea typeface="Helvetica Neue"/>
                <a:cs typeface="Helvetica Neue"/>
                <a:sym typeface="Helvetica Neue"/>
              </a:rPr>
              <a:t> to deal with cross accounts !</a:t>
            </a:r>
            <a:endParaRPr b="0" i="0" sz="1950" u="none" cap="none" strike="noStrike">
              <a:solidFill>
                <a:schemeClr val="dk1"/>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2"/>
        </a:solidFill>
      </p:bgPr>
    </p:bg>
    <p:spTree>
      <p:nvGrpSpPr>
        <p:cNvPr id="344" name="Shape 344"/>
        <p:cNvGrpSpPr/>
        <p:nvPr/>
      </p:nvGrpSpPr>
      <p:grpSpPr>
        <a:xfrm>
          <a:off x="0" y="0"/>
          <a:ext cx="0" cy="0"/>
          <a:chOff x="0" y="0"/>
          <a:chExt cx="0" cy="0"/>
        </a:xfrm>
      </p:grpSpPr>
      <p:sp>
        <p:nvSpPr>
          <p:cNvPr id="345" name="Google Shape;345;p11"/>
          <p:cNvSpPr/>
          <p:nvPr/>
        </p:nvSpPr>
        <p:spPr>
          <a:xfrm>
            <a:off x="914400" y="647700"/>
            <a:ext cx="2272010" cy="2571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F2A37"/>
              </a:buClr>
              <a:buSzPts val="1500"/>
              <a:buFont typeface="Helvetica Neue"/>
              <a:buNone/>
            </a:pPr>
            <a:r>
              <a:rPr b="1" i="0" lang="en-US" sz="1500" u="none" cap="none" strike="noStrike">
                <a:solidFill>
                  <a:srgbClr val="1F2A37"/>
                </a:solidFill>
                <a:latin typeface="Helvetica Neue"/>
                <a:ea typeface="Helvetica Neue"/>
                <a:cs typeface="Helvetica Neue"/>
                <a:sym typeface="Helvetica Neue"/>
              </a:rPr>
              <a:t>11 · </a:t>
            </a:r>
            <a:r>
              <a:rPr b="1" lang="en-US" sz="1500">
                <a:solidFill>
                  <a:srgbClr val="1F2A37"/>
                </a:solidFill>
                <a:latin typeface="Helvetica Neue"/>
                <a:ea typeface="Helvetica Neue"/>
                <a:cs typeface="Helvetica Neue"/>
                <a:sym typeface="Helvetica Neue"/>
              </a:rPr>
              <a:t>SHOWING RESULTS</a:t>
            </a:r>
            <a:endParaRPr b="0" i="0" sz="1500" u="none" cap="none" strike="noStrike">
              <a:solidFill>
                <a:schemeClr val="dk1"/>
              </a:solidFill>
              <a:latin typeface="Calibri"/>
              <a:ea typeface="Calibri"/>
              <a:cs typeface="Calibri"/>
              <a:sym typeface="Calibri"/>
            </a:endParaRPr>
          </a:p>
        </p:txBody>
      </p:sp>
      <p:sp>
        <p:nvSpPr>
          <p:cNvPr id="346" name="Google Shape;346;p11"/>
          <p:cNvSpPr/>
          <p:nvPr/>
        </p:nvSpPr>
        <p:spPr>
          <a:xfrm>
            <a:off x="14995773" y="647700"/>
            <a:ext cx="2454027" cy="2381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1200"/>
              <a:buFont typeface="Courier New"/>
              <a:buNone/>
            </a:pPr>
            <a:r>
              <a:rPr b="0" i="0" lang="en-US" sz="1200" u="none" cap="none" strike="noStrike">
                <a:solidFill>
                  <a:srgbClr val="8A94A6"/>
                </a:solidFill>
                <a:latin typeface="Courier New"/>
                <a:ea typeface="Courier New"/>
                <a:cs typeface="Courier New"/>
                <a:sym typeface="Courier New"/>
              </a:rPr>
              <a:t>SPEAKER · </a:t>
            </a:r>
            <a:r>
              <a:rPr b="1" i="0" lang="en-US" sz="1200" u="none" cap="none" strike="noStrike">
                <a:solidFill>
                  <a:srgbClr val="1F2A37"/>
                </a:solidFill>
                <a:latin typeface="Courier New"/>
                <a:ea typeface="Courier New"/>
                <a:cs typeface="Courier New"/>
                <a:sym typeface="Courier New"/>
              </a:rPr>
              <a:t>FRANCESCO</a:t>
            </a:r>
            <a:endParaRPr b="0" i="0" sz="1200" u="none" cap="none" strike="noStrike">
              <a:solidFill>
                <a:schemeClr val="dk1"/>
              </a:solidFill>
              <a:latin typeface="Calibri"/>
              <a:ea typeface="Calibri"/>
              <a:cs typeface="Calibri"/>
              <a:sym typeface="Calibri"/>
            </a:endParaRPr>
          </a:p>
        </p:txBody>
      </p:sp>
      <p:sp>
        <p:nvSpPr>
          <p:cNvPr id="347" name="Google Shape;347;p11"/>
          <p:cNvSpPr/>
          <p:nvPr/>
        </p:nvSpPr>
        <p:spPr>
          <a:xfrm>
            <a:off x="914400" y="1143000"/>
            <a:ext cx="16952976" cy="592782"/>
          </a:xfrm>
          <a:prstGeom prst="rect">
            <a:avLst/>
          </a:prstGeom>
          <a:noFill/>
          <a:ln>
            <a:noFill/>
          </a:ln>
        </p:spPr>
        <p:txBody>
          <a:bodyPr anchorCtr="0" anchor="t" bIns="25400" lIns="25400" spcFirstLastPara="1" rIns="25400" wrap="square" tIns="25400">
            <a:normAutofit/>
          </a:bodyPr>
          <a:lstStyle/>
          <a:p>
            <a:pPr indent="0" lvl="0" marL="0" marR="0" rtl="0" algn="l">
              <a:lnSpc>
                <a:spcPct val="104000"/>
              </a:lnSpc>
              <a:spcBef>
                <a:spcPts val="0"/>
              </a:spcBef>
              <a:spcAft>
                <a:spcPts val="0"/>
              </a:spcAft>
              <a:buClr>
                <a:srgbClr val="1F2A37"/>
              </a:buClr>
              <a:buSzPts val="4200"/>
              <a:buFont typeface="Helvetica Neue"/>
              <a:buNone/>
            </a:pPr>
            <a:r>
              <a:rPr b="1" i="0" lang="en-US" sz="4200" u="none" cap="none" strike="noStrike">
                <a:solidFill>
                  <a:srgbClr val="1F2A37"/>
                </a:solidFill>
                <a:latin typeface="Helvetica Neue"/>
                <a:ea typeface="Helvetica Neue"/>
                <a:cs typeface="Helvetica Neue"/>
                <a:sym typeface="Helvetica Neue"/>
              </a:rPr>
              <a:t>Athena</a:t>
            </a:r>
            <a:r>
              <a:rPr b="1" lang="en-US" sz="4200">
                <a:solidFill>
                  <a:srgbClr val="1F2A37"/>
                </a:solidFill>
                <a:latin typeface="Helvetica Neue"/>
                <a:ea typeface="Helvetica Neue"/>
                <a:cs typeface="Helvetica Neue"/>
                <a:sym typeface="Helvetica Neue"/>
              </a:rPr>
              <a:t> </a:t>
            </a:r>
            <a:r>
              <a:rPr b="1" i="0" lang="en-US" sz="4200" u="none" cap="none" strike="noStrike">
                <a:solidFill>
                  <a:srgbClr val="1F2A37"/>
                </a:solidFill>
                <a:latin typeface="Helvetica Neue"/>
                <a:ea typeface="Helvetica Neue"/>
                <a:cs typeface="Helvetica Neue"/>
                <a:sym typeface="Helvetica Neue"/>
              </a:rPr>
              <a:t>→ QuickSight </a:t>
            </a:r>
            <a:r>
              <a:rPr b="1" lang="en-US" sz="4200">
                <a:solidFill>
                  <a:srgbClr val="1F2A37"/>
                </a:solidFill>
                <a:latin typeface="Helvetica Neue"/>
                <a:ea typeface="Helvetica Neue"/>
                <a:cs typeface="Helvetica Neue"/>
                <a:sym typeface="Helvetica Neue"/>
              </a:rPr>
              <a:t>:</a:t>
            </a:r>
            <a:r>
              <a:rPr b="1" i="0" lang="en-US" sz="4200" u="none" cap="none" strike="noStrike">
                <a:solidFill>
                  <a:srgbClr val="1F2A37"/>
                </a:solidFill>
                <a:latin typeface="Helvetica Neue"/>
                <a:ea typeface="Helvetica Neue"/>
                <a:cs typeface="Helvetica Neue"/>
                <a:sym typeface="Helvetica Neue"/>
              </a:rPr>
              <a:t> </a:t>
            </a:r>
            <a:r>
              <a:rPr b="1" lang="en-US" sz="4200">
                <a:solidFill>
                  <a:srgbClr val="1F2A37"/>
                </a:solidFill>
                <a:latin typeface="Helvetica Neue"/>
                <a:ea typeface="Helvetica Neue"/>
                <a:cs typeface="Helvetica Neue"/>
                <a:sym typeface="Helvetica Neue"/>
              </a:rPr>
              <a:t>one</a:t>
            </a:r>
            <a:r>
              <a:rPr b="1" i="0" lang="en-US" sz="4200" u="none" cap="none" strike="noStrike">
                <a:solidFill>
                  <a:srgbClr val="1F2A37"/>
                </a:solidFill>
                <a:latin typeface="Helvetica Neue"/>
                <a:ea typeface="Helvetica Neue"/>
                <a:cs typeface="Helvetica Neue"/>
                <a:sym typeface="Helvetica Neue"/>
              </a:rPr>
              <a:t> sheet</a:t>
            </a:r>
            <a:r>
              <a:rPr b="1" lang="en-US" sz="4200">
                <a:solidFill>
                  <a:srgbClr val="1F2A37"/>
                </a:solidFill>
                <a:latin typeface="Helvetica Neue"/>
                <a:ea typeface="Helvetica Neue"/>
                <a:cs typeface="Helvetica Neue"/>
                <a:sym typeface="Helvetica Neue"/>
              </a:rPr>
              <a:t> per horizon</a:t>
            </a:r>
            <a:endParaRPr b="0" i="0" sz="4200" u="none" cap="none" strike="noStrike">
              <a:solidFill>
                <a:schemeClr val="dk1"/>
              </a:solidFill>
              <a:latin typeface="Calibri"/>
              <a:ea typeface="Calibri"/>
              <a:cs typeface="Calibri"/>
              <a:sym typeface="Calibri"/>
            </a:endParaRPr>
          </a:p>
        </p:txBody>
      </p:sp>
      <p:sp>
        <p:nvSpPr>
          <p:cNvPr id="348" name="Google Shape;348;p11"/>
          <p:cNvSpPr/>
          <p:nvPr/>
        </p:nvSpPr>
        <p:spPr>
          <a:xfrm>
            <a:off x="914388" y="1992950"/>
            <a:ext cx="7430100" cy="384600"/>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1F2A37"/>
              </a:buClr>
              <a:buSzPts val="1950"/>
              <a:buFont typeface="Helvetica Neue"/>
              <a:buNone/>
            </a:pPr>
            <a:r>
              <a:rPr b="1" lang="en-US" sz="1950">
                <a:solidFill>
                  <a:srgbClr val="1F2A37"/>
                </a:solidFill>
                <a:latin typeface="Helvetica Neue"/>
                <a:ea typeface="Helvetica Neue"/>
                <a:cs typeface="Helvetica Neue"/>
                <a:sym typeface="Helvetica Neue"/>
              </a:rPr>
              <a:t>S3: </a:t>
            </a:r>
            <a:r>
              <a:rPr lang="en-US" sz="1950">
                <a:solidFill>
                  <a:srgbClr val="1F2A37"/>
                </a:solidFill>
                <a:latin typeface="Helvetica Neue"/>
                <a:ea typeface="Helvetica Neue"/>
                <a:cs typeface="Helvetica Neue"/>
                <a:sym typeface="Helvetica Neue"/>
              </a:rPr>
              <a:t>stores actual, sentiment and predictions’ values</a:t>
            </a:r>
            <a:endParaRPr b="0" i="0" sz="1950" u="none" cap="none" strike="noStrike">
              <a:solidFill>
                <a:schemeClr val="dk1"/>
              </a:solidFill>
              <a:latin typeface="Calibri"/>
              <a:ea typeface="Calibri"/>
              <a:cs typeface="Calibri"/>
              <a:sym typeface="Calibri"/>
            </a:endParaRPr>
          </a:p>
        </p:txBody>
      </p:sp>
      <p:sp>
        <p:nvSpPr>
          <p:cNvPr id="349" name="Google Shape;349;p11"/>
          <p:cNvSpPr/>
          <p:nvPr/>
        </p:nvSpPr>
        <p:spPr>
          <a:xfrm>
            <a:off x="914400" y="2471471"/>
            <a:ext cx="7430100" cy="384600"/>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1F2A37"/>
              </a:buClr>
              <a:buSzPts val="1950"/>
              <a:buFont typeface="Helvetica Neue"/>
              <a:buNone/>
            </a:pPr>
            <a:r>
              <a:rPr b="1" lang="en-US" sz="1950">
                <a:solidFill>
                  <a:srgbClr val="1F2A37"/>
                </a:solidFill>
                <a:latin typeface="Helvetica Neue"/>
                <a:ea typeface="Helvetica Neue"/>
                <a:cs typeface="Helvetica Neue"/>
                <a:sym typeface="Helvetica Neue"/>
              </a:rPr>
              <a:t>Athena: </a:t>
            </a:r>
            <a:r>
              <a:rPr lang="en-US" sz="1950">
                <a:solidFill>
                  <a:srgbClr val="1F2A37"/>
                </a:solidFill>
                <a:latin typeface="Helvetica Neue"/>
                <a:ea typeface="Helvetica Neue"/>
                <a:cs typeface="Helvetica Neue"/>
                <a:sym typeface="Helvetica Neue"/>
              </a:rPr>
              <a:t>executes SQL queries on unified views</a:t>
            </a:r>
            <a:endParaRPr b="0" i="0" sz="1950" u="none" cap="none" strike="noStrike">
              <a:solidFill>
                <a:schemeClr val="dk1"/>
              </a:solidFill>
              <a:latin typeface="Calibri"/>
              <a:ea typeface="Calibri"/>
              <a:cs typeface="Calibri"/>
              <a:sym typeface="Calibri"/>
            </a:endParaRPr>
          </a:p>
        </p:txBody>
      </p:sp>
      <p:sp>
        <p:nvSpPr>
          <p:cNvPr id="350" name="Google Shape;350;p11"/>
          <p:cNvSpPr/>
          <p:nvPr/>
        </p:nvSpPr>
        <p:spPr>
          <a:xfrm>
            <a:off x="9854950" y="1992958"/>
            <a:ext cx="7430100" cy="384600"/>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3A4A5A"/>
              </a:buClr>
              <a:buSzPts val="1950"/>
              <a:buFont typeface="Helvetica Neue"/>
              <a:buNone/>
            </a:pPr>
            <a:r>
              <a:rPr b="0" i="0" lang="en-US" sz="1950" u="none" cap="none" strike="noStrike">
                <a:solidFill>
                  <a:srgbClr val="3A4A5A"/>
                </a:solidFill>
                <a:latin typeface="Helvetica Neue"/>
                <a:ea typeface="Helvetica Neue"/>
                <a:cs typeface="Helvetica Neue"/>
                <a:sym typeface="Helvetica Neue"/>
              </a:rPr>
              <a:t>Sheet 1 · </a:t>
            </a:r>
            <a:r>
              <a:rPr b="1" i="0" lang="en-US" sz="1950" u="none" cap="none" strike="noStrike">
                <a:solidFill>
                  <a:srgbClr val="1F2A37"/>
                </a:solidFill>
                <a:latin typeface="Helvetica Neue"/>
                <a:ea typeface="Helvetica Neue"/>
                <a:cs typeface="Helvetica Neue"/>
                <a:sym typeface="Helvetica Neue"/>
              </a:rPr>
              <a:t>Hourly </a:t>
            </a:r>
            <a:r>
              <a:rPr b="0" i="0" lang="en-US" sz="1950" u="none" cap="none" strike="noStrike">
                <a:solidFill>
                  <a:srgbClr val="3A4A5A"/>
                </a:solidFill>
                <a:latin typeface="Helvetica Neue"/>
                <a:ea typeface="Helvetica Neue"/>
                <a:cs typeface="Helvetica Neue"/>
                <a:sym typeface="Helvetica Neue"/>
              </a:rPr>
              <a:t>·</a:t>
            </a:r>
            <a:r>
              <a:rPr lang="en-US" sz="1950">
                <a:solidFill>
                  <a:srgbClr val="3A4A5A"/>
                </a:solidFill>
                <a:latin typeface="Helvetica Neue"/>
                <a:ea typeface="Helvetica Neue"/>
                <a:cs typeface="Helvetica Neue"/>
                <a:sym typeface="Helvetica Neue"/>
              </a:rPr>
              <a:t> </a:t>
            </a:r>
            <a:r>
              <a:rPr lang="en-US" sz="1950">
                <a:solidFill>
                  <a:srgbClr val="3A4A5A"/>
                </a:solidFill>
                <a:latin typeface="Helvetica Neue"/>
                <a:ea typeface="Helvetica Neue"/>
                <a:cs typeface="Helvetica Neue"/>
                <a:sym typeface="Helvetica Neue"/>
              </a:rPr>
              <a:t>1-hour-ahead forecasts</a:t>
            </a:r>
            <a:r>
              <a:rPr lang="en-US" sz="1950">
                <a:solidFill>
                  <a:srgbClr val="3A4A5A"/>
                </a:solidFill>
                <a:latin typeface="Helvetica Neue"/>
                <a:ea typeface="Helvetica Neue"/>
                <a:cs typeface="Helvetica Neue"/>
                <a:sym typeface="Helvetica Neue"/>
              </a:rPr>
              <a:t>		 		</a:t>
            </a:r>
            <a:endParaRPr sz="1950">
              <a:solidFill>
                <a:srgbClr val="3A4A5A"/>
              </a:solidFill>
              <a:latin typeface="Helvetica Neue"/>
              <a:ea typeface="Helvetica Neue"/>
              <a:cs typeface="Helvetica Neue"/>
              <a:sym typeface="Helvetica Neue"/>
            </a:endParaRPr>
          </a:p>
          <a:p>
            <a:pPr indent="0" lvl="0" marL="0" rtl="0" algn="l">
              <a:lnSpc>
                <a:spcPct val="140000"/>
              </a:lnSpc>
              <a:spcBef>
                <a:spcPts val="0"/>
              </a:spcBef>
              <a:spcAft>
                <a:spcPts val="0"/>
              </a:spcAft>
              <a:buClr>
                <a:schemeClr val="dk1"/>
              </a:buClr>
              <a:buSzPts val="1100"/>
              <a:buFont typeface="Arial"/>
              <a:buNone/>
            </a:pPr>
            <a:r>
              <a:rPr lang="en-US" sz="1950">
                <a:solidFill>
                  <a:srgbClr val="3A4A5A"/>
                </a:solidFill>
                <a:latin typeface="Helvetica Neue"/>
                <a:ea typeface="Helvetica Neue"/>
                <a:cs typeface="Helvetica Neue"/>
                <a:sym typeface="Helvetica Neue"/>
              </a:rPr>
              <a:t>	 	 		</a:t>
            </a:r>
            <a:endParaRPr sz="1950">
              <a:solidFill>
                <a:srgbClr val="3A4A5A"/>
              </a:solidFill>
              <a:latin typeface="Helvetica Neue"/>
              <a:ea typeface="Helvetica Neue"/>
              <a:cs typeface="Helvetica Neue"/>
              <a:sym typeface="Helvetica Neue"/>
            </a:endParaRPr>
          </a:p>
          <a:p>
            <a:pPr indent="0" lvl="0" marL="0" rtl="0" algn="l">
              <a:lnSpc>
                <a:spcPct val="140000"/>
              </a:lnSpc>
              <a:spcBef>
                <a:spcPts val="0"/>
              </a:spcBef>
              <a:spcAft>
                <a:spcPts val="0"/>
              </a:spcAft>
              <a:buClr>
                <a:schemeClr val="dk1"/>
              </a:buClr>
              <a:buSzPts val="1100"/>
              <a:buFont typeface="Arial"/>
              <a:buNone/>
            </a:pPr>
            <a:r>
              <a:rPr lang="en-US" sz="1950">
                <a:solidFill>
                  <a:srgbClr val="3A4A5A"/>
                </a:solidFill>
                <a:latin typeface="Helvetica Neue"/>
                <a:ea typeface="Helvetica Neue"/>
                <a:cs typeface="Helvetica Neue"/>
                <a:sym typeface="Helvetica Neue"/>
              </a:rPr>
              <a:t>			</a:t>
            </a:r>
            <a:endParaRPr sz="1950">
              <a:solidFill>
                <a:srgbClr val="3A4A5A"/>
              </a:solidFill>
              <a:latin typeface="Helvetica Neue"/>
              <a:ea typeface="Helvetica Neue"/>
              <a:cs typeface="Helvetica Neue"/>
              <a:sym typeface="Helvetica Neue"/>
            </a:endParaRPr>
          </a:p>
          <a:p>
            <a:pPr indent="0" lvl="0" marL="0" rtl="0" algn="l">
              <a:lnSpc>
                <a:spcPct val="140000"/>
              </a:lnSpc>
              <a:spcBef>
                <a:spcPts val="0"/>
              </a:spcBef>
              <a:spcAft>
                <a:spcPts val="0"/>
              </a:spcAft>
              <a:buClr>
                <a:schemeClr val="dk1"/>
              </a:buClr>
              <a:buSzPts val="1100"/>
              <a:buFont typeface="Arial"/>
              <a:buNone/>
            </a:pPr>
            <a:r>
              <a:rPr lang="en-US" sz="1950">
                <a:solidFill>
                  <a:srgbClr val="3A4A5A"/>
                </a:solidFill>
                <a:latin typeface="Helvetica Neue"/>
                <a:ea typeface="Helvetica Neue"/>
                <a:cs typeface="Helvetica Neue"/>
                <a:sym typeface="Helvetica Neue"/>
              </a:rPr>
              <a:t>				</a:t>
            </a:r>
            <a:endParaRPr sz="1950">
              <a:solidFill>
                <a:srgbClr val="3A4A5A"/>
              </a:solidFill>
              <a:latin typeface="Helvetica Neue"/>
              <a:ea typeface="Helvetica Neue"/>
              <a:cs typeface="Helvetica Neue"/>
              <a:sym typeface="Helvetica Neue"/>
            </a:endParaRPr>
          </a:p>
          <a:p>
            <a:pPr indent="0" lvl="0" marL="0" rtl="0" algn="l">
              <a:lnSpc>
                <a:spcPct val="140000"/>
              </a:lnSpc>
              <a:spcBef>
                <a:spcPts val="0"/>
              </a:spcBef>
              <a:spcAft>
                <a:spcPts val="0"/>
              </a:spcAft>
              <a:buClr>
                <a:schemeClr val="dk1"/>
              </a:buClr>
              <a:buSzPts val="1100"/>
              <a:buFont typeface="Arial"/>
              <a:buNone/>
            </a:pPr>
            <a:r>
              <a:rPr lang="en-US" sz="1950">
                <a:solidFill>
                  <a:srgbClr val="3A4A5A"/>
                </a:solidFill>
                <a:latin typeface="Helvetica Neue"/>
                <a:ea typeface="Helvetica Neue"/>
                <a:cs typeface="Helvetica Neue"/>
                <a:sym typeface="Helvetica Neue"/>
              </a:rPr>
              <a:t>					</a:t>
            </a:r>
            <a:endParaRPr sz="1950">
              <a:solidFill>
                <a:srgbClr val="3A4A5A"/>
              </a:solidFill>
              <a:latin typeface="Helvetica Neue"/>
              <a:ea typeface="Helvetica Neue"/>
              <a:cs typeface="Helvetica Neue"/>
              <a:sym typeface="Helvetica Neue"/>
            </a:endParaRPr>
          </a:p>
          <a:p>
            <a:pPr indent="0" lvl="0" marL="0" rtl="0" algn="l">
              <a:lnSpc>
                <a:spcPct val="115000"/>
              </a:lnSpc>
              <a:spcBef>
                <a:spcPts val="1200"/>
              </a:spcBef>
              <a:spcAft>
                <a:spcPts val="0"/>
              </a:spcAft>
              <a:buClr>
                <a:schemeClr val="dk1"/>
              </a:buClr>
              <a:buSzPts val="1100"/>
              <a:buFont typeface="Arial"/>
              <a:buNone/>
            </a:pPr>
            <a:r>
              <a:t/>
            </a:r>
            <a:endParaRPr sz="1950">
              <a:solidFill>
                <a:srgbClr val="3A4A5A"/>
              </a:solidFill>
              <a:latin typeface="Helvetica Neue"/>
              <a:ea typeface="Helvetica Neue"/>
              <a:cs typeface="Helvetica Neue"/>
              <a:sym typeface="Helvetica Neue"/>
            </a:endParaRPr>
          </a:p>
          <a:p>
            <a:pPr indent="0" lvl="0" marL="0" rtl="0" algn="l">
              <a:lnSpc>
                <a:spcPct val="115000"/>
              </a:lnSpc>
              <a:spcBef>
                <a:spcPts val="1200"/>
              </a:spcBef>
              <a:spcAft>
                <a:spcPts val="0"/>
              </a:spcAft>
              <a:buClr>
                <a:schemeClr val="dk1"/>
              </a:buClr>
              <a:buSzPts val="1100"/>
              <a:buFont typeface="Arial"/>
              <a:buNone/>
            </a:pPr>
            <a:r>
              <a:rPr lang="en-US" sz="1950">
                <a:solidFill>
                  <a:srgbClr val="3A4A5A"/>
                </a:solidFill>
                <a:latin typeface="Helvetica Neue"/>
                <a:ea typeface="Helvetica Neue"/>
                <a:cs typeface="Helvetica Neue"/>
                <a:sym typeface="Helvetica Neue"/>
              </a:rPr>
              <a:t>				</a:t>
            </a:r>
            <a:endParaRPr sz="1950">
              <a:solidFill>
                <a:srgbClr val="3A4A5A"/>
              </a:solidFill>
              <a:latin typeface="Helvetica Neue"/>
              <a:ea typeface="Helvetica Neue"/>
              <a:cs typeface="Helvetica Neue"/>
              <a:sym typeface="Helvetica Neue"/>
            </a:endParaRPr>
          </a:p>
          <a:p>
            <a:pPr indent="0" lvl="0" marL="0" rtl="0" algn="l">
              <a:lnSpc>
                <a:spcPct val="140000"/>
              </a:lnSpc>
              <a:spcBef>
                <a:spcPts val="0"/>
              </a:spcBef>
              <a:spcAft>
                <a:spcPts val="0"/>
              </a:spcAft>
              <a:buClr>
                <a:schemeClr val="dk1"/>
              </a:buClr>
              <a:buSzPts val="1100"/>
              <a:buFont typeface="Arial"/>
              <a:buNone/>
            </a:pPr>
            <a:r>
              <a:rPr lang="en-US" sz="1950">
                <a:solidFill>
                  <a:srgbClr val="3A4A5A"/>
                </a:solidFill>
                <a:latin typeface="Helvetica Neue"/>
                <a:ea typeface="Helvetica Neue"/>
                <a:cs typeface="Helvetica Neue"/>
                <a:sym typeface="Helvetica Neue"/>
              </a:rPr>
              <a:t>			</a:t>
            </a:r>
            <a:endParaRPr sz="1950">
              <a:solidFill>
                <a:srgbClr val="3A4A5A"/>
              </a:solidFill>
              <a:latin typeface="Helvetica Neue"/>
              <a:ea typeface="Helvetica Neue"/>
              <a:cs typeface="Helvetica Neue"/>
              <a:sym typeface="Helvetica Neue"/>
            </a:endParaRPr>
          </a:p>
          <a:p>
            <a:pPr indent="0" lvl="0" marL="0" rtl="0" algn="l">
              <a:lnSpc>
                <a:spcPct val="140000"/>
              </a:lnSpc>
              <a:spcBef>
                <a:spcPts val="0"/>
              </a:spcBef>
              <a:spcAft>
                <a:spcPts val="0"/>
              </a:spcAft>
              <a:buClr>
                <a:schemeClr val="dk1"/>
              </a:buClr>
              <a:buSzPts val="1100"/>
              <a:buFont typeface="Arial"/>
              <a:buNone/>
            </a:pPr>
            <a:r>
              <a:rPr lang="en-US" sz="1950">
                <a:solidFill>
                  <a:srgbClr val="3A4A5A"/>
                </a:solidFill>
                <a:latin typeface="Helvetica Neue"/>
                <a:ea typeface="Helvetica Neue"/>
                <a:cs typeface="Helvetica Neue"/>
                <a:sym typeface="Helvetica Neue"/>
              </a:rPr>
              <a:t>		</a:t>
            </a:r>
            <a:endParaRPr sz="1950">
              <a:solidFill>
                <a:srgbClr val="3A4A5A"/>
              </a:solidFill>
              <a:latin typeface="Helvetica Neue"/>
              <a:ea typeface="Helvetica Neue"/>
              <a:cs typeface="Helvetica Neue"/>
              <a:sym typeface="Helvetica Neue"/>
            </a:endParaRPr>
          </a:p>
          <a:p>
            <a:pPr indent="0" lvl="0" marL="0" marR="0" rtl="0" algn="l">
              <a:lnSpc>
                <a:spcPct val="140000"/>
              </a:lnSpc>
              <a:spcBef>
                <a:spcPts val="0"/>
              </a:spcBef>
              <a:spcAft>
                <a:spcPts val="0"/>
              </a:spcAft>
              <a:buClr>
                <a:srgbClr val="3A4A5A"/>
              </a:buClr>
              <a:buSzPts val="1950"/>
              <a:buFont typeface="Helvetica Neue"/>
              <a:buNone/>
            </a:pPr>
            <a:r>
              <a:rPr lang="en-US" sz="1950">
                <a:solidFill>
                  <a:srgbClr val="3A4A5A"/>
                </a:solidFill>
                <a:latin typeface="Helvetica Neue"/>
                <a:ea typeface="Helvetica Neue"/>
                <a:cs typeface="Helvetica Neue"/>
                <a:sym typeface="Helvetica Neue"/>
              </a:rPr>
              <a:t>	 </a:t>
            </a:r>
            <a:endParaRPr sz="1950">
              <a:solidFill>
                <a:srgbClr val="3A4A5A"/>
              </a:solidFill>
              <a:latin typeface="Helvetica Neue"/>
              <a:ea typeface="Helvetica Neue"/>
              <a:cs typeface="Helvetica Neue"/>
              <a:sym typeface="Helvetica Neue"/>
            </a:endParaRPr>
          </a:p>
        </p:txBody>
      </p:sp>
      <p:sp>
        <p:nvSpPr>
          <p:cNvPr id="351" name="Google Shape;351;p11"/>
          <p:cNvSpPr/>
          <p:nvPr/>
        </p:nvSpPr>
        <p:spPr>
          <a:xfrm>
            <a:off x="9854950" y="2408861"/>
            <a:ext cx="7430100" cy="384600"/>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3A4A5A"/>
              </a:buClr>
              <a:buSzPts val="1950"/>
              <a:buFont typeface="Helvetica Neue"/>
              <a:buNone/>
            </a:pPr>
            <a:r>
              <a:rPr b="0" i="0" lang="en-US" sz="1950" u="none" cap="none" strike="noStrike">
                <a:solidFill>
                  <a:srgbClr val="3A4A5A"/>
                </a:solidFill>
                <a:latin typeface="Helvetica Neue"/>
                <a:ea typeface="Helvetica Neue"/>
                <a:cs typeface="Helvetica Neue"/>
                <a:sym typeface="Helvetica Neue"/>
              </a:rPr>
              <a:t>Sheet 2 · </a:t>
            </a:r>
            <a:r>
              <a:rPr b="1" i="0" lang="en-US" sz="1950" u="none" cap="none" strike="noStrike">
                <a:solidFill>
                  <a:srgbClr val="1F2A37"/>
                </a:solidFill>
                <a:latin typeface="Helvetica Neue"/>
                <a:ea typeface="Helvetica Neue"/>
                <a:cs typeface="Helvetica Neue"/>
                <a:sym typeface="Helvetica Neue"/>
              </a:rPr>
              <a:t>Daily </a:t>
            </a:r>
            <a:r>
              <a:rPr b="0" i="0" lang="en-US" sz="1950" u="none" cap="none" strike="noStrike">
                <a:solidFill>
                  <a:srgbClr val="3A4A5A"/>
                </a:solidFill>
                <a:latin typeface="Helvetica Neue"/>
                <a:ea typeface="Helvetica Neue"/>
                <a:cs typeface="Helvetica Neue"/>
                <a:sym typeface="Helvetica Neue"/>
              </a:rPr>
              <a:t>· 7-day-ahe</a:t>
            </a:r>
            <a:r>
              <a:rPr lang="en-US" sz="1950">
                <a:solidFill>
                  <a:srgbClr val="3A4A5A"/>
                </a:solidFill>
                <a:latin typeface="Helvetica Neue"/>
                <a:ea typeface="Helvetica Neue"/>
                <a:cs typeface="Helvetica Neue"/>
                <a:sym typeface="Helvetica Neue"/>
              </a:rPr>
              <a:t>ad forecasts</a:t>
            </a:r>
            <a:endParaRPr b="0" i="0" sz="1950" u="none" cap="none" strike="noStrike">
              <a:solidFill>
                <a:schemeClr val="dk1"/>
              </a:solidFill>
              <a:latin typeface="Calibri"/>
              <a:ea typeface="Calibri"/>
              <a:cs typeface="Calibri"/>
              <a:sym typeface="Calibri"/>
            </a:endParaRPr>
          </a:p>
        </p:txBody>
      </p:sp>
      <p:sp>
        <p:nvSpPr>
          <p:cNvPr id="352" name="Google Shape;352;p11"/>
          <p:cNvSpPr/>
          <p:nvPr/>
        </p:nvSpPr>
        <p:spPr>
          <a:xfrm>
            <a:off x="9854950" y="3240667"/>
            <a:ext cx="7430100" cy="384600"/>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3A4A5A"/>
              </a:buClr>
              <a:buSzPts val="1950"/>
              <a:buFont typeface="Helvetica Neue"/>
              <a:buNone/>
            </a:pPr>
            <a:r>
              <a:rPr b="1" lang="en-US" sz="1950">
                <a:solidFill>
                  <a:srgbClr val="3A4A5A"/>
                </a:solidFill>
                <a:latin typeface="Helvetica Neue"/>
                <a:ea typeface="Helvetica Neue"/>
                <a:cs typeface="Helvetica Neue"/>
                <a:sym typeface="Helvetica Neue"/>
              </a:rPr>
              <a:t>TSLA  </a:t>
            </a:r>
            <a:r>
              <a:rPr b="1" lang="en-US" sz="1950">
                <a:solidFill>
                  <a:srgbClr val="1F2A37"/>
                </a:solidFill>
                <a:latin typeface="Helvetica Neue"/>
                <a:ea typeface="Helvetica Neue"/>
                <a:cs typeface="Helvetica Neue"/>
                <a:sym typeface="Helvetica Neue"/>
              </a:rPr>
              <a:t>- </a:t>
            </a:r>
            <a:r>
              <a:rPr b="1" lang="en-US" sz="1950">
                <a:solidFill>
                  <a:srgbClr val="3A4A5A"/>
                </a:solidFill>
                <a:latin typeface="Helvetica Neue"/>
                <a:ea typeface="Helvetica Neue"/>
                <a:cs typeface="Helvetica Neue"/>
                <a:sym typeface="Helvetica Neue"/>
              </a:rPr>
              <a:t>NVDA </a:t>
            </a:r>
            <a:r>
              <a:rPr b="1" lang="en-US" sz="1950">
                <a:solidFill>
                  <a:srgbClr val="1F2A37"/>
                </a:solidFill>
                <a:latin typeface="Helvetica Neue"/>
                <a:ea typeface="Helvetica Neue"/>
                <a:cs typeface="Helvetica Neue"/>
                <a:sym typeface="Helvetica Neue"/>
              </a:rPr>
              <a:t>- </a:t>
            </a:r>
            <a:r>
              <a:rPr b="1" lang="en-US" sz="1950">
                <a:solidFill>
                  <a:srgbClr val="3A4A5A"/>
                </a:solidFill>
                <a:latin typeface="Helvetica Neue"/>
                <a:ea typeface="Helvetica Neue"/>
                <a:cs typeface="Helvetica Neue"/>
                <a:sym typeface="Helvetica Neue"/>
              </a:rPr>
              <a:t>MSFT </a:t>
            </a:r>
            <a:r>
              <a:rPr lang="en-US" sz="1950">
                <a:solidFill>
                  <a:srgbClr val="3A4A5A"/>
                </a:solidFill>
                <a:latin typeface="Helvetica Neue"/>
                <a:ea typeface="Helvetica Neue"/>
                <a:cs typeface="Helvetica Neue"/>
                <a:sym typeface="Helvetica Neue"/>
              </a:rPr>
              <a:t>analysed</a:t>
            </a:r>
            <a:r>
              <a:rPr b="1" lang="en-US" sz="1950">
                <a:solidFill>
                  <a:srgbClr val="3A4A5A"/>
                </a:solidFill>
                <a:latin typeface="Helvetica Neue"/>
                <a:ea typeface="Helvetica Neue"/>
                <a:cs typeface="Helvetica Neue"/>
                <a:sym typeface="Helvetica Neue"/>
              </a:rPr>
              <a:t> </a:t>
            </a:r>
            <a:r>
              <a:rPr lang="en-US" sz="1950">
                <a:solidFill>
                  <a:srgbClr val="3A4A5A"/>
                </a:solidFill>
                <a:latin typeface="Helvetica Neue"/>
                <a:ea typeface="Helvetica Neue"/>
                <a:cs typeface="Helvetica Neue"/>
                <a:sym typeface="Helvetica Neue"/>
              </a:rPr>
              <a:t>in both sheets</a:t>
            </a:r>
            <a:endParaRPr i="0" sz="1950" u="none" cap="none" strike="noStrike">
              <a:solidFill>
                <a:schemeClr val="dk1"/>
              </a:solidFill>
              <a:latin typeface="Calibri"/>
              <a:ea typeface="Calibri"/>
              <a:cs typeface="Calibri"/>
              <a:sym typeface="Calibri"/>
            </a:endParaRPr>
          </a:p>
        </p:txBody>
      </p:sp>
      <p:sp>
        <p:nvSpPr>
          <p:cNvPr id="353" name="Google Shape;353;p11"/>
          <p:cNvSpPr/>
          <p:nvPr/>
        </p:nvSpPr>
        <p:spPr>
          <a:xfrm>
            <a:off x="3248025" y="5746849"/>
            <a:ext cx="1600200" cy="1905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900"/>
              <a:buFont typeface="Courier New"/>
              <a:buNone/>
            </a:pPr>
            <a:r>
              <a:t/>
            </a:r>
            <a:endParaRPr b="0" i="0" sz="900" u="none" cap="none" strike="noStrike">
              <a:solidFill>
                <a:schemeClr val="dk1"/>
              </a:solidFill>
              <a:latin typeface="Calibri"/>
              <a:ea typeface="Calibri"/>
              <a:cs typeface="Calibri"/>
              <a:sym typeface="Calibri"/>
            </a:endParaRPr>
          </a:p>
        </p:txBody>
      </p:sp>
      <p:sp>
        <p:nvSpPr>
          <p:cNvPr id="354" name="Google Shape;354;p11"/>
          <p:cNvSpPr/>
          <p:nvPr/>
        </p:nvSpPr>
        <p:spPr>
          <a:xfrm>
            <a:off x="914400" y="9496425"/>
            <a:ext cx="16459200" cy="9525"/>
          </a:xfrm>
          <a:prstGeom prst="rect">
            <a:avLst/>
          </a:prstGeom>
          <a:solidFill>
            <a:srgbClr val="E2E5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5" name="Google Shape;355;p11"/>
          <p:cNvSpPr/>
          <p:nvPr/>
        </p:nvSpPr>
        <p:spPr>
          <a:xfrm>
            <a:off x="914400" y="9658350"/>
            <a:ext cx="6985101" cy="2095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975"/>
              <a:buFont typeface="Courier New"/>
              <a:buNone/>
            </a:pPr>
            <a:r>
              <a:rPr b="0" i="0" lang="en-US" sz="975" u="none" cap="none" strike="noStrike">
                <a:solidFill>
                  <a:srgbClr val="8A94A6"/>
                </a:solidFill>
                <a:latin typeface="Courier New"/>
                <a:ea typeface="Courier New"/>
                <a:cs typeface="Courier New"/>
                <a:sym typeface="Courier New"/>
              </a:rPr>
              <a:t>TEAM 11_02 · NEAR-REAL-TIME FINANCIAL FORECASTING ON AWS · CCBDA-MIRI 2026</a:t>
            </a:r>
            <a:endParaRPr b="0" i="0" sz="975" u="none" cap="none" strike="noStrike">
              <a:solidFill>
                <a:schemeClr val="dk1"/>
              </a:solidFill>
              <a:latin typeface="Calibri"/>
              <a:ea typeface="Calibri"/>
              <a:cs typeface="Calibri"/>
              <a:sym typeface="Calibri"/>
            </a:endParaRPr>
          </a:p>
        </p:txBody>
      </p:sp>
      <p:sp>
        <p:nvSpPr>
          <p:cNvPr id="356" name="Google Shape;356;p11"/>
          <p:cNvSpPr/>
          <p:nvPr/>
        </p:nvSpPr>
        <p:spPr>
          <a:xfrm>
            <a:off x="16732002" y="9658350"/>
            <a:ext cx="717798" cy="2095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975"/>
              <a:buFont typeface="Courier New"/>
              <a:buNone/>
            </a:pPr>
            <a:r>
              <a:rPr b="0" i="0" lang="en-US" sz="975" u="none" cap="none" strike="noStrike">
                <a:solidFill>
                  <a:srgbClr val="8A94A6"/>
                </a:solidFill>
                <a:latin typeface="Courier New"/>
                <a:ea typeface="Courier New"/>
                <a:cs typeface="Courier New"/>
                <a:sym typeface="Courier New"/>
              </a:rPr>
              <a:t>11 / 14</a:t>
            </a:r>
            <a:endParaRPr b="0" i="0" sz="975" u="none" cap="none" strike="noStrike">
              <a:solidFill>
                <a:schemeClr val="dk1"/>
              </a:solidFill>
              <a:latin typeface="Calibri"/>
              <a:ea typeface="Calibri"/>
              <a:cs typeface="Calibri"/>
              <a:sym typeface="Calibri"/>
            </a:endParaRPr>
          </a:p>
        </p:txBody>
      </p:sp>
      <p:sp>
        <p:nvSpPr>
          <p:cNvPr id="357" name="Google Shape;357;p11"/>
          <p:cNvSpPr/>
          <p:nvPr/>
        </p:nvSpPr>
        <p:spPr>
          <a:xfrm>
            <a:off x="914400" y="2939650"/>
            <a:ext cx="6265800" cy="384600"/>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1F2A37"/>
              </a:buClr>
              <a:buSzPts val="1950"/>
              <a:buFont typeface="Helvetica Neue"/>
              <a:buNone/>
            </a:pPr>
            <a:r>
              <a:rPr b="1" lang="en-US" sz="1950">
                <a:solidFill>
                  <a:srgbClr val="1F2A37"/>
                </a:solidFill>
                <a:latin typeface="Helvetica Neue"/>
                <a:ea typeface="Helvetica Neue"/>
                <a:cs typeface="Helvetica Neue"/>
                <a:sym typeface="Helvetica Neue"/>
              </a:rPr>
              <a:t>QuickSight: </a:t>
            </a:r>
            <a:r>
              <a:rPr lang="en-US" sz="1950">
                <a:solidFill>
                  <a:srgbClr val="1F2A37"/>
                </a:solidFill>
                <a:latin typeface="Helvetica Neue"/>
                <a:ea typeface="Helvetica Neue"/>
                <a:cs typeface="Helvetica Neue"/>
                <a:sym typeface="Helvetica Neue"/>
              </a:rPr>
              <a:t>runs live Athena queries and visualizes interactive forecasting analytics</a:t>
            </a:r>
            <a:r>
              <a:rPr b="0" i="0" lang="en-US" sz="1950" u="none" cap="none" strike="noStrike">
                <a:solidFill>
                  <a:srgbClr val="3A4A5A"/>
                </a:solidFill>
                <a:latin typeface="Helvetica Neue"/>
                <a:ea typeface="Helvetica Neue"/>
                <a:cs typeface="Helvetica Neue"/>
                <a:sym typeface="Helvetica Neue"/>
              </a:rPr>
              <a:t> </a:t>
            </a:r>
            <a:endParaRPr b="0" i="0" sz="1950" u="none" cap="none" strike="noStrike">
              <a:solidFill>
                <a:schemeClr val="dk1"/>
              </a:solidFill>
              <a:latin typeface="Calibri"/>
              <a:ea typeface="Calibri"/>
              <a:cs typeface="Calibri"/>
              <a:sym typeface="Calibri"/>
            </a:endParaRPr>
          </a:p>
        </p:txBody>
      </p:sp>
      <p:pic>
        <p:nvPicPr>
          <p:cNvPr id="358" name="Google Shape;358;p11"/>
          <p:cNvPicPr preferRelativeResize="0"/>
          <p:nvPr/>
        </p:nvPicPr>
        <p:blipFill>
          <a:blip r:embed="rId3">
            <a:alphaModFix/>
          </a:blip>
          <a:stretch>
            <a:fillRect/>
          </a:stretch>
        </p:blipFill>
        <p:spPr>
          <a:xfrm>
            <a:off x="914400" y="4633766"/>
            <a:ext cx="7430102" cy="3715066"/>
          </a:xfrm>
          <a:prstGeom prst="rect">
            <a:avLst/>
          </a:prstGeom>
          <a:solidFill>
            <a:srgbClr val="FFFFFF"/>
          </a:solidFill>
          <a:ln cap="flat" cmpd="sng" w="9525">
            <a:solidFill>
              <a:srgbClr val="E2E5EA"/>
            </a:solidFill>
            <a:prstDash val="solid"/>
            <a:round/>
            <a:headEnd len="sm" w="sm" type="none"/>
            <a:tailEnd len="sm" w="sm" type="none"/>
          </a:ln>
          <a:effectLst>
            <a:outerShdw blurRad="76200" rotWithShape="0" algn="bl" dir="5400000" dist="19050">
              <a:srgbClr val="1F2A37">
                <a:alpha val="3920"/>
              </a:srgbClr>
            </a:outerShdw>
          </a:effectLst>
        </p:spPr>
      </p:pic>
      <p:pic>
        <p:nvPicPr>
          <p:cNvPr id="359" name="Google Shape;359;p11"/>
          <p:cNvPicPr preferRelativeResize="0"/>
          <p:nvPr/>
        </p:nvPicPr>
        <p:blipFill>
          <a:blip r:embed="rId4">
            <a:alphaModFix/>
          </a:blip>
          <a:stretch>
            <a:fillRect/>
          </a:stretch>
        </p:blipFill>
        <p:spPr>
          <a:xfrm>
            <a:off x="9854950" y="4107212"/>
            <a:ext cx="6469450" cy="4768175"/>
          </a:xfrm>
          <a:prstGeom prst="rect">
            <a:avLst/>
          </a:prstGeom>
          <a:noFill/>
          <a:ln>
            <a:noFill/>
          </a:ln>
        </p:spPr>
      </p:pic>
      <p:sp>
        <p:nvSpPr>
          <p:cNvPr id="360" name="Google Shape;360;p11"/>
          <p:cNvSpPr/>
          <p:nvPr/>
        </p:nvSpPr>
        <p:spPr>
          <a:xfrm>
            <a:off x="9854950" y="2824764"/>
            <a:ext cx="7430100" cy="384600"/>
          </a:xfrm>
          <a:prstGeom prst="rect">
            <a:avLst/>
          </a:prstGeom>
          <a:noFill/>
          <a:ln>
            <a:noFill/>
          </a:ln>
        </p:spPr>
        <p:txBody>
          <a:bodyPr anchorCtr="0" anchor="t" bIns="25400" lIns="25400" spcFirstLastPara="1" rIns="25400" wrap="square" tIns="25400">
            <a:noAutofit/>
          </a:bodyPr>
          <a:lstStyle/>
          <a:p>
            <a:pPr indent="0" lvl="0" marL="0" marR="0" rtl="0" algn="l">
              <a:lnSpc>
                <a:spcPct val="140000"/>
              </a:lnSpc>
              <a:spcBef>
                <a:spcPts val="0"/>
              </a:spcBef>
              <a:spcAft>
                <a:spcPts val="0"/>
              </a:spcAft>
              <a:buClr>
                <a:srgbClr val="3A4A5A"/>
              </a:buClr>
              <a:buSzPts val="1950"/>
              <a:buFont typeface="Helvetica Neue"/>
              <a:buNone/>
            </a:pPr>
            <a:r>
              <a:rPr lang="en-US" sz="1950">
                <a:solidFill>
                  <a:srgbClr val="3A4A5A"/>
                </a:solidFill>
                <a:latin typeface="Helvetica Neue"/>
                <a:ea typeface="Helvetica Neue"/>
                <a:cs typeface="Helvetica Neue"/>
                <a:sym typeface="Helvetica Neue"/>
              </a:rPr>
              <a:t>Interactive dashboard thanks to </a:t>
            </a:r>
            <a:r>
              <a:rPr b="1" lang="en-US" sz="1950">
                <a:solidFill>
                  <a:srgbClr val="3A4A5A"/>
                </a:solidFill>
                <a:latin typeface="Helvetica Neue"/>
                <a:ea typeface="Helvetica Neue"/>
                <a:cs typeface="Helvetica Neue"/>
                <a:sym typeface="Helvetica Neue"/>
              </a:rPr>
              <a:t>URL</a:t>
            </a:r>
            <a:r>
              <a:rPr lang="en-US" sz="1950">
                <a:solidFill>
                  <a:srgbClr val="3A4A5A"/>
                </a:solidFill>
                <a:latin typeface="Helvetica Neue"/>
                <a:ea typeface="Helvetica Neue"/>
                <a:cs typeface="Helvetica Neue"/>
                <a:sym typeface="Helvetica Neue"/>
              </a:rPr>
              <a:t> and </a:t>
            </a:r>
            <a:r>
              <a:rPr b="1" lang="en-US" sz="1950">
                <a:solidFill>
                  <a:srgbClr val="3A4A5A"/>
                </a:solidFill>
                <a:latin typeface="Helvetica Neue"/>
                <a:ea typeface="Helvetica Neue"/>
                <a:cs typeface="Helvetica Neue"/>
                <a:sym typeface="Helvetica Neue"/>
              </a:rPr>
              <a:t>navigation</a:t>
            </a:r>
            <a:r>
              <a:rPr lang="en-US" sz="1950">
                <a:solidFill>
                  <a:srgbClr val="3A4A5A"/>
                </a:solidFill>
                <a:latin typeface="Helvetica Neue"/>
                <a:ea typeface="Helvetica Neue"/>
                <a:cs typeface="Helvetica Neue"/>
                <a:sym typeface="Helvetica Neue"/>
              </a:rPr>
              <a:t> </a:t>
            </a:r>
            <a:r>
              <a:rPr lang="en-US" sz="1950">
                <a:solidFill>
                  <a:srgbClr val="3A4A5A"/>
                </a:solidFill>
                <a:latin typeface="Helvetica Neue"/>
                <a:ea typeface="Helvetica Neue"/>
                <a:cs typeface="Helvetica Neue"/>
                <a:sym typeface="Helvetica Neue"/>
              </a:rPr>
              <a:t>action</a:t>
            </a:r>
            <a:endParaRPr b="0" i="0" sz="1950" u="none" cap="none" strike="noStrike">
              <a:solidFill>
                <a:schemeClr val="dk1"/>
              </a:solidFill>
              <a:latin typeface="Calibri"/>
              <a:ea typeface="Calibri"/>
              <a:cs typeface="Calibri"/>
              <a:sym typeface="Calibri"/>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2"/>
        </a:solidFill>
      </p:bgPr>
    </p:bg>
    <p:spTree>
      <p:nvGrpSpPr>
        <p:cNvPr id="365" name="Shape 365"/>
        <p:cNvGrpSpPr/>
        <p:nvPr/>
      </p:nvGrpSpPr>
      <p:grpSpPr>
        <a:xfrm>
          <a:off x="0" y="0"/>
          <a:ext cx="0" cy="0"/>
          <a:chOff x="0" y="0"/>
          <a:chExt cx="0" cy="0"/>
        </a:xfrm>
      </p:grpSpPr>
      <p:sp>
        <p:nvSpPr>
          <p:cNvPr id="366" name="Google Shape;366;p12"/>
          <p:cNvSpPr/>
          <p:nvPr/>
        </p:nvSpPr>
        <p:spPr>
          <a:xfrm>
            <a:off x="914400" y="647700"/>
            <a:ext cx="2723100" cy="2097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F2A37"/>
              </a:buClr>
              <a:buSzPts val="1500"/>
              <a:buFont typeface="Helvetica Neue"/>
              <a:buNone/>
            </a:pPr>
            <a:r>
              <a:rPr b="1" i="0" lang="en-US" sz="1500" u="none" cap="none" strike="noStrike">
                <a:solidFill>
                  <a:srgbClr val="1F2A37"/>
                </a:solidFill>
                <a:latin typeface="Helvetica Neue"/>
                <a:ea typeface="Helvetica Neue"/>
                <a:cs typeface="Helvetica Neue"/>
                <a:sym typeface="Helvetica Neue"/>
              </a:rPr>
              <a:t>12 · </a:t>
            </a:r>
            <a:r>
              <a:rPr b="1" lang="en-US" sz="1500">
                <a:solidFill>
                  <a:srgbClr val="1F2A37"/>
                </a:solidFill>
                <a:latin typeface="Helvetica Neue"/>
                <a:ea typeface="Helvetica Neue"/>
                <a:cs typeface="Helvetica Neue"/>
                <a:sym typeface="Helvetica Neue"/>
              </a:rPr>
              <a:t>FIRST VISUALIZATION</a:t>
            </a:r>
            <a:endParaRPr b="0" i="0" sz="1500" u="none" cap="none" strike="noStrike">
              <a:solidFill>
                <a:schemeClr val="dk1"/>
              </a:solidFill>
              <a:latin typeface="Calibri"/>
              <a:ea typeface="Calibri"/>
              <a:cs typeface="Calibri"/>
              <a:sym typeface="Calibri"/>
            </a:endParaRPr>
          </a:p>
        </p:txBody>
      </p:sp>
      <p:sp>
        <p:nvSpPr>
          <p:cNvPr id="367" name="Google Shape;367;p12"/>
          <p:cNvSpPr/>
          <p:nvPr/>
        </p:nvSpPr>
        <p:spPr>
          <a:xfrm>
            <a:off x="14995773" y="647700"/>
            <a:ext cx="2454027" cy="2381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1200"/>
              <a:buFont typeface="Courier New"/>
              <a:buNone/>
            </a:pPr>
            <a:r>
              <a:rPr b="0" i="0" lang="en-US" sz="1200" u="none" cap="none" strike="noStrike">
                <a:solidFill>
                  <a:srgbClr val="8A94A6"/>
                </a:solidFill>
                <a:latin typeface="Courier New"/>
                <a:ea typeface="Courier New"/>
                <a:cs typeface="Courier New"/>
                <a:sym typeface="Courier New"/>
              </a:rPr>
              <a:t>SPEAKER · </a:t>
            </a:r>
            <a:r>
              <a:rPr b="1" i="0" lang="en-US" sz="1200" u="none" cap="none" strike="noStrike">
                <a:solidFill>
                  <a:srgbClr val="1F2A37"/>
                </a:solidFill>
                <a:latin typeface="Courier New"/>
                <a:ea typeface="Courier New"/>
                <a:cs typeface="Courier New"/>
                <a:sym typeface="Courier New"/>
              </a:rPr>
              <a:t>FRANCESCO</a:t>
            </a:r>
            <a:endParaRPr b="0" i="0" sz="1200" u="none" cap="none" strike="noStrike">
              <a:solidFill>
                <a:schemeClr val="dk1"/>
              </a:solidFill>
              <a:latin typeface="Calibri"/>
              <a:ea typeface="Calibri"/>
              <a:cs typeface="Calibri"/>
              <a:sym typeface="Calibri"/>
            </a:endParaRPr>
          </a:p>
        </p:txBody>
      </p:sp>
      <p:sp>
        <p:nvSpPr>
          <p:cNvPr id="368" name="Google Shape;368;p12"/>
          <p:cNvSpPr/>
          <p:nvPr/>
        </p:nvSpPr>
        <p:spPr>
          <a:xfrm>
            <a:off x="914450" y="1303847"/>
            <a:ext cx="9584700" cy="9606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1F2A37"/>
              </a:buClr>
              <a:buSzPts val="9300"/>
              <a:buFont typeface="Helvetica Neue"/>
              <a:buNone/>
            </a:pPr>
            <a:r>
              <a:rPr b="1" lang="en-US" sz="5000">
                <a:solidFill>
                  <a:srgbClr val="1F2A37"/>
                </a:solidFill>
                <a:latin typeface="Helvetica Neue"/>
                <a:ea typeface="Helvetica Neue"/>
                <a:cs typeface="Helvetica Neue"/>
                <a:sym typeface="Helvetica Neue"/>
              </a:rPr>
              <a:t>Hourly Forecasts sheet</a:t>
            </a:r>
            <a:endParaRPr b="0" i="0" sz="5000" u="none" cap="none" strike="noStrike">
              <a:solidFill>
                <a:schemeClr val="dk1"/>
              </a:solidFill>
              <a:latin typeface="Calibri"/>
              <a:ea typeface="Calibri"/>
              <a:cs typeface="Calibri"/>
              <a:sym typeface="Calibri"/>
            </a:endParaRPr>
          </a:p>
        </p:txBody>
      </p:sp>
      <p:sp>
        <p:nvSpPr>
          <p:cNvPr id="369" name="Google Shape;369;p12"/>
          <p:cNvSpPr/>
          <p:nvPr/>
        </p:nvSpPr>
        <p:spPr>
          <a:xfrm>
            <a:off x="914400" y="2264450"/>
            <a:ext cx="12934200" cy="314400"/>
          </a:xfrm>
          <a:prstGeom prst="rect">
            <a:avLst/>
          </a:prstGeom>
          <a:noFill/>
          <a:ln>
            <a:noFill/>
          </a:ln>
        </p:spPr>
        <p:txBody>
          <a:bodyPr anchorCtr="0" anchor="t" bIns="25400" lIns="25400" spcFirstLastPara="1" rIns="25400" wrap="square" tIns="25400">
            <a:normAutofit/>
          </a:bodyPr>
          <a:lstStyle/>
          <a:p>
            <a:pPr indent="-352425" lvl="0" marL="457200" marR="0" rtl="0" algn="l">
              <a:spcBef>
                <a:spcPts val="0"/>
              </a:spcBef>
              <a:spcAft>
                <a:spcPts val="0"/>
              </a:spcAft>
              <a:buClr>
                <a:schemeClr val="dk1"/>
              </a:buClr>
              <a:buSzPts val="1950"/>
              <a:buFont typeface="Helvetica Neue"/>
              <a:buChar char="●"/>
            </a:pPr>
            <a:r>
              <a:rPr lang="en-US" sz="1950">
                <a:solidFill>
                  <a:schemeClr val="dk1"/>
                </a:solidFill>
                <a:latin typeface="Helvetica Neue"/>
                <a:ea typeface="Helvetica Neue"/>
                <a:cs typeface="Helvetica Neue"/>
                <a:sym typeface="Helvetica Neue"/>
              </a:rPr>
              <a:t>Short-range predictions with a forecasting horizon of one hour ahead, updated at 5-minute intervals.</a:t>
            </a:r>
            <a:endParaRPr i="0" sz="1950" u="none" cap="none" strike="noStrike">
              <a:solidFill>
                <a:schemeClr val="dk1"/>
              </a:solidFill>
              <a:latin typeface="Helvetica Neue"/>
              <a:ea typeface="Helvetica Neue"/>
              <a:cs typeface="Helvetica Neue"/>
              <a:sym typeface="Helvetica Neue"/>
            </a:endParaRPr>
          </a:p>
          <a:p>
            <a:pPr indent="0" lvl="0" marL="0" rtl="0" algn="l">
              <a:lnSpc>
                <a:spcPct val="140000"/>
              </a:lnSpc>
              <a:spcBef>
                <a:spcPts val="0"/>
              </a:spcBef>
              <a:spcAft>
                <a:spcPts val="0"/>
              </a:spcAft>
              <a:buClr>
                <a:srgbClr val="3A4A5A"/>
              </a:buClr>
              <a:buSzPts val="1950"/>
              <a:buFont typeface="Helvetica Neue"/>
              <a:buNone/>
            </a:pPr>
            <a:r>
              <a:t/>
            </a:r>
            <a:endParaRPr sz="1950">
              <a:solidFill>
                <a:srgbClr val="3A4A5A"/>
              </a:solidFill>
              <a:latin typeface="Helvetica Neue"/>
              <a:ea typeface="Helvetica Neue"/>
              <a:cs typeface="Helvetica Neue"/>
              <a:sym typeface="Helvetica Neue"/>
            </a:endParaRPr>
          </a:p>
        </p:txBody>
      </p:sp>
      <p:sp>
        <p:nvSpPr>
          <p:cNvPr id="370" name="Google Shape;370;p12"/>
          <p:cNvSpPr/>
          <p:nvPr/>
        </p:nvSpPr>
        <p:spPr>
          <a:xfrm>
            <a:off x="914400" y="9496425"/>
            <a:ext cx="16459200" cy="9600"/>
          </a:xfrm>
          <a:prstGeom prst="rect">
            <a:avLst/>
          </a:prstGeom>
          <a:solidFill>
            <a:srgbClr val="E2E5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1" name="Google Shape;371;p12"/>
          <p:cNvSpPr/>
          <p:nvPr/>
        </p:nvSpPr>
        <p:spPr>
          <a:xfrm>
            <a:off x="914400" y="9658350"/>
            <a:ext cx="6985200" cy="2097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975"/>
              <a:buFont typeface="Courier New"/>
              <a:buNone/>
            </a:pPr>
            <a:r>
              <a:rPr b="0" i="0" lang="en-US" sz="975" u="none" cap="none" strike="noStrike">
                <a:solidFill>
                  <a:srgbClr val="8A94A6"/>
                </a:solidFill>
                <a:latin typeface="Courier New"/>
                <a:ea typeface="Courier New"/>
                <a:cs typeface="Courier New"/>
                <a:sym typeface="Courier New"/>
              </a:rPr>
              <a:t>TEAM 11_02 · NEAR-REAL-TIME FINANCIAL FORECASTING ON AWS · CCBDA-MIRI 2026</a:t>
            </a:r>
            <a:endParaRPr b="0" i="0" sz="975" u="none" cap="none" strike="noStrike">
              <a:solidFill>
                <a:schemeClr val="dk1"/>
              </a:solidFill>
              <a:latin typeface="Calibri"/>
              <a:ea typeface="Calibri"/>
              <a:cs typeface="Calibri"/>
              <a:sym typeface="Calibri"/>
            </a:endParaRPr>
          </a:p>
        </p:txBody>
      </p:sp>
      <p:sp>
        <p:nvSpPr>
          <p:cNvPr id="372" name="Google Shape;372;p12"/>
          <p:cNvSpPr/>
          <p:nvPr/>
        </p:nvSpPr>
        <p:spPr>
          <a:xfrm>
            <a:off x="16732002" y="9658350"/>
            <a:ext cx="717900" cy="2097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975"/>
              <a:buFont typeface="Courier New"/>
              <a:buNone/>
            </a:pPr>
            <a:r>
              <a:rPr b="0" i="0" lang="en-US" sz="975" u="none" cap="none" strike="noStrike">
                <a:solidFill>
                  <a:srgbClr val="8A94A6"/>
                </a:solidFill>
                <a:latin typeface="Courier New"/>
                <a:ea typeface="Courier New"/>
                <a:cs typeface="Courier New"/>
                <a:sym typeface="Courier New"/>
              </a:rPr>
              <a:t>12 / 14</a:t>
            </a:r>
            <a:endParaRPr b="0" i="0" sz="975" u="none" cap="none" strike="noStrike">
              <a:solidFill>
                <a:schemeClr val="dk1"/>
              </a:solidFill>
              <a:latin typeface="Calibri"/>
              <a:ea typeface="Calibri"/>
              <a:cs typeface="Calibri"/>
              <a:sym typeface="Calibri"/>
            </a:endParaRPr>
          </a:p>
        </p:txBody>
      </p:sp>
      <p:sp>
        <p:nvSpPr>
          <p:cNvPr id="373" name="Google Shape;373;p12"/>
          <p:cNvSpPr/>
          <p:nvPr/>
        </p:nvSpPr>
        <p:spPr>
          <a:xfrm>
            <a:off x="914400" y="2709000"/>
            <a:ext cx="13673100" cy="314400"/>
          </a:xfrm>
          <a:prstGeom prst="rect">
            <a:avLst/>
          </a:prstGeom>
          <a:noFill/>
          <a:ln>
            <a:noFill/>
          </a:ln>
        </p:spPr>
        <p:txBody>
          <a:bodyPr anchorCtr="0" anchor="t" bIns="25400" lIns="25400" spcFirstLastPara="1" rIns="25400" wrap="square" tIns="25400">
            <a:noAutofit/>
          </a:bodyPr>
          <a:lstStyle/>
          <a:p>
            <a:pPr indent="-352425" lvl="0" marL="457200" rtl="0" algn="l">
              <a:lnSpc>
                <a:spcPct val="140000"/>
              </a:lnSpc>
              <a:spcBef>
                <a:spcPts val="0"/>
              </a:spcBef>
              <a:spcAft>
                <a:spcPts val="0"/>
              </a:spcAft>
              <a:buClr>
                <a:schemeClr val="dk1"/>
              </a:buClr>
              <a:buSzPts val="1950"/>
              <a:buFont typeface="Helvetica Neue"/>
              <a:buChar char="●"/>
            </a:pPr>
            <a:r>
              <a:rPr lang="en-US" sz="1950">
                <a:solidFill>
                  <a:schemeClr val="dk1"/>
                </a:solidFill>
                <a:latin typeface="Helvetica Neue"/>
                <a:ea typeface="Helvetica Neue"/>
                <a:cs typeface="Helvetica Neue"/>
                <a:sym typeface="Helvetica Neue"/>
              </a:rPr>
              <a:t>P50 vs actuals, P10–P90 band, anomaly counter, MAPE, spread chart, forecast bias indicator, time range, latest value.</a:t>
            </a:r>
            <a:endParaRPr sz="1950">
              <a:solidFill>
                <a:schemeClr val="dk1"/>
              </a:solidFill>
              <a:latin typeface="Helvetica Neue"/>
              <a:ea typeface="Helvetica Neue"/>
              <a:cs typeface="Helvetica Neue"/>
              <a:sym typeface="Helvetica Neue"/>
            </a:endParaRPr>
          </a:p>
        </p:txBody>
      </p:sp>
      <p:pic>
        <p:nvPicPr>
          <p:cNvPr id="374" name="Google Shape;374;p12"/>
          <p:cNvPicPr preferRelativeResize="0"/>
          <p:nvPr/>
        </p:nvPicPr>
        <p:blipFill>
          <a:blip r:embed="rId3">
            <a:alphaModFix/>
          </a:blip>
          <a:stretch>
            <a:fillRect/>
          </a:stretch>
        </p:blipFill>
        <p:spPr>
          <a:xfrm>
            <a:off x="914450" y="3658925"/>
            <a:ext cx="7977750" cy="5462449"/>
          </a:xfrm>
          <a:prstGeom prst="rect">
            <a:avLst/>
          </a:prstGeom>
          <a:noFill/>
          <a:ln>
            <a:noFill/>
          </a:ln>
        </p:spPr>
      </p:pic>
      <p:pic>
        <p:nvPicPr>
          <p:cNvPr id="375" name="Google Shape;375;p12"/>
          <p:cNvPicPr preferRelativeResize="0"/>
          <p:nvPr/>
        </p:nvPicPr>
        <p:blipFill rotWithShape="1">
          <a:blip r:embed="rId4">
            <a:alphaModFix/>
          </a:blip>
          <a:srcRect b="0" l="0" r="2572" t="0"/>
          <a:stretch/>
        </p:blipFill>
        <p:spPr>
          <a:xfrm>
            <a:off x="9016750" y="3658550"/>
            <a:ext cx="8685373" cy="546245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2"/>
        </a:solidFill>
      </p:bgPr>
    </p:bg>
    <p:spTree>
      <p:nvGrpSpPr>
        <p:cNvPr id="380" name="Shape 380"/>
        <p:cNvGrpSpPr/>
        <p:nvPr/>
      </p:nvGrpSpPr>
      <p:grpSpPr>
        <a:xfrm>
          <a:off x="0" y="0"/>
          <a:ext cx="0" cy="0"/>
          <a:chOff x="0" y="0"/>
          <a:chExt cx="0" cy="0"/>
        </a:xfrm>
      </p:grpSpPr>
      <p:sp>
        <p:nvSpPr>
          <p:cNvPr id="381" name="Google Shape;381;p13"/>
          <p:cNvSpPr/>
          <p:nvPr/>
        </p:nvSpPr>
        <p:spPr>
          <a:xfrm>
            <a:off x="914400" y="647700"/>
            <a:ext cx="3652971" cy="2571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F2A37"/>
              </a:buClr>
              <a:buSzPts val="1500"/>
              <a:buFont typeface="Helvetica Neue"/>
              <a:buNone/>
            </a:pPr>
            <a:r>
              <a:rPr b="1" i="0" lang="en-US" sz="1500" u="none" cap="none" strike="noStrike">
                <a:solidFill>
                  <a:srgbClr val="1F2A37"/>
                </a:solidFill>
                <a:latin typeface="Helvetica Neue"/>
                <a:ea typeface="Helvetica Neue"/>
                <a:cs typeface="Helvetica Neue"/>
                <a:sym typeface="Helvetica Neue"/>
              </a:rPr>
              <a:t>13 · </a:t>
            </a:r>
            <a:r>
              <a:rPr b="1" lang="en-US" sz="1500">
                <a:solidFill>
                  <a:srgbClr val="1F2A37"/>
                </a:solidFill>
                <a:latin typeface="Helvetica Neue"/>
                <a:ea typeface="Helvetica Neue"/>
                <a:cs typeface="Helvetica Neue"/>
                <a:sym typeface="Helvetica Neue"/>
              </a:rPr>
              <a:t>SECOND VISUALIZATION</a:t>
            </a:r>
            <a:endParaRPr b="0" i="0" sz="1500" u="none" cap="none" strike="noStrike">
              <a:solidFill>
                <a:schemeClr val="dk1"/>
              </a:solidFill>
              <a:latin typeface="Calibri"/>
              <a:ea typeface="Calibri"/>
              <a:cs typeface="Calibri"/>
              <a:sym typeface="Calibri"/>
            </a:endParaRPr>
          </a:p>
        </p:txBody>
      </p:sp>
      <p:sp>
        <p:nvSpPr>
          <p:cNvPr id="382" name="Google Shape;382;p13"/>
          <p:cNvSpPr/>
          <p:nvPr/>
        </p:nvSpPr>
        <p:spPr>
          <a:xfrm>
            <a:off x="15483483" y="647700"/>
            <a:ext cx="1966317" cy="2381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1200"/>
              <a:buFont typeface="Courier New"/>
              <a:buNone/>
            </a:pPr>
            <a:r>
              <a:rPr b="0" i="0" lang="en-US" sz="1200" u="none" cap="none" strike="noStrike">
                <a:solidFill>
                  <a:srgbClr val="8A94A6"/>
                </a:solidFill>
                <a:latin typeface="Courier New"/>
                <a:ea typeface="Courier New"/>
                <a:cs typeface="Courier New"/>
                <a:sym typeface="Courier New"/>
              </a:rPr>
              <a:t>SPEAKER · </a:t>
            </a:r>
            <a:r>
              <a:rPr b="1" lang="en-US" sz="1200">
                <a:solidFill>
                  <a:srgbClr val="1F2A37"/>
                </a:solidFill>
                <a:latin typeface="Courier New"/>
                <a:ea typeface="Courier New"/>
                <a:cs typeface="Courier New"/>
                <a:sym typeface="Courier New"/>
              </a:rPr>
              <a:t>FRANCESCO</a:t>
            </a:r>
            <a:endParaRPr b="1" sz="1200">
              <a:solidFill>
                <a:srgbClr val="1F2A37"/>
              </a:solidFill>
              <a:latin typeface="Courier New"/>
              <a:ea typeface="Courier New"/>
              <a:cs typeface="Courier New"/>
              <a:sym typeface="Courier New"/>
            </a:endParaRPr>
          </a:p>
          <a:p>
            <a:pPr indent="0" lvl="0" marL="0" marR="0" rtl="0" algn="l">
              <a:spcBef>
                <a:spcPts val="0"/>
              </a:spcBef>
              <a:spcAft>
                <a:spcPts val="0"/>
              </a:spcAft>
              <a:buClr>
                <a:srgbClr val="8A94A6"/>
              </a:buClr>
              <a:buSzPts val="1200"/>
              <a:buFont typeface="Courier New"/>
              <a:buNone/>
            </a:pPr>
            <a:r>
              <a:t/>
            </a:r>
            <a:endParaRPr b="1" sz="1200">
              <a:solidFill>
                <a:srgbClr val="1F2A37"/>
              </a:solidFill>
              <a:latin typeface="Courier New"/>
              <a:ea typeface="Courier New"/>
              <a:cs typeface="Courier New"/>
              <a:sym typeface="Courier New"/>
            </a:endParaRPr>
          </a:p>
        </p:txBody>
      </p:sp>
      <p:sp>
        <p:nvSpPr>
          <p:cNvPr id="383" name="Google Shape;383;p13"/>
          <p:cNvSpPr/>
          <p:nvPr/>
        </p:nvSpPr>
        <p:spPr>
          <a:xfrm>
            <a:off x="914400" y="9496425"/>
            <a:ext cx="16459200" cy="9525"/>
          </a:xfrm>
          <a:prstGeom prst="rect">
            <a:avLst/>
          </a:prstGeom>
          <a:solidFill>
            <a:srgbClr val="E2E5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4" name="Google Shape;384;p13"/>
          <p:cNvSpPr/>
          <p:nvPr/>
        </p:nvSpPr>
        <p:spPr>
          <a:xfrm>
            <a:off x="914400" y="9658350"/>
            <a:ext cx="6985101" cy="2095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975"/>
              <a:buFont typeface="Courier New"/>
              <a:buNone/>
            </a:pPr>
            <a:r>
              <a:rPr b="0" i="0" lang="en-US" sz="975" u="none" cap="none" strike="noStrike">
                <a:solidFill>
                  <a:srgbClr val="8A94A6"/>
                </a:solidFill>
                <a:latin typeface="Courier New"/>
                <a:ea typeface="Courier New"/>
                <a:cs typeface="Courier New"/>
                <a:sym typeface="Courier New"/>
              </a:rPr>
              <a:t>TEAM 11_02 · NEAR-REAL-TIME FINANCIAL FORECASTING ON AWS · CCBDA-MIRI 2026</a:t>
            </a:r>
            <a:endParaRPr b="0" i="0" sz="975" u="none" cap="none" strike="noStrike">
              <a:solidFill>
                <a:schemeClr val="dk1"/>
              </a:solidFill>
              <a:latin typeface="Calibri"/>
              <a:ea typeface="Calibri"/>
              <a:cs typeface="Calibri"/>
              <a:sym typeface="Calibri"/>
            </a:endParaRPr>
          </a:p>
        </p:txBody>
      </p:sp>
      <p:sp>
        <p:nvSpPr>
          <p:cNvPr id="385" name="Google Shape;385;p13"/>
          <p:cNvSpPr/>
          <p:nvPr/>
        </p:nvSpPr>
        <p:spPr>
          <a:xfrm>
            <a:off x="16732002" y="9658350"/>
            <a:ext cx="717798" cy="2095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975"/>
              <a:buFont typeface="Courier New"/>
              <a:buNone/>
            </a:pPr>
            <a:r>
              <a:rPr b="0" i="0" lang="en-US" sz="975" u="none" cap="none" strike="noStrike">
                <a:solidFill>
                  <a:srgbClr val="8A94A6"/>
                </a:solidFill>
                <a:latin typeface="Courier New"/>
                <a:ea typeface="Courier New"/>
                <a:cs typeface="Courier New"/>
                <a:sym typeface="Courier New"/>
              </a:rPr>
              <a:t>13 / 14</a:t>
            </a:r>
            <a:endParaRPr b="0" i="0" sz="975" u="none" cap="none" strike="noStrike">
              <a:solidFill>
                <a:schemeClr val="dk1"/>
              </a:solidFill>
              <a:latin typeface="Calibri"/>
              <a:ea typeface="Calibri"/>
              <a:cs typeface="Calibri"/>
              <a:sym typeface="Calibri"/>
            </a:endParaRPr>
          </a:p>
        </p:txBody>
      </p:sp>
      <p:sp>
        <p:nvSpPr>
          <p:cNvPr id="386" name="Google Shape;386;p13"/>
          <p:cNvSpPr/>
          <p:nvPr/>
        </p:nvSpPr>
        <p:spPr>
          <a:xfrm>
            <a:off x="914400" y="1327575"/>
            <a:ext cx="9584700" cy="936900"/>
          </a:xfrm>
          <a:prstGeom prst="rect">
            <a:avLst/>
          </a:prstGeom>
          <a:noFill/>
          <a:ln>
            <a:noFill/>
          </a:ln>
        </p:spPr>
        <p:txBody>
          <a:bodyPr anchorCtr="0" anchor="t" bIns="25400" lIns="25400" spcFirstLastPara="1" rIns="25400" wrap="square" tIns="25400">
            <a:noAutofit/>
          </a:bodyPr>
          <a:lstStyle/>
          <a:p>
            <a:pPr indent="0" lvl="0" marL="0" rtl="0" algn="l">
              <a:lnSpc>
                <a:spcPct val="104000"/>
              </a:lnSpc>
              <a:spcBef>
                <a:spcPts val="0"/>
              </a:spcBef>
              <a:spcAft>
                <a:spcPts val="0"/>
              </a:spcAft>
              <a:buClr>
                <a:srgbClr val="1F2A37"/>
              </a:buClr>
              <a:buSzPts val="4200"/>
              <a:buFont typeface="Helvetica Neue"/>
              <a:buNone/>
            </a:pPr>
            <a:r>
              <a:rPr b="1" lang="en-US" sz="5000">
                <a:solidFill>
                  <a:srgbClr val="1F2A37"/>
                </a:solidFill>
                <a:latin typeface="Helvetica Neue"/>
                <a:ea typeface="Helvetica Neue"/>
                <a:cs typeface="Helvetica Neue"/>
                <a:sym typeface="Helvetica Neue"/>
              </a:rPr>
              <a:t>7-day Daily Forecasts sheet </a:t>
            </a:r>
            <a:endParaRPr b="0" i="0" sz="5000" u="none" cap="none" strike="noStrike">
              <a:solidFill>
                <a:schemeClr val="dk1"/>
              </a:solidFill>
              <a:latin typeface="Calibri"/>
              <a:ea typeface="Calibri"/>
              <a:cs typeface="Calibri"/>
              <a:sym typeface="Calibri"/>
            </a:endParaRPr>
          </a:p>
        </p:txBody>
      </p:sp>
      <p:sp>
        <p:nvSpPr>
          <p:cNvPr id="387" name="Google Shape;387;p13"/>
          <p:cNvSpPr/>
          <p:nvPr/>
        </p:nvSpPr>
        <p:spPr>
          <a:xfrm>
            <a:off x="914400" y="2264475"/>
            <a:ext cx="12934200" cy="314400"/>
          </a:xfrm>
          <a:prstGeom prst="rect">
            <a:avLst/>
          </a:prstGeom>
          <a:noFill/>
          <a:ln>
            <a:noFill/>
          </a:ln>
        </p:spPr>
        <p:txBody>
          <a:bodyPr anchorCtr="0" anchor="t" bIns="25400" lIns="25400" spcFirstLastPara="1" rIns="25400" wrap="square" tIns="25400">
            <a:noAutofit/>
          </a:bodyPr>
          <a:lstStyle/>
          <a:p>
            <a:pPr indent="-352425" lvl="0" marL="457200" rtl="0" algn="l">
              <a:spcBef>
                <a:spcPts val="0"/>
              </a:spcBef>
              <a:spcAft>
                <a:spcPts val="0"/>
              </a:spcAft>
              <a:buClr>
                <a:schemeClr val="dk1"/>
              </a:buClr>
              <a:buSzPts val="1950"/>
              <a:buFont typeface="Helvetica Neue"/>
              <a:buChar char="●"/>
            </a:pPr>
            <a:r>
              <a:rPr lang="en-US" sz="1950">
                <a:solidFill>
                  <a:schemeClr val="dk1"/>
                </a:solidFill>
                <a:latin typeface="Helvetica Neue"/>
                <a:ea typeface="Helvetica Neue"/>
                <a:cs typeface="Helvetica Neue"/>
                <a:sym typeface="Helvetica Neue"/>
              </a:rPr>
              <a:t>Longer-range predictions with a forecasting horizon of 7 days ahead, updated once a day.</a:t>
            </a:r>
            <a:endParaRPr sz="1950">
              <a:solidFill>
                <a:srgbClr val="3A4A5A"/>
              </a:solidFill>
              <a:latin typeface="Helvetica Neue"/>
              <a:ea typeface="Helvetica Neue"/>
              <a:cs typeface="Helvetica Neue"/>
              <a:sym typeface="Helvetica Neue"/>
            </a:endParaRPr>
          </a:p>
        </p:txBody>
      </p:sp>
      <p:sp>
        <p:nvSpPr>
          <p:cNvPr id="388" name="Google Shape;388;p13"/>
          <p:cNvSpPr/>
          <p:nvPr/>
        </p:nvSpPr>
        <p:spPr>
          <a:xfrm>
            <a:off x="914400" y="2709025"/>
            <a:ext cx="13673100" cy="314400"/>
          </a:xfrm>
          <a:prstGeom prst="rect">
            <a:avLst/>
          </a:prstGeom>
          <a:noFill/>
          <a:ln>
            <a:noFill/>
          </a:ln>
        </p:spPr>
        <p:txBody>
          <a:bodyPr anchorCtr="0" anchor="t" bIns="25400" lIns="25400" spcFirstLastPara="1" rIns="25400" wrap="square" tIns="25400">
            <a:noAutofit/>
          </a:bodyPr>
          <a:lstStyle/>
          <a:p>
            <a:pPr indent="-352425" lvl="0" marL="457200" rtl="0" algn="l">
              <a:spcBef>
                <a:spcPts val="0"/>
              </a:spcBef>
              <a:spcAft>
                <a:spcPts val="0"/>
              </a:spcAft>
              <a:buClr>
                <a:schemeClr val="dk1"/>
              </a:buClr>
              <a:buSzPts val="1950"/>
              <a:buFont typeface="Helvetica Neue"/>
              <a:buChar char="●"/>
            </a:pPr>
            <a:r>
              <a:rPr lang="en-US" sz="1950">
                <a:solidFill>
                  <a:schemeClr val="dk1"/>
                </a:solidFill>
                <a:latin typeface="Helvetica Neue"/>
                <a:ea typeface="Helvetica Neue"/>
                <a:cs typeface="Helvetica Neue"/>
                <a:sym typeface="Helvetica Neue"/>
              </a:rPr>
              <a:t>Spread comparison chart across the three assets.</a:t>
            </a:r>
            <a:endParaRPr sz="1950">
              <a:solidFill>
                <a:schemeClr val="dk1"/>
              </a:solidFill>
              <a:latin typeface="Helvetica Neue"/>
              <a:ea typeface="Helvetica Neue"/>
              <a:cs typeface="Helvetica Neue"/>
              <a:sym typeface="Helvetica Neue"/>
            </a:endParaRPr>
          </a:p>
        </p:txBody>
      </p:sp>
      <p:pic>
        <p:nvPicPr>
          <p:cNvPr id="389" name="Google Shape;389;p13"/>
          <p:cNvPicPr preferRelativeResize="0"/>
          <p:nvPr/>
        </p:nvPicPr>
        <p:blipFill>
          <a:blip r:embed="rId3">
            <a:alphaModFix/>
          </a:blip>
          <a:stretch>
            <a:fillRect/>
          </a:stretch>
        </p:blipFill>
        <p:spPr>
          <a:xfrm>
            <a:off x="1122875" y="3548950"/>
            <a:ext cx="8168499" cy="5777325"/>
          </a:xfrm>
          <a:prstGeom prst="rect">
            <a:avLst/>
          </a:prstGeom>
          <a:noFill/>
          <a:ln>
            <a:noFill/>
          </a:ln>
        </p:spPr>
      </p:pic>
      <p:pic>
        <p:nvPicPr>
          <p:cNvPr id="390" name="Google Shape;390;p13"/>
          <p:cNvPicPr preferRelativeResize="0"/>
          <p:nvPr/>
        </p:nvPicPr>
        <p:blipFill>
          <a:blip r:embed="rId4">
            <a:alphaModFix/>
          </a:blip>
          <a:stretch>
            <a:fillRect/>
          </a:stretch>
        </p:blipFill>
        <p:spPr>
          <a:xfrm>
            <a:off x="9425800" y="4002975"/>
            <a:ext cx="8691825" cy="4869263"/>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AFAF2"/>
        </a:solidFill>
      </p:bgPr>
    </p:bg>
    <p:spTree>
      <p:nvGrpSpPr>
        <p:cNvPr id="395" name="Shape 395"/>
        <p:cNvGrpSpPr/>
        <p:nvPr/>
      </p:nvGrpSpPr>
      <p:grpSpPr>
        <a:xfrm>
          <a:off x="0" y="0"/>
          <a:ext cx="0" cy="0"/>
          <a:chOff x="0" y="0"/>
          <a:chExt cx="0" cy="0"/>
        </a:xfrm>
      </p:grpSpPr>
      <p:sp>
        <p:nvSpPr>
          <p:cNvPr id="396" name="Google Shape;396;p14"/>
          <p:cNvSpPr/>
          <p:nvPr/>
        </p:nvSpPr>
        <p:spPr>
          <a:xfrm>
            <a:off x="914400" y="647700"/>
            <a:ext cx="5196478" cy="25717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F2A37"/>
              </a:buClr>
              <a:buSzPts val="1500"/>
              <a:buFont typeface="Helvetica Neue"/>
              <a:buNone/>
            </a:pPr>
            <a:r>
              <a:rPr b="1" i="0" lang="en-US" sz="1500" u="none" cap="none" strike="noStrike">
                <a:solidFill>
                  <a:srgbClr val="1F2A37"/>
                </a:solidFill>
                <a:latin typeface="Helvetica Neue"/>
                <a:ea typeface="Helvetica Neue"/>
                <a:cs typeface="Helvetica Neue"/>
                <a:sym typeface="Helvetica Neue"/>
              </a:rPr>
              <a:t>14 · ENGINEERING · LESSONS · CLOSE</a:t>
            </a:r>
            <a:endParaRPr b="0" i="0" sz="1500" u="none" cap="none" strike="noStrike">
              <a:solidFill>
                <a:schemeClr val="dk1"/>
              </a:solidFill>
              <a:latin typeface="Calibri"/>
              <a:ea typeface="Calibri"/>
              <a:cs typeface="Calibri"/>
              <a:sym typeface="Calibri"/>
            </a:endParaRPr>
          </a:p>
        </p:txBody>
      </p:sp>
      <p:sp>
        <p:nvSpPr>
          <p:cNvPr id="397" name="Google Shape;397;p14"/>
          <p:cNvSpPr/>
          <p:nvPr/>
        </p:nvSpPr>
        <p:spPr>
          <a:xfrm>
            <a:off x="15361593" y="647700"/>
            <a:ext cx="2088207" cy="238125"/>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1200"/>
              <a:buFont typeface="Courier New"/>
              <a:buNone/>
            </a:pPr>
            <a:r>
              <a:rPr b="0" i="0" lang="en-US" sz="1200" u="none" cap="none" strike="noStrike">
                <a:solidFill>
                  <a:srgbClr val="8A94A6"/>
                </a:solidFill>
                <a:latin typeface="Courier New"/>
                <a:ea typeface="Courier New"/>
                <a:cs typeface="Courier New"/>
                <a:sym typeface="Courier New"/>
              </a:rPr>
              <a:t>SPEAKER · </a:t>
            </a:r>
            <a:r>
              <a:rPr b="1" lang="en-US" sz="1200">
                <a:solidFill>
                  <a:srgbClr val="1F2A37"/>
                </a:solidFill>
                <a:latin typeface="Courier New"/>
                <a:ea typeface="Courier New"/>
                <a:cs typeface="Courier New"/>
                <a:sym typeface="Courier New"/>
              </a:rPr>
              <a:t>ILIAS</a:t>
            </a:r>
            <a:endParaRPr b="0" i="0" sz="1200" u="none" cap="none" strike="noStrike">
              <a:solidFill>
                <a:schemeClr val="dk1"/>
              </a:solidFill>
              <a:latin typeface="Calibri"/>
              <a:ea typeface="Calibri"/>
              <a:cs typeface="Calibri"/>
              <a:sym typeface="Calibri"/>
            </a:endParaRPr>
          </a:p>
        </p:txBody>
      </p:sp>
      <p:sp>
        <p:nvSpPr>
          <p:cNvPr id="398" name="Google Shape;398;p14"/>
          <p:cNvSpPr/>
          <p:nvPr/>
        </p:nvSpPr>
        <p:spPr>
          <a:xfrm>
            <a:off x="914400" y="1143000"/>
            <a:ext cx="16952976" cy="592782"/>
          </a:xfrm>
          <a:prstGeom prst="rect">
            <a:avLst/>
          </a:prstGeom>
          <a:noFill/>
          <a:ln>
            <a:noFill/>
          </a:ln>
        </p:spPr>
        <p:txBody>
          <a:bodyPr anchorCtr="0" anchor="t" bIns="25400" lIns="25400" spcFirstLastPara="1" rIns="25400" wrap="square" tIns="25400">
            <a:normAutofit/>
          </a:bodyPr>
          <a:lstStyle/>
          <a:p>
            <a:pPr indent="0" lvl="0" marL="0" marR="0" rtl="0" algn="l">
              <a:lnSpc>
                <a:spcPct val="104000"/>
              </a:lnSpc>
              <a:spcBef>
                <a:spcPts val="0"/>
              </a:spcBef>
              <a:spcAft>
                <a:spcPts val="0"/>
              </a:spcAft>
              <a:buClr>
                <a:srgbClr val="1F2A37"/>
              </a:buClr>
              <a:buSzPts val="4200"/>
              <a:buFont typeface="Helvetica Neue"/>
              <a:buNone/>
            </a:pPr>
            <a:r>
              <a:rPr b="1" i="0" lang="en-US" sz="4200" u="none" cap="none" strike="noStrike">
                <a:solidFill>
                  <a:srgbClr val="1F2A37"/>
                </a:solidFill>
                <a:latin typeface="Helvetica Neue"/>
                <a:ea typeface="Helvetica Neue"/>
                <a:cs typeface="Helvetica Neue"/>
                <a:sym typeface="Helvetica Neue"/>
              </a:rPr>
              <a:t>Engineering hygiene and what we learned.</a:t>
            </a:r>
            <a:endParaRPr b="0" i="0" sz="4200" u="none" cap="none" strike="noStrike">
              <a:solidFill>
                <a:schemeClr val="dk1"/>
              </a:solidFill>
              <a:latin typeface="Calibri"/>
              <a:ea typeface="Calibri"/>
              <a:cs typeface="Calibri"/>
              <a:sym typeface="Calibri"/>
            </a:endParaRPr>
          </a:p>
        </p:txBody>
      </p:sp>
      <p:sp>
        <p:nvSpPr>
          <p:cNvPr id="399" name="Google Shape;399;p14"/>
          <p:cNvSpPr/>
          <p:nvPr/>
        </p:nvSpPr>
        <p:spPr>
          <a:xfrm>
            <a:off x="914400" y="2095500"/>
            <a:ext cx="8182165" cy="2095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975"/>
              <a:buFont typeface="Courier New"/>
              <a:buNone/>
            </a:pPr>
            <a:r>
              <a:rPr b="0" i="0" lang="en-US" sz="975" u="none" cap="none" strike="noStrike">
                <a:solidFill>
                  <a:srgbClr val="8A94A6"/>
                </a:solidFill>
                <a:latin typeface="Courier New"/>
                <a:ea typeface="Courier New"/>
                <a:cs typeface="Courier New"/>
                <a:sym typeface="Courier New"/>
              </a:rPr>
              <a:t>ENGINEERING</a:t>
            </a:r>
            <a:endParaRPr b="0" i="0" sz="975" u="none" cap="none" strike="noStrike">
              <a:solidFill>
                <a:schemeClr val="dk1"/>
              </a:solidFill>
              <a:latin typeface="Calibri"/>
              <a:ea typeface="Calibri"/>
              <a:cs typeface="Calibri"/>
              <a:sym typeface="Calibri"/>
            </a:endParaRPr>
          </a:p>
        </p:txBody>
      </p:sp>
      <p:sp>
        <p:nvSpPr>
          <p:cNvPr id="400" name="Google Shape;400;p14"/>
          <p:cNvSpPr/>
          <p:nvPr/>
        </p:nvSpPr>
        <p:spPr>
          <a:xfrm>
            <a:off x="1257300" y="2552700"/>
            <a:ext cx="7839265" cy="358080"/>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1F2A37"/>
              </a:buClr>
              <a:buSzPts val="1800"/>
              <a:buFont typeface="Helvetica Neue"/>
              <a:buNone/>
            </a:pPr>
            <a:r>
              <a:rPr b="1" i="0" lang="en-US" sz="1800" u="none" cap="none" strike="noStrike">
                <a:solidFill>
                  <a:srgbClr val="1F2A37"/>
                </a:solidFill>
                <a:latin typeface="Helvetica Neue"/>
                <a:ea typeface="Helvetica Neue"/>
                <a:cs typeface="Helvetica Neue"/>
                <a:sym typeface="Helvetica Neue"/>
              </a:rPr>
              <a:t>GitHub Actions CI </a:t>
            </a:r>
            <a:r>
              <a:rPr b="0" i="0" lang="en-US" sz="1800" u="none" cap="none" strike="noStrike">
                <a:solidFill>
                  <a:srgbClr val="3A4A5A"/>
                </a:solidFill>
                <a:latin typeface="Helvetica Neue"/>
                <a:ea typeface="Helvetica Neue"/>
                <a:cs typeface="Helvetica Neue"/>
                <a:sym typeface="Helvetica Neue"/>
              </a:rPr>
              <a:t>on every push · static checks + </a:t>
            </a:r>
            <a:r>
              <a:rPr lang="en-US" sz="1800">
                <a:solidFill>
                  <a:srgbClr val="3A4A5A"/>
                </a:solidFill>
                <a:latin typeface="Helvetica Neue"/>
                <a:ea typeface="Helvetica Neue"/>
                <a:cs typeface="Helvetica Neue"/>
                <a:sym typeface="Helvetica Neue"/>
              </a:rPr>
              <a:t>50</a:t>
            </a:r>
            <a:r>
              <a:rPr b="0" i="0" lang="en-US" sz="1800" u="none" cap="none" strike="noStrike">
                <a:solidFill>
                  <a:srgbClr val="3A4A5A"/>
                </a:solidFill>
                <a:latin typeface="Helvetica Neue"/>
                <a:ea typeface="Helvetica Neue"/>
                <a:cs typeface="Helvetica Neue"/>
                <a:sym typeface="Helvetica Neue"/>
              </a:rPr>
              <a:t> pytest test</a:t>
            </a:r>
            <a:r>
              <a:rPr lang="en-US" sz="1800">
                <a:solidFill>
                  <a:srgbClr val="3A4A5A"/>
                </a:solidFill>
                <a:latin typeface="Helvetica Neue"/>
                <a:ea typeface="Helvetica Neue"/>
                <a:cs typeface="Helvetica Neue"/>
                <a:sym typeface="Helvetica Neue"/>
              </a:rPr>
              <a:t> </a:t>
            </a:r>
            <a:r>
              <a:rPr b="0" i="0" lang="en-US" sz="1800" u="none" cap="none" strike="noStrike">
                <a:solidFill>
                  <a:srgbClr val="3A4A5A"/>
                </a:solidFill>
                <a:latin typeface="Helvetica Neue"/>
                <a:ea typeface="Helvetica Neue"/>
                <a:cs typeface="Helvetica Neue"/>
                <a:sym typeface="Helvetica Neue"/>
              </a:rPr>
              <a:t>.</a:t>
            </a:r>
            <a:endParaRPr b="0" i="0" sz="1800" u="none" cap="none" strike="noStrike">
              <a:solidFill>
                <a:schemeClr val="dk1"/>
              </a:solidFill>
              <a:latin typeface="Calibri"/>
              <a:ea typeface="Calibri"/>
              <a:cs typeface="Calibri"/>
              <a:sym typeface="Calibri"/>
            </a:endParaRPr>
          </a:p>
        </p:txBody>
      </p:sp>
      <p:sp>
        <p:nvSpPr>
          <p:cNvPr id="401" name="Google Shape;401;p14"/>
          <p:cNvSpPr/>
          <p:nvPr/>
        </p:nvSpPr>
        <p:spPr>
          <a:xfrm>
            <a:off x="1257300" y="3006030"/>
            <a:ext cx="7839265" cy="358080"/>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1F2A37"/>
              </a:buClr>
              <a:buSzPts val="1800"/>
              <a:buFont typeface="Helvetica Neue"/>
              <a:buNone/>
            </a:pPr>
            <a:r>
              <a:rPr b="1" i="0" lang="en-US" sz="1800" u="none" cap="none" strike="noStrike">
                <a:solidFill>
                  <a:srgbClr val="1F2A37"/>
                </a:solidFill>
                <a:latin typeface="Helvetica Neue"/>
                <a:ea typeface="Helvetica Neue"/>
                <a:cs typeface="Helvetica Neue"/>
                <a:sym typeface="Helvetica Neue"/>
              </a:rPr>
              <a:t>Docker </a:t>
            </a:r>
            <a:r>
              <a:rPr b="0" i="0" lang="en-US" sz="1800" u="none" cap="none" strike="noStrike">
                <a:solidFill>
                  <a:srgbClr val="3A4A5A"/>
                </a:solidFill>
                <a:latin typeface="Helvetica Neue"/>
                <a:ea typeface="Helvetica Neue"/>
                <a:cs typeface="Helvetica Neue"/>
                <a:sym typeface="Helvetica Neue"/>
              </a:rPr>
              <a:t>health-probe container for the API surface.</a:t>
            </a:r>
            <a:endParaRPr b="0" i="0" sz="1800" u="none" cap="none" strike="noStrike">
              <a:solidFill>
                <a:schemeClr val="dk1"/>
              </a:solidFill>
              <a:latin typeface="Calibri"/>
              <a:ea typeface="Calibri"/>
              <a:cs typeface="Calibri"/>
              <a:sym typeface="Calibri"/>
            </a:endParaRPr>
          </a:p>
        </p:txBody>
      </p:sp>
      <p:sp>
        <p:nvSpPr>
          <p:cNvPr id="402" name="Google Shape;402;p14"/>
          <p:cNvSpPr/>
          <p:nvPr/>
        </p:nvSpPr>
        <p:spPr>
          <a:xfrm>
            <a:off x="1257300" y="3459361"/>
            <a:ext cx="7839265" cy="358080"/>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1F2A37"/>
              </a:buClr>
              <a:buSzPts val="1800"/>
              <a:buFont typeface="Helvetica Neue"/>
              <a:buNone/>
            </a:pPr>
            <a:r>
              <a:rPr b="1" i="0" lang="en-US" sz="1800" u="none" cap="none" strike="noStrike">
                <a:solidFill>
                  <a:srgbClr val="1F2A37"/>
                </a:solidFill>
                <a:latin typeface="Helvetica Neue"/>
                <a:ea typeface="Helvetica Neue"/>
                <a:cs typeface="Helvetica Neue"/>
                <a:sym typeface="Helvetica Neue"/>
              </a:rPr>
              <a:t>Makefile </a:t>
            </a:r>
            <a:r>
              <a:rPr b="0" i="0" lang="en-US" sz="1800" u="none" cap="none" strike="noStrike">
                <a:solidFill>
                  <a:srgbClr val="3A4A5A"/>
                </a:solidFill>
                <a:latin typeface="Helvetica Neue"/>
                <a:ea typeface="Helvetica Neue"/>
                <a:cs typeface="Helvetica Neue"/>
                <a:sym typeface="Helvetica Neue"/>
              </a:rPr>
              <a:t>wraps every operator action</a:t>
            </a:r>
            <a:r>
              <a:rPr lang="en-US" sz="1800">
                <a:solidFill>
                  <a:srgbClr val="3A4A5A"/>
                </a:solidFill>
                <a:latin typeface="Helvetica Neue"/>
                <a:ea typeface="Helvetica Neue"/>
                <a:cs typeface="Helvetica Neue"/>
                <a:sym typeface="Helvetica Neue"/>
              </a:rPr>
              <a:t> (make check,make health …)</a:t>
            </a:r>
            <a:endParaRPr b="0" i="0" sz="1800" u="none" cap="none" strike="noStrike">
              <a:solidFill>
                <a:schemeClr val="dk1"/>
              </a:solidFill>
              <a:latin typeface="Calibri"/>
              <a:ea typeface="Calibri"/>
              <a:cs typeface="Calibri"/>
              <a:sym typeface="Calibri"/>
            </a:endParaRPr>
          </a:p>
        </p:txBody>
      </p:sp>
      <p:sp>
        <p:nvSpPr>
          <p:cNvPr id="403" name="Google Shape;403;p14"/>
          <p:cNvSpPr/>
          <p:nvPr/>
        </p:nvSpPr>
        <p:spPr>
          <a:xfrm>
            <a:off x="1257300" y="3912700"/>
            <a:ext cx="8515500" cy="358200"/>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1F2A37"/>
              </a:buClr>
              <a:buSzPts val="1800"/>
              <a:buFont typeface="Helvetica Neue"/>
              <a:buNone/>
            </a:pPr>
            <a:r>
              <a:rPr b="1" i="0" lang="en-US" sz="1800" u="none" cap="none" strike="noStrike">
                <a:solidFill>
                  <a:srgbClr val="1F2A37"/>
                </a:solidFill>
                <a:latin typeface="Helvetica Neue"/>
                <a:ea typeface="Helvetica Neue"/>
                <a:cs typeface="Helvetica Neue"/>
                <a:sym typeface="Helvetica Neue"/>
              </a:rPr>
              <a:t>Twelve-factor </a:t>
            </a:r>
            <a:r>
              <a:rPr b="0" i="0" lang="en-US" sz="1800" u="none" cap="none" strike="noStrike">
                <a:solidFill>
                  <a:srgbClr val="3A4A5A"/>
                </a:solidFill>
                <a:latin typeface="Helvetica Neue"/>
                <a:ea typeface="Helvetica Neue"/>
                <a:cs typeface="Helvetica Neue"/>
                <a:sym typeface="Helvetica Neue"/>
              </a:rPr>
              <a:t>· 10 fully met · 1 N/A </a:t>
            </a:r>
            <a:r>
              <a:rPr lang="en-US" sz="1800">
                <a:solidFill>
                  <a:srgbClr val="3A4A5A"/>
                </a:solidFill>
                <a:latin typeface="Helvetica Neue"/>
                <a:ea typeface="Helvetica Neue"/>
                <a:cs typeface="Helvetica Neue"/>
                <a:sym typeface="Helvetica Neue"/>
              </a:rPr>
              <a:t> (Port binding )</a:t>
            </a:r>
            <a:r>
              <a:rPr b="0" i="0" lang="en-US" sz="1800" u="none" cap="none" strike="noStrike">
                <a:solidFill>
                  <a:srgbClr val="3A4A5A"/>
                </a:solidFill>
                <a:latin typeface="Helvetica Neue"/>
                <a:ea typeface="Helvetica Neue"/>
                <a:cs typeface="Helvetica Neue"/>
                <a:sym typeface="Helvetica Neue"/>
              </a:rPr>
              <a:t> · 1 partial </a:t>
            </a:r>
            <a:r>
              <a:rPr lang="en-US" sz="1800">
                <a:solidFill>
                  <a:srgbClr val="3A4A5A"/>
                </a:solidFill>
                <a:latin typeface="Helvetica Neue"/>
                <a:ea typeface="Helvetica Neue"/>
                <a:cs typeface="Helvetica Neue"/>
                <a:sym typeface="Helvetica Neue"/>
              </a:rPr>
              <a:t>(Dev/prod parity )</a:t>
            </a:r>
            <a:endParaRPr b="0" i="0" sz="1800" u="none" cap="none" strike="noStrike">
              <a:solidFill>
                <a:schemeClr val="dk1"/>
              </a:solidFill>
              <a:latin typeface="Calibri"/>
              <a:ea typeface="Calibri"/>
              <a:cs typeface="Calibri"/>
              <a:sym typeface="Calibri"/>
            </a:endParaRPr>
          </a:p>
        </p:txBody>
      </p:sp>
      <p:sp>
        <p:nvSpPr>
          <p:cNvPr id="404" name="Google Shape;404;p14"/>
          <p:cNvSpPr/>
          <p:nvPr/>
        </p:nvSpPr>
        <p:spPr>
          <a:xfrm>
            <a:off x="914400" y="4575572"/>
            <a:ext cx="1962150" cy="1143000"/>
          </a:xfrm>
          <a:prstGeom prst="roundRect">
            <a:avLst>
              <a:gd fmla="val 3333" name="adj"/>
            </a:avLst>
          </a:prstGeom>
          <a:solidFill>
            <a:srgbClr val="FFFFFF"/>
          </a:solidFill>
          <a:ln cap="flat" cmpd="sng" w="9525">
            <a:solidFill>
              <a:srgbClr val="E2E5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5" name="Google Shape;405;p14"/>
          <p:cNvSpPr/>
          <p:nvPr/>
        </p:nvSpPr>
        <p:spPr>
          <a:xfrm>
            <a:off x="1133475" y="4756547"/>
            <a:ext cx="1600200" cy="1905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900"/>
              <a:buFont typeface="Courier New"/>
              <a:buNone/>
            </a:pPr>
            <a:r>
              <a:rPr b="0" i="0" lang="en-US" sz="900" u="none" cap="none" strike="noStrike">
                <a:solidFill>
                  <a:srgbClr val="8A94A6"/>
                </a:solidFill>
                <a:latin typeface="Courier New"/>
                <a:ea typeface="Courier New"/>
                <a:cs typeface="Courier New"/>
                <a:sym typeface="Courier New"/>
              </a:rPr>
              <a:t>TESTS</a:t>
            </a:r>
            <a:endParaRPr b="0" i="0" sz="900" u="none" cap="none" strike="noStrike">
              <a:solidFill>
                <a:schemeClr val="dk1"/>
              </a:solidFill>
              <a:latin typeface="Calibri"/>
              <a:ea typeface="Calibri"/>
              <a:cs typeface="Calibri"/>
              <a:sym typeface="Calibri"/>
            </a:endParaRPr>
          </a:p>
        </p:txBody>
      </p:sp>
      <p:sp>
        <p:nvSpPr>
          <p:cNvPr id="406" name="Google Shape;406;p14"/>
          <p:cNvSpPr/>
          <p:nvPr/>
        </p:nvSpPr>
        <p:spPr>
          <a:xfrm>
            <a:off x="1133475" y="4985147"/>
            <a:ext cx="1600200" cy="3810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1F2A37"/>
              </a:buClr>
              <a:buSzPts val="2700"/>
              <a:buFont typeface="Helvetica Neue"/>
              <a:buNone/>
            </a:pPr>
            <a:r>
              <a:rPr b="1" lang="en-US" sz="2700">
                <a:solidFill>
                  <a:srgbClr val="1F2A37"/>
                </a:solidFill>
                <a:latin typeface="Helvetica Neue"/>
                <a:ea typeface="Helvetica Neue"/>
                <a:cs typeface="Helvetica Neue"/>
                <a:sym typeface="Helvetica Neue"/>
              </a:rPr>
              <a:t>50</a:t>
            </a:r>
            <a:endParaRPr b="0" i="0" sz="2700" u="none" cap="none" strike="noStrike">
              <a:solidFill>
                <a:schemeClr val="dk1"/>
              </a:solidFill>
              <a:latin typeface="Calibri"/>
              <a:ea typeface="Calibri"/>
              <a:cs typeface="Calibri"/>
              <a:sym typeface="Calibri"/>
            </a:endParaRPr>
          </a:p>
        </p:txBody>
      </p:sp>
      <p:sp>
        <p:nvSpPr>
          <p:cNvPr id="407" name="Google Shape;407;p14"/>
          <p:cNvSpPr/>
          <p:nvPr/>
        </p:nvSpPr>
        <p:spPr>
          <a:xfrm>
            <a:off x="1133475" y="5385197"/>
            <a:ext cx="1600200" cy="1905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900"/>
              <a:buFont typeface="Courier New"/>
              <a:buNone/>
            </a:pPr>
            <a:r>
              <a:rPr b="0" i="0" lang="en-US" sz="900" u="none" cap="none" strike="noStrike">
                <a:solidFill>
                  <a:srgbClr val="8A94A6"/>
                </a:solidFill>
                <a:latin typeface="Courier New"/>
                <a:ea typeface="Courier New"/>
                <a:cs typeface="Courier New"/>
                <a:sym typeface="Courier New"/>
              </a:rPr>
              <a:t>PYTEST</a:t>
            </a:r>
            <a:endParaRPr b="0" i="0" sz="900" u="none" cap="none" strike="noStrike">
              <a:solidFill>
                <a:schemeClr val="dk1"/>
              </a:solidFill>
              <a:latin typeface="Calibri"/>
              <a:ea typeface="Calibri"/>
              <a:cs typeface="Calibri"/>
              <a:sym typeface="Calibri"/>
            </a:endParaRPr>
          </a:p>
        </p:txBody>
      </p:sp>
      <p:sp>
        <p:nvSpPr>
          <p:cNvPr id="408" name="Google Shape;408;p14"/>
          <p:cNvSpPr/>
          <p:nvPr/>
        </p:nvSpPr>
        <p:spPr>
          <a:xfrm>
            <a:off x="3028950" y="4575572"/>
            <a:ext cx="1962150" cy="1143000"/>
          </a:xfrm>
          <a:prstGeom prst="roundRect">
            <a:avLst>
              <a:gd fmla="val 3333" name="adj"/>
            </a:avLst>
          </a:prstGeom>
          <a:solidFill>
            <a:srgbClr val="FFFFFF"/>
          </a:solidFill>
          <a:ln cap="flat" cmpd="sng" w="9525">
            <a:solidFill>
              <a:srgbClr val="E2E5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9" name="Google Shape;409;p14"/>
          <p:cNvSpPr/>
          <p:nvPr/>
        </p:nvSpPr>
        <p:spPr>
          <a:xfrm>
            <a:off x="3248025" y="4756547"/>
            <a:ext cx="1600200" cy="1905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900"/>
              <a:buFont typeface="Courier New"/>
              <a:buNone/>
            </a:pPr>
            <a:r>
              <a:rPr b="0" i="0" lang="en-US" sz="900" u="none" cap="none" strike="noStrike">
                <a:solidFill>
                  <a:srgbClr val="8A94A6"/>
                </a:solidFill>
                <a:latin typeface="Courier New"/>
                <a:ea typeface="Courier New"/>
                <a:cs typeface="Courier New"/>
                <a:sym typeface="Courier New"/>
              </a:rPr>
              <a:t>12-FACTOR</a:t>
            </a:r>
            <a:endParaRPr b="0" i="0" sz="900" u="none" cap="none" strike="noStrike">
              <a:solidFill>
                <a:schemeClr val="dk1"/>
              </a:solidFill>
              <a:latin typeface="Calibri"/>
              <a:ea typeface="Calibri"/>
              <a:cs typeface="Calibri"/>
              <a:sym typeface="Calibri"/>
            </a:endParaRPr>
          </a:p>
        </p:txBody>
      </p:sp>
      <p:sp>
        <p:nvSpPr>
          <p:cNvPr id="410" name="Google Shape;410;p14"/>
          <p:cNvSpPr/>
          <p:nvPr/>
        </p:nvSpPr>
        <p:spPr>
          <a:xfrm>
            <a:off x="3248025" y="4985147"/>
            <a:ext cx="1600200" cy="3810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1F2A37"/>
              </a:buClr>
              <a:buSzPts val="2700"/>
              <a:buFont typeface="Helvetica Neue"/>
              <a:buNone/>
            </a:pPr>
            <a:r>
              <a:rPr b="1" i="0" lang="en-US" sz="2700" u="none" cap="none" strike="noStrike">
                <a:solidFill>
                  <a:srgbClr val="1F2A37"/>
                </a:solidFill>
                <a:latin typeface="Helvetica Neue"/>
                <a:ea typeface="Helvetica Neue"/>
                <a:cs typeface="Helvetica Neue"/>
                <a:sym typeface="Helvetica Neue"/>
              </a:rPr>
              <a:t>10 / 12</a:t>
            </a:r>
            <a:endParaRPr b="0" i="0" sz="2700" u="none" cap="none" strike="noStrike">
              <a:solidFill>
                <a:schemeClr val="dk1"/>
              </a:solidFill>
              <a:latin typeface="Calibri"/>
              <a:ea typeface="Calibri"/>
              <a:cs typeface="Calibri"/>
              <a:sym typeface="Calibri"/>
            </a:endParaRPr>
          </a:p>
        </p:txBody>
      </p:sp>
      <p:sp>
        <p:nvSpPr>
          <p:cNvPr id="411" name="Google Shape;411;p14"/>
          <p:cNvSpPr/>
          <p:nvPr/>
        </p:nvSpPr>
        <p:spPr>
          <a:xfrm>
            <a:off x="5143500" y="4575572"/>
            <a:ext cx="1962150" cy="1143000"/>
          </a:xfrm>
          <a:prstGeom prst="roundRect">
            <a:avLst>
              <a:gd fmla="val 3333" name="adj"/>
            </a:avLst>
          </a:prstGeom>
          <a:solidFill>
            <a:srgbClr val="FFFFFF"/>
          </a:solidFill>
          <a:ln cap="flat" cmpd="sng" w="9525">
            <a:solidFill>
              <a:srgbClr val="E2E5EA"/>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2" name="Google Shape;412;p14"/>
          <p:cNvSpPr/>
          <p:nvPr/>
        </p:nvSpPr>
        <p:spPr>
          <a:xfrm>
            <a:off x="5362575" y="4756547"/>
            <a:ext cx="1600200" cy="1905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900"/>
              <a:buFont typeface="Courier New"/>
              <a:buNone/>
            </a:pPr>
            <a:r>
              <a:rPr b="0" i="0" lang="en-US" sz="900" u="none" cap="none" strike="noStrike">
                <a:solidFill>
                  <a:srgbClr val="8A94A6"/>
                </a:solidFill>
                <a:latin typeface="Courier New"/>
                <a:ea typeface="Courier New"/>
                <a:cs typeface="Courier New"/>
                <a:sym typeface="Courier New"/>
              </a:rPr>
              <a:t>LAMBDAS</a:t>
            </a:r>
            <a:endParaRPr b="0" i="0" sz="900" u="none" cap="none" strike="noStrike">
              <a:solidFill>
                <a:schemeClr val="dk1"/>
              </a:solidFill>
              <a:latin typeface="Calibri"/>
              <a:ea typeface="Calibri"/>
              <a:cs typeface="Calibri"/>
              <a:sym typeface="Calibri"/>
            </a:endParaRPr>
          </a:p>
        </p:txBody>
      </p:sp>
      <p:sp>
        <p:nvSpPr>
          <p:cNvPr id="413" name="Google Shape;413;p14"/>
          <p:cNvSpPr/>
          <p:nvPr/>
        </p:nvSpPr>
        <p:spPr>
          <a:xfrm>
            <a:off x="5362575" y="4985147"/>
            <a:ext cx="1600200" cy="3810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1F2A37"/>
              </a:buClr>
              <a:buSzPts val="2700"/>
              <a:buFont typeface="Helvetica Neue"/>
              <a:buNone/>
            </a:pPr>
            <a:r>
              <a:rPr b="1" i="0" lang="en-US" sz="2700" u="none" cap="none" strike="noStrike">
                <a:solidFill>
                  <a:srgbClr val="1F2A37"/>
                </a:solidFill>
                <a:latin typeface="Helvetica Neue"/>
                <a:ea typeface="Helvetica Neue"/>
                <a:cs typeface="Helvetica Neue"/>
                <a:sym typeface="Helvetica Neue"/>
              </a:rPr>
              <a:t>11</a:t>
            </a:r>
            <a:endParaRPr b="0" i="0" sz="2700" u="none" cap="none" strike="noStrike">
              <a:solidFill>
                <a:schemeClr val="dk1"/>
              </a:solidFill>
              <a:latin typeface="Calibri"/>
              <a:ea typeface="Calibri"/>
              <a:cs typeface="Calibri"/>
              <a:sym typeface="Calibri"/>
            </a:endParaRPr>
          </a:p>
        </p:txBody>
      </p:sp>
      <p:sp>
        <p:nvSpPr>
          <p:cNvPr id="414" name="Google Shape;414;p14"/>
          <p:cNvSpPr/>
          <p:nvPr/>
        </p:nvSpPr>
        <p:spPr>
          <a:xfrm>
            <a:off x="9429750" y="2095500"/>
            <a:ext cx="8182165" cy="2095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975"/>
              <a:buFont typeface="Courier New"/>
              <a:buNone/>
            </a:pPr>
            <a:r>
              <a:rPr b="0" i="0" lang="en-US" sz="975" u="none" cap="none" strike="noStrike">
                <a:solidFill>
                  <a:srgbClr val="8A94A6"/>
                </a:solidFill>
                <a:latin typeface="Courier New"/>
                <a:ea typeface="Courier New"/>
                <a:cs typeface="Courier New"/>
                <a:sym typeface="Courier New"/>
              </a:rPr>
              <a:t>LESSONS</a:t>
            </a:r>
            <a:endParaRPr b="0" i="0" sz="975" u="none" cap="none" strike="noStrike">
              <a:solidFill>
                <a:schemeClr val="dk1"/>
              </a:solidFill>
              <a:latin typeface="Calibri"/>
              <a:ea typeface="Calibri"/>
              <a:cs typeface="Calibri"/>
              <a:sym typeface="Calibri"/>
            </a:endParaRPr>
          </a:p>
        </p:txBody>
      </p:sp>
      <p:sp>
        <p:nvSpPr>
          <p:cNvPr id="415" name="Google Shape;415;p14"/>
          <p:cNvSpPr/>
          <p:nvPr/>
        </p:nvSpPr>
        <p:spPr>
          <a:xfrm>
            <a:off x="9772650" y="2564872"/>
            <a:ext cx="7839300" cy="358200"/>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1F2A37"/>
              </a:buClr>
              <a:buSzPts val="1800"/>
              <a:buFont typeface="Helvetica Neue"/>
              <a:buNone/>
            </a:pPr>
            <a:r>
              <a:rPr b="1" i="0" lang="en-US" sz="1800" u="none" cap="none" strike="noStrike">
                <a:solidFill>
                  <a:srgbClr val="1F2A37"/>
                </a:solidFill>
                <a:latin typeface="Helvetica Neue"/>
                <a:ea typeface="Helvetica Neue"/>
                <a:cs typeface="Helvetica Neue"/>
                <a:sym typeface="Helvetica Neue"/>
              </a:rPr>
              <a:t>Cross-account IAM </a:t>
            </a:r>
            <a:r>
              <a:rPr b="0" i="0" lang="en-US" sz="1800" u="none" cap="none" strike="noStrike">
                <a:solidFill>
                  <a:srgbClr val="3A4A5A"/>
                </a:solidFill>
                <a:latin typeface="Helvetica Neue"/>
                <a:ea typeface="Helvetica Neue"/>
                <a:cs typeface="Helvetica Neue"/>
                <a:sym typeface="Helvetica Neue"/>
              </a:rPr>
              <a:t>was the hardest part · the streams policy in particular.</a:t>
            </a:r>
            <a:endParaRPr b="0" i="0" sz="1800" u="none" cap="none" strike="noStrike">
              <a:solidFill>
                <a:schemeClr val="dk1"/>
              </a:solidFill>
              <a:latin typeface="Calibri"/>
              <a:ea typeface="Calibri"/>
              <a:cs typeface="Calibri"/>
              <a:sym typeface="Calibri"/>
            </a:endParaRPr>
          </a:p>
        </p:txBody>
      </p:sp>
      <p:sp>
        <p:nvSpPr>
          <p:cNvPr id="416" name="Google Shape;416;p14"/>
          <p:cNvSpPr/>
          <p:nvPr/>
        </p:nvSpPr>
        <p:spPr>
          <a:xfrm>
            <a:off x="9772650" y="3018203"/>
            <a:ext cx="7839300" cy="678000"/>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1F2A37"/>
              </a:buClr>
              <a:buSzPts val="1800"/>
              <a:buFont typeface="Helvetica Neue"/>
              <a:buNone/>
            </a:pPr>
            <a:r>
              <a:rPr b="1" i="0" lang="en-US" sz="1800" u="none" cap="none" strike="noStrike">
                <a:solidFill>
                  <a:srgbClr val="1F2A37"/>
                </a:solidFill>
                <a:latin typeface="Helvetica Neue"/>
                <a:ea typeface="Helvetica Neue"/>
                <a:cs typeface="Helvetica Neue"/>
                <a:sym typeface="Helvetica Neue"/>
              </a:rPr>
              <a:t>Probabilistic validation </a:t>
            </a:r>
            <a:r>
              <a:rPr b="0" i="0" lang="en-US" sz="1800" u="none" cap="none" strike="noStrike">
                <a:solidFill>
                  <a:srgbClr val="3A4A5A"/>
                </a:solidFill>
                <a:latin typeface="Helvetica Neue"/>
                <a:ea typeface="Helvetica Neue"/>
                <a:cs typeface="Helvetica Neue"/>
                <a:sym typeface="Helvetica Neue"/>
              </a:rPr>
              <a:t>only works on real data · the P90 story matured late.</a:t>
            </a:r>
            <a:endParaRPr b="0" i="0" sz="1800" u="none" cap="none" strike="noStrike">
              <a:solidFill>
                <a:schemeClr val="dk1"/>
              </a:solidFill>
              <a:latin typeface="Calibri"/>
              <a:ea typeface="Calibri"/>
              <a:cs typeface="Calibri"/>
              <a:sym typeface="Calibri"/>
            </a:endParaRPr>
          </a:p>
        </p:txBody>
      </p:sp>
      <p:sp>
        <p:nvSpPr>
          <p:cNvPr id="417" name="Google Shape;417;p14"/>
          <p:cNvSpPr/>
          <p:nvPr/>
        </p:nvSpPr>
        <p:spPr>
          <a:xfrm>
            <a:off x="9772650" y="3791514"/>
            <a:ext cx="7839300" cy="678000"/>
          </a:xfrm>
          <a:prstGeom prst="rect">
            <a:avLst/>
          </a:prstGeom>
          <a:noFill/>
          <a:ln>
            <a:noFill/>
          </a:ln>
        </p:spPr>
        <p:txBody>
          <a:bodyPr anchorCtr="0" anchor="t" bIns="25400" lIns="25400" spcFirstLastPara="1" rIns="25400" wrap="square" tIns="25400">
            <a:normAutofit/>
          </a:bodyPr>
          <a:lstStyle/>
          <a:p>
            <a:pPr indent="0" lvl="0" marL="0" marR="0" rtl="0" algn="l">
              <a:lnSpc>
                <a:spcPct val="140000"/>
              </a:lnSpc>
              <a:spcBef>
                <a:spcPts val="0"/>
              </a:spcBef>
              <a:spcAft>
                <a:spcPts val="0"/>
              </a:spcAft>
              <a:buClr>
                <a:srgbClr val="3A4A5A"/>
              </a:buClr>
              <a:buSzPts val="1800"/>
              <a:buFont typeface="Helvetica Neue"/>
              <a:buNone/>
            </a:pPr>
            <a:r>
              <a:rPr b="0" i="0" lang="en-US" sz="1800" u="none" cap="none" strike="noStrike">
                <a:solidFill>
                  <a:srgbClr val="3A4A5A"/>
                </a:solidFill>
                <a:latin typeface="Helvetica Neue"/>
                <a:ea typeface="Helvetica Neue"/>
                <a:cs typeface="Helvetica Neue"/>
                <a:sym typeface="Helvetica Neue"/>
              </a:rPr>
              <a:t>Pivoted away from </a:t>
            </a:r>
            <a:r>
              <a:rPr b="1" i="0" lang="en-US" sz="1800" u="none" cap="none" strike="noStrike">
                <a:solidFill>
                  <a:srgbClr val="1F2A37"/>
                </a:solidFill>
                <a:latin typeface="Helvetica Neue"/>
                <a:ea typeface="Helvetica Neue"/>
                <a:cs typeface="Helvetica Neue"/>
                <a:sym typeface="Helvetica Neue"/>
              </a:rPr>
              <a:t>AWS Forecast </a:t>
            </a:r>
            <a:r>
              <a:rPr b="0" i="0" lang="en-US" sz="1800" u="none" cap="none" strike="noStrike">
                <a:solidFill>
                  <a:srgbClr val="3A4A5A"/>
                </a:solidFill>
                <a:latin typeface="Helvetica Neue"/>
                <a:ea typeface="Helvetica Neue"/>
                <a:cs typeface="Helvetica Neue"/>
                <a:sym typeface="Helvetica Neue"/>
              </a:rPr>
              <a:t>early · DeepAR gave us the control we needed.</a:t>
            </a:r>
            <a:endParaRPr b="0" i="0" sz="1800" u="none" cap="none" strike="noStrike">
              <a:solidFill>
                <a:schemeClr val="dk1"/>
              </a:solidFill>
              <a:latin typeface="Calibri"/>
              <a:ea typeface="Calibri"/>
              <a:cs typeface="Calibri"/>
              <a:sym typeface="Calibri"/>
            </a:endParaRPr>
          </a:p>
        </p:txBody>
      </p:sp>
      <p:sp>
        <p:nvSpPr>
          <p:cNvPr id="418" name="Google Shape;418;p14"/>
          <p:cNvSpPr/>
          <p:nvPr/>
        </p:nvSpPr>
        <p:spPr>
          <a:xfrm>
            <a:off x="914400" y="7000875"/>
            <a:ext cx="16459200" cy="9525"/>
          </a:xfrm>
          <a:prstGeom prst="rect">
            <a:avLst/>
          </a:prstGeom>
          <a:solidFill>
            <a:srgbClr val="E2E5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9" name="Google Shape;419;p14"/>
          <p:cNvSpPr/>
          <p:nvPr/>
        </p:nvSpPr>
        <p:spPr>
          <a:xfrm>
            <a:off x="914400" y="7162800"/>
            <a:ext cx="16952976" cy="2095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975"/>
              <a:buFont typeface="Courier New"/>
              <a:buNone/>
            </a:pPr>
            <a:r>
              <a:rPr b="0" i="0" lang="en-US" sz="975" u="none" cap="none" strike="noStrike">
                <a:solidFill>
                  <a:srgbClr val="8A94A6"/>
                </a:solidFill>
                <a:latin typeface="Courier New"/>
                <a:ea typeface="Courier New"/>
                <a:cs typeface="Courier New"/>
                <a:sym typeface="Courier New"/>
              </a:rPr>
              <a:t>COST · ACADEMIC CREDIT USAGE</a:t>
            </a:r>
            <a:endParaRPr b="0" i="0" sz="975" u="none" cap="none" strike="noStrike">
              <a:solidFill>
                <a:schemeClr val="dk1"/>
              </a:solidFill>
              <a:latin typeface="Calibri"/>
              <a:ea typeface="Calibri"/>
              <a:cs typeface="Calibri"/>
              <a:sym typeface="Calibri"/>
            </a:endParaRPr>
          </a:p>
        </p:txBody>
      </p:sp>
      <p:sp>
        <p:nvSpPr>
          <p:cNvPr id="420" name="Google Shape;420;p14"/>
          <p:cNvSpPr/>
          <p:nvPr/>
        </p:nvSpPr>
        <p:spPr>
          <a:xfrm>
            <a:off x="914400" y="7448550"/>
            <a:ext cx="5346650" cy="1219200"/>
          </a:xfrm>
          <a:prstGeom prst="roundRect">
            <a:avLst>
              <a:gd fmla="val 3125"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14"/>
          <p:cNvSpPr/>
          <p:nvPr/>
        </p:nvSpPr>
        <p:spPr>
          <a:xfrm>
            <a:off x="914400" y="8658225"/>
            <a:ext cx="5346650" cy="9525"/>
          </a:xfrm>
          <a:prstGeom prst="rect">
            <a:avLst/>
          </a:prstGeom>
          <a:solidFill>
            <a:srgbClr val="E2E5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2" name="Google Shape;422;p14"/>
          <p:cNvSpPr/>
          <p:nvPr/>
        </p:nvSpPr>
        <p:spPr>
          <a:xfrm>
            <a:off x="914400" y="7448550"/>
            <a:ext cx="5346650" cy="9525"/>
          </a:xfrm>
          <a:prstGeom prst="rect">
            <a:avLst/>
          </a:prstGeom>
          <a:solidFill>
            <a:srgbClr val="E2E5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3" name="Google Shape;423;p14"/>
          <p:cNvSpPr/>
          <p:nvPr/>
        </p:nvSpPr>
        <p:spPr>
          <a:xfrm>
            <a:off x="914400" y="7448550"/>
            <a:ext cx="28575" cy="1219200"/>
          </a:xfrm>
          <a:prstGeom prst="rect">
            <a:avLst/>
          </a:prstGeom>
          <a:solidFill>
            <a:srgbClr val="F5A6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4" name="Google Shape;424;p14"/>
          <p:cNvSpPr/>
          <p:nvPr/>
        </p:nvSpPr>
        <p:spPr>
          <a:xfrm>
            <a:off x="6251525" y="7448550"/>
            <a:ext cx="9525" cy="1219200"/>
          </a:xfrm>
          <a:prstGeom prst="rect">
            <a:avLst/>
          </a:prstGeom>
          <a:solidFill>
            <a:srgbClr val="E2E5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5" name="Google Shape;425;p14"/>
          <p:cNvSpPr/>
          <p:nvPr/>
        </p:nvSpPr>
        <p:spPr>
          <a:xfrm>
            <a:off x="1152525" y="7629525"/>
            <a:ext cx="5036134" cy="1905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900"/>
              <a:buFont typeface="Courier New"/>
              <a:buNone/>
            </a:pPr>
            <a:r>
              <a:rPr b="0" i="0" lang="en-US" sz="900" u="none" cap="none" strike="noStrike">
                <a:solidFill>
                  <a:srgbClr val="8A94A6"/>
                </a:solidFill>
                <a:latin typeface="Courier New"/>
                <a:ea typeface="Courier New"/>
                <a:cs typeface="Courier New"/>
                <a:sym typeface="Courier New"/>
              </a:rPr>
              <a:t>TOTAL SPEND</a:t>
            </a:r>
            <a:endParaRPr b="0" i="0" sz="900" u="none" cap="none" strike="noStrike">
              <a:solidFill>
                <a:schemeClr val="dk1"/>
              </a:solidFill>
              <a:latin typeface="Calibri"/>
              <a:ea typeface="Calibri"/>
              <a:cs typeface="Calibri"/>
              <a:sym typeface="Calibri"/>
            </a:endParaRPr>
          </a:p>
        </p:txBody>
      </p:sp>
      <p:sp>
        <p:nvSpPr>
          <p:cNvPr id="426" name="Google Shape;426;p14"/>
          <p:cNvSpPr/>
          <p:nvPr/>
        </p:nvSpPr>
        <p:spPr>
          <a:xfrm>
            <a:off x="1152525" y="7858125"/>
            <a:ext cx="5036134" cy="4572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F5A623"/>
              </a:buClr>
              <a:buSzPts val="3300"/>
              <a:buFont typeface="Helvetica Neue"/>
              <a:buNone/>
            </a:pPr>
            <a:r>
              <a:rPr b="1" i="0" lang="en-US" sz="3300" u="none" cap="none" strike="noStrike">
                <a:solidFill>
                  <a:srgbClr val="F5A623"/>
                </a:solidFill>
                <a:latin typeface="Helvetica Neue"/>
                <a:ea typeface="Helvetica Neue"/>
                <a:cs typeface="Helvetica Neue"/>
                <a:sym typeface="Helvetica Neue"/>
              </a:rPr>
              <a:t>$0.35</a:t>
            </a:r>
            <a:endParaRPr b="0" i="0" sz="3300" u="none" cap="none" strike="noStrike">
              <a:solidFill>
                <a:schemeClr val="dk1"/>
              </a:solidFill>
              <a:latin typeface="Calibri"/>
              <a:ea typeface="Calibri"/>
              <a:cs typeface="Calibri"/>
              <a:sym typeface="Calibri"/>
            </a:endParaRPr>
          </a:p>
        </p:txBody>
      </p:sp>
      <p:sp>
        <p:nvSpPr>
          <p:cNvPr id="427" name="Google Shape;427;p14"/>
          <p:cNvSpPr/>
          <p:nvPr/>
        </p:nvSpPr>
        <p:spPr>
          <a:xfrm>
            <a:off x="1152525" y="8334375"/>
            <a:ext cx="5036134" cy="1905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900"/>
              <a:buFont typeface="Courier New"/>
              <a:buNone/>
            </a:pPr>
            <a:r>
              <a:rPr b="0" i="0" lang="en-US" sz="900" u="none" cap="none" strike="noStrike">
                <a:solidFill>
                  <a:srgbClr val="8A94A6"/>
                </a:solidFill>
                <a:latin typeface="Courier New"/>
                <a:ea typeface="Courier New"/>
                <a:cs typeface="Courier New"/>
                <a:sym typeface="Courier New"/>
              </a:rPr>
              <a:t>OF $100 ACADEMIC CREDIT</a:t>
            </a:r>
            <a:endParaRPr b="0" i="0" sz="900" u="none" cap="none" strike="noStrike">
              <a:solidFill>
                <a:schemeClr val="dk1"/>
              </a:solidFill>
              <a:latin typeface="Calibri"/>
              <a:ea typeface="Calibri"/>
              <a:cs typeface="Calibri"/>
              <a:sym typeface="Calibri"/>
            </a:endParaRPr>
          </a:p>
        </p:txBody>
      </p:sp>
      <p:sp>
        <p:nvSpPr>
          <p:cNvPr id="428" name="Google Shape;428;p14"/>
          <p:cNvSpPr/>
          <p:nvPr/>
        </p:nvSpPr>
        <p:spPr>
          <a:xfrm>
            <a:off x="6470600" y="7448550"/>
            <a:ext cx="5346650" cy="1219200"/>
          </a:xfrm>
          <a:prstGeom prst="roundRect">
            <a:avLst>
              <a:gd fmla="val 3125"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p14"/>
          <p:cNvSpPr/>
          <p:nvPr/>
        </p:nvSpPr>
        <p:spPr>
          <a:xfrm>
            <a:off x="6470600" y="8658225"/>
            <a:ext cx="5346650" cy="9525"/>
          </a:xfrm>
          <a:prstGeom prst="rect">
            <a:avLst/>
          </a:prstGeom>
          <a:solidFill>
            <a:srgbClr val="E2E5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0" name="Google Shape;430;p14"/>
          <p:cNvSpPr/>
          <p:nvPr/>
        </p:nvSpPr>
        <p:spPr>
          <a:xfrm>
            <a:off x="6470600" y="7448550"/>
            <a:ext cx="5346650" cy="9525"/>
          </a:xfrm>
          <a:prstGeom prst="rect">
            <a:avLst/>
          </a:prstGeom>
          <a:solidFill>
            <a:srgbClr val="E2E5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1" name="Google Shape;431;p14"/>
          <p:cNvSpPr/>
          <p:nvPr/>
        </p:nvSpPr>
        <p:spPr>
          <a:xfrm>
            <a:off x="6470600" y="7448550"/>
            <a:ext cx="28575" cy="1219200"/>
          </a:xfrm>
          <a:prstGeom prst="rect">
            <a:avLst/>
          </a:prstGeom>
          <a:solidFill>
            <a:srgbClr val="F5A6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14"/>
          <p:cNvSpPr/>
          <p:nvPr/>
        </p:nvSpPr>
        <p:spPr>
          <a:xfrm>
            <a:off x="11807726" y="7448550"/>
            <a:ext cx="9525" cy="1219200"/>
          </a:xfrm>
          <a:prstGeom prst="rect">
            <a:avLst/>
          </a:prstGeom>
          <a:solidFill>
            <a:srgbClr val="E2E5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3" name="Google Shape;433;p14"/>
          <p:cNvSpPr/>
          <p:nvPr/>
        </p:nvSpPr>
        <p:spPr>
          <a:xfrm>
            <a:off x="6708725" y="7629525"/>
            <a:ext cx="5036134" cy="1905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900"/>
              <a:buFont typeface="Courier New"/>
              <a:buNone/>
            </a:pPr>
            <a:r>
              <a:rPr b="0" i="0" lang="en-US" sz="900" u="none" cap="none" strike="noStrike">
                <a:solidFill>
                  <a:srgbClr val="8A94A6"/>
                </a:solidFill>
                <a:latin typeface="Courier New"/>
                <a:ea typeface="Courier New"/>
                <a:cs typeface="Courier New"/>
                <a:sym typeface="Courier New"/>
              </a:rPr>
              <a:t>STEADY-STATE</a:t>
            </a:r>
            <a:endParaRPr b="0" i="0" sz="900" u="none" cap="none" strike="noStrike">
              <a:solidFill>
                <a:schemeClr val="dk1"/>
              </a:solidFill>
              <a:latin typeface="Calibri"/>
              <a:ea typeface="Calibri"/>
              <a:cs typeface="Calibri"/>
              <a:sym typeface="Calibri"/>
            </a:endParaRPr>
          </a:p>
        </p:txBody>
      </p:sp>
      <p:sp>
        <p:nvSpPr>
          <p:cNvPr id="434" name="Google Shape;434;p14"/>
          <p:cNvSpPr/>
          <p:nvPr/>
        </p:nvSpPr>
        <p:spPr>
          <a:xfrm>
            <a:off x="6708725" y="7858125"/>
            <a:ext cx="5036134" cy="4572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F5A623"/>
              </a:buClr>
              <a:buSzPts val="3300"/>
              <a:buFont typeface="Helvetica Neue"/>
              <a:buNone/>
            </a:pPr>
            <a:r>
              <a:rPr b="1" i="0" lang="en-US" sz="3300" u="none" cap="none" strike="noStrike">
                <a:solidFill>
                  <a:srgbClr val="F5A623"/>
                </a:solidFill>
                <a:latin typeface="Helvetica Neue"/>
                <a:ea typeface="Helvetica Neue"/>
                <a:cs typeface="Helvetica Neue"/>
                <a:sym typeface="Helvetica Neue"/>
              </a:rPr>
              <a:t>$0.20 / mo</a:t>
            </a:r>
            <a:endParaRPr b="0" i="0" sz="3300" u="none" cap="none" strike="noStrike">
              <a:solidFill>
                <a:schemeClr val="dk1"/>
              </a:solidFill>
              <a:latin typeface="Calibri"/>
              <a:ea typeface="Calibri"/>
              <a:cs typeface="Calibri"/>
              <a:sym typeface="Calibri"/>
            </a:endParaRPr>
          </a:p>
        </p:txBody>
      </p:sp>
      <p:sp>
        <p:nvSpPr>
          <p:cNvPr id="435" name="Google Shape;435;p14"/>
          <p:cNvSpPr/>
          <p:nvPr/>
        </p:nvSpPr>
        <p:spPr>
          <a:xfrm>
            <a:off x="6708725" y="8334375"/>
            <a:ext cx="5036134" cy="1905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900"/>
              <a:buFont typeface="Courier New"/>
              <a:buNone/>
            </a:pPr>
            <a:r>
              <a:rPr lang="en-US" sz="900">
                <a:solidFill>
                  <a:srgbClr val="8A94A6"/>
                </a:solidFill>
                <a:latin typeface="Courier New"/>
                <a:ea typeface="Courier New"/>
                <a:cs typeface="Courier New"/>
                <a:sym typeface="Courier New"/>
              </a:rPr>
              <a:t>GLUE + S3; COMPUTE SCALES TO ZERO</a:t>
            </a:r>
            <a:endParaRPr b="0" i="0" sz="900" u="none" cap="none" strike="noStrike">
              <a:solidFill>
                <a:schemeClr val="dk1"/>
              </a:solidFill>
              <a:latin typeface="Calibri"/>
              <a:ea typeface="Calibri"/>
              <a:cs typeface="Calibri"/>
              <a:sym typeface="Calibri"/>
            </a:endParaRPr>
          </a:p>
        </p:txBody>
      </p:sp>
      <p:sp>
        <p:nvSpPr>
          <p:cNvPr id="436" name="Google Shape;436;p14"/>
          <p:cNvSpPr/>
          <p:nvPr/>
        </p:nvSpPr>
        <p:spPr>
          <a:xfrm>
            <a:off x="12026801" y="7448550"/>
            <a:ext cx="5346650" cy="1219200"/>
          </a:xfrm>
          <a:prstGeom prst="roundRect">
            <a:avLst>
              <a:gd fmla="val 3125" name="adj"/>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7" name="Google Shape;437;p14"/>
          <p:cNvSpPr/>
          <p:nvPr/>
        </p:nvSpPr>
        <p:spPr>
          <a:xfrm>
            <a:off x="12026801" y="8658225"/>
            <a:ext cx="5346650" cy="9525"/>
          </a:xfrm>
          <a:prstGeom prst="rect">
            <a:avLst/>
          </a:prstGeom>
          <a:solidFill>
            <a:srgbClr val="E2E5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8" name="Google Shape;438;p14"/>
          <p:cNvSpPr/>
          <p:nvPr/>
        </p:nvSpPr>
        <p:spPr>
          <a:xfrm>
            <a:off x="12026801" y="7448550"/>
            <a:ext cx="5346650" cy="9525"/>
          </a:xfrm>
          <a:prstGeom prst="rect">
            <a:avLst/>
          </a:prstGeom>
          <a:solidFill>
            <a:srgbClr val="E2E5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9" name="Google Shape;439;p14"/>
          <p:cNvSpPr/>
          <p:nvPr/>
        </p:nvSpPr>
        <p:spPr>
          <a:xfrm>
            <a:off x="12026801" y="7448550"/>
            <a:ext cx="28575" cy="1219200"/>
          </a:xfrm>
          <a:prstGeom prst="rect">
            <a:avLst/>
          </a:prstGeom>
          <a:solidFill>
            <a:srgbClr val="F5A62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0" name="Google Shape;440;p14"/>
          <p:cNvSpPr/>
          <p:nvPr/>
        </p:nvSpPr>
        <p:spPr>
          <a:xfrm>
            <a:off x="17363926" y="7448550"/>
            <a:ext cx="9525" cy="1219200"/>
          </a:xfrm>
          <a:prstGeom prst="rect">
            <a:avLst/>
          </a:prstGeom>
          <a:solidFill>
            <a:srgbClr val="E2E5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1" name="Google Shape;441;p14"/>
          <p:cNvSpPr/>
          <p:nvPr/>
        </p:nvSpPr>
        <p:spPr>
          <a:xfrm>
            <a:off x="12264926" y="7629525"/>
            <a:ext cx="5036134" cy="1905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900"/>
              <a:buFont typeface="Courier New"/>
              <a:buNone/>
            </a:pPr>
            <a:r>
              <a:rPr b="0" i="0" lang="en-US" sz="900" u="none" cap="none" strike="noStrike">
                <a:solidFill>
                  <a:srgbClr val="8A94A6"/>
                </a:solidFill>
                <a:latin typeface="Courier New"/>
                <a:ea typeface="Courier New"/>
                <a:cs typeface="Courier New"/>
                <a:sym typeface="Courier New"/>
              </a:rPr>
              <a:t>AVOIDED</a:t>
            </a:r>
            <a:endParaRPr b="0" i="0" sz="900" u="none" cap="none" strike="noStrike">
              <a:solidFill>
                <a:schemeClr val="dk1"/>
              </a:solidFill>
              <a:latin typeface="Calibri"/>
              <a:ea typeface="Calibri"/>
              <a:cs typeface="Calibri"/>
              <a:sym typeface="Calibri"/>
            </a:endParaRPr>
          </a:p>
        </p:txBody>
      </p:sp>
      <p:sp>
        <p:nvSpPr>
          <p:cNvPr id="442" name="Google Shape;442;p14"/>
          <p:cNvSpPr/>
          <p:nvPr/>
        </p:nvSpPr>
        <p:spPr>
          <a:xfrm>
            <a:off x="12264926" y="7858125"/>
            <a:ext cx="5036134" cy="457200"/>
          </a:xfrm>
          <a:prstGeom prst="rect">
            <a:avLst/>
          </a:prstGeom>
          <a:noFill/>
          <a:ln>
            <a:noFill/>
          </a:ln>
        </p:spPr>
        <p:txBody>
          <a:bodyPr anchorCtr="0" anchor="t" bIns="25400" lIns="25400" spcFirstLastPara="1" rIns="25400" wrap="square" tIns="25400">
            <a:normAutofit/>
          </a:bodyPr>
          <a:lstStyle/>
          <a:p>
            <a:pPr indent="0" lvl="0" marL="0" marR="0" rtl="0" algn="l">
              <a:lnSpc>
                <a:spcPct val="100000"/>
              </a:lnSpc>
              <a:spcBef>
                <a:spcPts val="0"/>
              </a:spcBef>
              <a:spcAft>
                <a:spcPts val="0"/>
              </a:spcAft>
              <a:buClr>
                <a:srgbClr val="F5A623"/>
              </a:buClr>
              <a:buSzPts val="3300"/>
              <a:buFont typeface="Helvetica Neue"/>
              <a:buNone/>
            </a:pPr>
            <a:r>
              <a:rPr b="1" i="0" lang="en-US" sz="3300" u="none" cap="none" strike="noStrike">
                <a:solidFill>
                  <a:srgbClr val="F5A623"/>
                </a:solidFill>
                <a:latin typeface="Helvetica Neue"/>
                <a:ea typeface="Helvetica Neue"/>
                <a:cs typeface="Helvetica Neue"/>
                <a:sym typeface="Helvetica Neue"/>
              </a:rPr>
              <a:t>~$43 / mo</a:t>
            </a:r>
            <a:endParaRPr b="0" i="0" sz="3300" u="none" cap="none" strike="noStrike">
              <a:solidFill>
                <a:schemeClr val="dk1"/>
              </a:solidFill>
              <a:latin typeface="Calibri"/>
              <a:ea typeface="Calibri"/>
              <a:cs typeface="Calibri"/>
              <a:sym typeface="Calibri"/>
            </a:endParaRPr>
          </a:p>
        </p:txBody>
      </p:sp>
      <p:sp>
        <p:nvSpPr>
          <p:cNvPr id="443" name="Google Shape;443;p14"/>
          <p:cNvSpPr/>
          <p:nvPr/>
        </p:nvSpPr>
        <p:spPr>
          <a:xfrm>
            <a:off x="12264926" y="8334375"/>
            <a:ext cx="5036134" cy="19050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900"/>
              <a:buFont typeface="Courier New"/>
              <a:buNone/>
            </a:pPr>
            <a:r>
              <a:rPr b="0" i="0" lang="en-US" sz="900" u="none" cap="none" strike="noStrike">
                <a:solidFill>
                  <a:srgbClr val="8A94A6"/>
                </a:solidFill>
                <a:latin typeface="Courier New"/>
                <a:ea typeface="Courier New"/>
                <a:cs typeface="Courier New"/>
                <a:sym typeface="Courier New"/>
              </a:rPr>
              <a:t>VS ALWAYS-ON REAL-TIME ENDPOINT</a:t>
            </a:r>
            <a:endParaRPr b="0" i="0" sz="900" u="none" cap="none" strike="noStrike">
              <a:solidFill>
                <a:schemeClr val="dk1"/>
              </a:solidFill>
              <a:latin typeface="Calibri"/>
              <a:ea typeface="Calibri"/>
              <a:cs typeface="Calibri"/>
              <a:sym typeface="Calibri"/>
            </a:endParaRPr>
          </a:p>
        </p:txBody>
      </p:sp>
      <p:sp>
        <p:nvSpPr>
          <p:cNvPr id="444" name="Google Shape;444;p14"/>
          <p:cNvSpPr/>
          <p:nvPr/>
        </p:nvSpPr>
        <p:spPr>
          <a:xfrm>
            <a:off x="914400" y="9229725"/>
            <a:ext cx="16459200" cy="9525"/>
          </a:xfrm>
          <a:prstGeom prst="rect">
            <a:avLst/>
          </a:prstGeom>
          <a:solidFill>
            <a:srgbClr val="E2E5EA"/>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5" name="Google Shape;445;p14"/>
          <p:cNvSpPr/>
          <p:nvPr/>
        </p:nvSpPr>
        <p:spPr>
          <a:xfrm>
            <a:off x="914400" y="9391650"/>
            <a:ext cx="7991929" cy="3619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1F2A37"/>
              </a:buClr>
              <a:buSzPts val="2250"/>
              <a:buFont typeface="Helvetica Neue"/>
              <a:buNone/>
            </a:pPr>
            <a:r>
              <a:rPr b="1" i="0" lang="en-US" sz="2250" u="none" cap="none" strike="noStrike">
                <a:solidFill>
                  <a:srgbClr val="1F2A37"/>
                </a:solidFill>
                <a:latin typeface="Helvetica Neue"/>
                <a:ea typeface="Helvetica Neue"/>
                <a:cs typeface="Helvetica Neue"/>
                <a:sym typeface="Helvetica Neue"/>
              </a:rPr>
              <a:t>Automated, serverless, end to end. </a:t>
            </a:r>
            <a:r>
              <a:rPr b="0" i="0" lang="en-US" sz="2250" u="none" cap="none" strike="noStrike">
                <a:solidFill>
                  <a:srgbClr val="8A94A6"/>
                </a:solidFill>
                <a:latin typeface="Helvetica Neue"/>
                <a:ea typeface="Helvetica Neue"/>
                <a:cs typeface="Helvetica Neue"/>
                <a:sym typeface="Helvetica Neue"/>
              </a:rPr>
              <a:t>Thank you. Questions?</a:t>
            </a:r>
            <a:endParaRPr b="0" i="0" sz="2250" u="none" cap="none" strike="noStrike">
              <a:solidFill>
                <a:schemeClr val="dk1"/>
              </a:solidFill>
              <a:latin typeface="Calibri"/>
              <a:ea typeface="Calibri"/>
              <a:cs typeface="Calibri"/>
              <a:sym typeface="Calibri"/>
            </a:endParaRPr>
          </a:p>
        </p:txBody>
      </p:sp>
      <p:sp>
        <p:nvSpPr>
          <p:cNvPr id="446" name="Google Shape;446;p14"/>
          <p:cNvSpPr/>
          <p:nvPr/>
        </p:nvSpPr>
        <p:spPr>
          <a:xfrm>
            <a:off x="16732002" y="9544050"/>
            <a:ext cx="717798" cy="209550"/>
          </a:xfrm>
          <a:prstGeom prst="rect">
            <a:avLst/>
          </a:prstGeom>
          <a:noFill/>
          <a:ln>
            <a:noFill/>
          </a:ln>
        </p:spPr>
        <p:txBody>
          <a:bodyPr anchorCtr="0" anchor="t" bIns="25400" lIns="25400" spcFirstLastPara="1" rIns="25400" wrap="square" tIns="25400">
            <a:normAutofit/>
          </a:bodyPr>
          <a:lstStyle/>
          <a:p>
            <a:pPr indent="0" lvl="0" marL="0" marR="0" rtl="0" algn="l">
              <a:spcBef>
                <a:spcPts val="0"/>
              </a:spcBef>
              <a:spcAft>
                <a:spcPts val="0"/>
              </a:spcAft>
              <a:buClr>
                <a:srgbClr val="8A94A6"/>
              </a:buClr>
              <a:buSzPts val="975"/>
              <a:buFont typeface="Courier New"/>
              <a:buNone/>
            </a:pPr>
            <a:r>
              <a:rPr b="0" i="0" lang="en-US" sz="975" u="none" cap="none" strike="noStrike">
                <a:solidFill>
                  <a:srgbClr val="8A94A6"/>
                </a:solidFill>
                <a:latin typeface="Courier New"/>
                <a:ea typeface="Courier New"/>
                <a:cs typeface="Courier New"/>
                <a:sym typeface="Courier New"/>
              </a:rPr>
              <a:t>14 / 14</a:t>
            </a:r>
            <a:endParaRPr b="0" i="0" sz="975" u="none" cap="none" strike="noStrike">
              <a:solidFill>
                <a:schemeClr val="dk1"/>
              </a:solidFill>
              <a:latin typeface="Calibri"/>
              <a:ea typeface="Calibri"/>
              <a:cs typeface="Calibri"/>
              <a:sym typeface="Calibri"/>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2026-05-22T10:43:25Z</dcterms:created>
  <dc:creator>PptxGenJS</dc:creator>
</cp:coreProperties>
</file>